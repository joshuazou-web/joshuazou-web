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introduce the team and the GameStop case. This presentation follows four questions: the causes of the squeeze, the role of short selling, Robinhood’s restriction, and the industry response.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four questions and the division of speakers. Move from causes, to market rules, to platform responsibility, then industry response.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~25s]</a:t>
            </a:r>
          </a:p>
          <a:p>
            <a:r>
              <a:t>Hi everyone. Has anyone here ever walked into a GameStop? If not, here's the one-line version: GameStop is America's video-game store, a retail chain where you buy games on discs, trade in the old ones, and they resell them. In January 2021, this pretty boring mall retailer became the most talked-about stock on the planet.</a:t>
            </a:r>
          </a:p>
          <a:p>
            <a:r>
              <a:t>So, our first question: what led to the short squeeze? It took two ingredients: a company everyone had given up on, and a bet against it that got way too crowded. I'll cover both; Yinghan will then light the match.</a:t>
            </a:r>
          </a:p>
          <a:p/>
          <a:p>
            <a:r>
              <a:t>[PAGE 1, ~50s]</a:t>
            </a:r>
          </a:p>
          <a:p>
            <a:r>
              <a:t>Ingredient one: a business on its way out. GameStop's whole model was the disc. Then, from around 2013, Xbox and PlayStation started selling games as downloads, straight to your console. No disc, no trade-in, so no reason to visit the store.</a:t>
            </a:r>
          </a:p>
          <a:p>
            <a:r>
              <a:t>And GameStop was slow. It kept buying other companies, debt went from zero to 800 million dollars, and store closures came too late. You can see it on the chart: from over 60 dollars in 2007 to 2.57 in April 2020. That's minus 96%. The market was basically pricing a funeral.</a:t>
            </a:r>
          </a:p>
          <a:p>
            <a:r>
              <a:t>Then, plot twist. In August 2020, Ryan Cohen, the guy who built Chewy into an online pet-food giant, starts buying GameStop. By January he owns about 13% and sits on the board, and the stock climbs back toward 20 dollars. Suddenly there's a turnaround story. But not everyone was buying it.</a:t>
            </a:r>
          </a:p>
          <a:p/>
          <a:p>
            <a:r>
              <a:t>[V2 accuracy note] The 4,816-store figure is retained without the unsupported U.S.-only qualifier. The chart shows selected case milestones and is explicitly schematic; it must not be read as a measured daily time series.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[PAGE 2, ~65s]</a:t>
            </a:r>
          </a:p>
          <a:p>
            <a:r>
              <a:t>Ingredient two. Hedge funds like Melvin Capital and Citron looked at GameStop and said: this company is dying. So they shorted it.</a:t>
            </a:r>
          </a:p>
          <a:p>
            <a:r>
              <a:t>Quick refresher: you borrow a share, sell it now, and hope to buy it back cheaper later. The catch is the math. If you're right, the most you can make is 100%, when the stock goes to zero. If you're wrong, there's no ceiling. Your loss is, in theory, unlimited.</a:t>
            </a:r>
          </a:p>
          <a:p>
            <a:r>
              <a:t>Now here's the crazy part. For a typical big stock, maybe a few percent of the shares are sold short. For GameStop it was 92.5% by March 2020, and on January 15, 2021 it hit 102.1%. More shares sold short than actually exist to trade. How? The buyer of a borrowed share can have it lent out again, so one share gets shorted twice.</a:t>
            </a:r>
          </a:p>
          <a:p>
            <a:r>
              <a:t>And to buy all of it back would take 11.6 days of normal trading. On a trading desk, that's called "days to cover", and it's basically how wide the exit door is.</a:t>
            </a:r>
          </a:p>
          <a:p>
            <a:r>
              <a:t>So picture a packed room with one tiny door. All it takes is someone pulling the fire alarm. Who pulled it? Over to Yinghan.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 人 · Page 1 · 散户为什么集结</a:t>
            </a:r>
          </a:p>
          <a:p>
            <a:r>
              <a:t>提示：动机不只是赚钱，还有“干掉华尔街”的情绪。</a:t>
            </a:r>
          </a:p>
          <a:p>
            <a:r>
              <a:t>可用事实：刺激支票、零佣金 app、封城在家；Robinhood 2020 年新用户一半是第一次投资；WallStreetBets 的 Roaring Kitty（Keith Gill），期权从约 $5.3 万涨到 $1,100 多万。</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2 人 · Page 2 · 逼空是怎么发生的</a:t>
            </a:r>
          </a:p>
          <a:p>
            <a:r>
              <a:t>提示：用大白话讲清滚雪球原理。</a:t>
            </a:r>
          </a:p>
          <a:p>
            <a:r>
              <a:t>可用事实：三股买力（散户、空头平仓、期权卖方对冲）；1 月 22–27 日涨 707.6%；WSB 单日新增订阅达 110 万；Melvin 1 月亏 54.4%，Citadel 和 Point72 注资 $2.75bn。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Excessive short selling can create feedback. Higher prices increase short sellers’ losses, covering creates additional demand, and demand can push prices higher. Crowded positions increase volatility and expose both short sellers and late buyers to losses. These are mechanisms, not a claim that short covering alone caused the episode.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propose targeted safeguards, rather than a blanket ban: more frequent short-interest disclosure, margin requirements tied to risk, and stronger monitoring of securities borrowing and lending. The objective is to balance risk management with liquidity and price discovery.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4 人 · Page 1 · 反对禁止做空</a:t>
            </a:r>
          </a:p>
          <a:p>
            <a:r>
              <a:t>提示：可以和第 3 人做成正反对比。</a:t>
            </a:r>
          </a:p>
          <a:p>
            <a:r>
              <a:t>可用理由：价格发现；揭露被高估或造假的公司；增加流动性；GME 事件里亏钱的是空头自己（Melvin 1 月亏 54.4%）。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 4 人 · Page 2 · 组内立场</a:t>
            </a:r>
          </a:p>
          <a:p>
            <a:r>
              <a:t>提示：建议方向“不禁止，但监管过度做空”，可讨论后调整。</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Robinhood's restriction makes more sense if we look at what happens after a customer taps Buy.</a:t>
            </a:r>
          </a:p>
          <a:p/>
          <a:p>
            <a:r>
              <a:t>The app can confirm a GME trade immediately. But the stock and money still need to be transferred afterwards. This process is called settlement. It is similar to the credit-card settlement process we learned in class: confirmation comes first, and the transfer follows later.</a:t>
            </a:r>
          </a:p>
          <a:p/>
          <a:p>
            <a:r>
              <a:t>A clearinghouse asks Robinhood to provide a cash deposit to help guarantee these trades. Robinhood said that GME's extreme volatility made its clearinghouse deposit and capital requirements rise sharply. If it kept accepting many new buy orders without enough cash, it could face a problem completing its settlement obligations.</a:t>
            </a:r>
          </a:p>
          <a:p/>
          <a:p>
            <a:r>
              <a:t>Therefore, limiting new purchases temporarily reduced the number of new trades it had to guarantee while it obtained more funding. Robinhood raised $1 billion on January 29 and another $2.4 billion on February 1. This later funding supports the view that it faced serious financial pressure.</a:t>
            </a:r>
          </a:p>
          <a:p/>
          <a:p>
            <a:r>
              <a:t>My conclusion is limited: Robinhood had a reasonable basis for emergency risk control. Whether restricting buying only was fair is the next speaker's question.</a:t>
            </a:r>
          </a:p>
          <a:p/>
          <a:p>
            <a:r>
              <a:t>Source: Yeo, Y. W., Yue, L., and Lee, Y. T. (2023), Robinhood and His Merrie Men: The GameStop Saga, case 123-0050-1, pp. 5–6. The credit-card comparison is an explanatory classroom analogy.</a:t>
            </a:r>
          </a:p>
          <a:p/>
          <a:p>
            <a:r>
              <a:t>[V2 financing correction] The combined emergency financing was $3.4bn: $1bn initially, followed by $2.4bn. Do not add the initial $1bn to the cumulative $3.4bn headline. Issuer reference: Robinhood, “Robinhood Raises $3.4 Billion,” 1 February 2021, https://blog.robinhood.com/news/2021/2/1/robinhood-raises-34-billion .</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teammate explained Robinhood's reasons. Now let's look from the retail investors' side. Its reasons don't hold up, for three reasons.</a:t>
            </a:r>
          </a:p>
          <a:p/>
          <a:p>
            <a:r>
              <a:t>First, follow the money. Trading on Robinhood is free. So how does it make money? It sells users' orders to Citadel Securities. The same boss, Ken Griffin, also runs a hedge fund called Citadel. That fund had just given two billion dollars to Melvin, a short seller of GameStop.</a:t>
            </a:r>
          </a:p>
          <a:p/>
          <a:p>
            <a:r>
              <a:t>We can't prove they worked together. But the conflict is clear, and Robinhood never explained it.</a:t>
            </a:r>
          </a:p>
          <a:p/>
          <a:p>
            <a:r>
              <a:t>[V2 scope note] The relationship map illustrates a potential conflict of interest. It does not establish collusion or coordination. Citadel Securities and Citadel are presented as distinct entities.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the restriction was unfair from the retail investor perspective. On January 28, retail investors could sell, but could not place new buy orders in GameStop. Institutions continued to trade. GME fell 44 percent that day, benefiting short sellers. Our concern is that access was restricted asymmetrically; this is our group’s fairness judgment.</a:t>
            </a:r>
          </a:p>
          <a:p/>
          <a:p>
            <a:r>
              <a:t>Third, the funding sequence raises a preparedness question. Robinhood said it lacked cash for deposits, then raised one billion dollars the next day. That does not prove it already had the money on January 28. Our criticism is instead that contingency planning and funding came after the restriction, while customers bore the consequences.</a:t>
            </a:r>
          </a:p>
          <a:p/>
          <a:p>
            <a:r>
              <a:t>Our verdict remains: from the retail investor perspective, the restriction was not justified. Next, we turn to how the industry should respond to social-media-driven crowd behavior.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focuses on the role of gamification and low-friction trading.</a:t>
            </a:r>
          </a:p>
          <a:p>
            <a:r>
              <a:t>Platforms like Robinhood made trading extremely easy. Investors could trade directly from their phones, pay zero commission, receive instant notifications, and even access options with only a few clicks.</a:t>
            </a:r>
          </a:p>
          <a:p>
            <a:r>
              <a:t>This had an obvious benefit: it lowered the barrier to market participation. In fact, around half of Robinhood’s new users in 2020 were first-time investors.</a:t>
            </a:r>
          </a:p>
          <a:p>
            <a:r>
              <a:t>But there was also a behavioral downside. When the transaction cost and effort of trading become very low, the psychological barrier to taking risk can also fall.</a:t>
            </a:r>
          </a:p>
          <a:p>
            <a:r>
              <a:t>In other words, investors may trade more frequently, react more quickly, and pay less attention to the underlying risk.</a:t>
            </a:r>
          </a:p>
          <a:p>
            <a:r>
              <a:t>So the key takeaway is that gamification democratized investing, but it also made speculative trading easier.</a:t>
            </a:r>
          </a:p>
          <a:p/>
          <a:p/>
          <a:p>
            <a:r>
              <a:t>第 7 人 · Page 1 · 交易变成游戏</a:t>
            </a:r>
          </a:p>
          <a:p>
            <a:r>
              <a:t>提示：零佣金和一键下单降低了门槛，也降低了对风险的感知。开头可承接 Josh 的结尾“how the industry should deal with the crowd”。</a:t>
            </a:r>
          </a:p>
          <a:p>
            <a:r>
              <a:t>可用事实：Robinhood 2015 年 3 月上线，主打零佣金；2020 年新用户一半从未投资过；新手也能轻松交易期权。</a:t>
            </a:r>
          </a:p>
          <a:p/>
          <a:p>
            <a:r>
              <a:t>[V2 diagram note] The phone is an illustrative interface, not a reconstruction of actual GME price history. The diagram separates ease of access from its benefit and behavioral risk.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force was social media, especially Reddit’s WallStreetBets.</a:t>
            </a:r>
          </a:p>
          <a:p>
            <a:r>
              <a:t>Social media changed the speed and scale of information transmission. Investors were constantly sharing memes, screenshots, opinions and success stories about GameStop.</a:t>
            </a:r>
          </a:p>
          <a:p>
            <a:r>
              <a:t>This created a strong group identity. For many participants, buying GameStop was not just an individual investment decision. It became part of a collective story of retail investors challenging Wall Street.</a:t>
            </a:r>
          </a:p>
          <a:p>
            <a:r>
              <a:t>As the stock price increased, more people saw these gains online and experienced FOMO, or fear of missing out. This attracted even more buyers and created herd behavior.</a:t>
            </a:r>
          </a:p>
          <a:p>
            <a:r>
              <a:t>So we can think of this as a feedback loop: more posts created more attention, more attention created more buying, and higher prices generated even more posts.</a:t>
            </a:r>
          </a:p>
          <a:p>
            <a:r>
              <a:t>The important point is that collective enthusiasm is not automatically market manipulation. But social media can amplify speculative behavior very quickly.</a:t>
            </a:r>
          </a:p>
          <a:p>
            <a:r>
              <a:t>This is why wider market participation needs to be accompanied by better investor education, clearer risk disclosure, and responsible platform design.</a:t>
            </a:r>
          </a:p>
          <a:p/>
          <a:p/>
          <a:p>
            <a:r>
              <a:t>第 7 人 · Page 2 · 群体的力量与风险</a:t>
            </a:r>
          </a:p>
          <a:p>
            <a:r>
              <a:t>提示：集体买入不违法，但与操纵市场的界线不清楚。</a:t>
            </a:r>
          </a:p>
          <a:p>
            <a:r>
              <a:t>可用事实：WSB 单日新增订阅最高 110 万；口号是一起逼空、干掉对冲基金。</a:t>
            </a:r>
          </a:p>
          <a:p/>
          <a:p>
            <a:r>
              <a:t>[V2 diagram note] The clockwise loop expresses a qualitative reinforcement mechanism. Collective enthusiasm is not automatically market manipulation.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move from what caused the crowd to what the industry should do about it. Our recommendation is to manage the risks, not to punish retail investors for acting together.</a:t>
            </a:r>
          </a:p>
          <a:p>
            <a:r>
              <a:t>First, education. Since the case tells us that half of Robinhood’s new investors in 2020 were first-timers, brokers should explain volatility, short squeezes and potential losses in simple language before users place complex trades.</a:t>
            </a:r>
          </a:p>
          <a:p>
            <a:r>
              <a:t>Second, platform safeguards. Options are more complicated than regular share purchases. Platforms should check users’ experience and show meaningful risk warnings, rather than relying on a frictionless interface alone.</a:t>
            </a:r>
          </a:p>
          <a:p>
            <a:r>
              <a:t>Third, regulators should monitor suspicious trading and misleading coordination, while respecting ordinary discussion on Reddit. Enthusiasm by itself is not proof of manipulation.</a:t>
            </a:r>
          </a:p>
          <a:p>
            <a:r>
              <a:t>The key is proportional protection: preserve fair market access while making brokers responsible for how their platforms influence decisions.</a:t>
            </a:r>
          </a:p>
          <a:p>
            <a:r>
              <a:t>Source basis: Yeo, Yue &amp; Lee (2023), pp. 2–3, 5–6. Education, safeguards and enforcement are our group's recommendations, not specific rules prescribed by the case.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the GameStop episode became a question of trust in the wider financial system. On February 18, 2021, the U.S. House Financial Services Committee heard from Robinhood CEO Vlad Tenev, retail investor Keith Gill and Melvin Capital founder Gabe Plotkin.</a:t>
            </a:r>
          </a:p>
          <a:p>
            <a:r>
              <a:t>The case ends by asking whether industry relationships are too close, whether payment for order flow needs stronger regulation, and how social-media-driven herd trading should be treated. The hearing made these tensions visible, but it did not provide one simple solution.</a:t>
            </a:r>
          </a:p>
          <a:p>
            <a:r>
              <a:t>Across our presentation, our answer has three parts. First, do not ban legitimate short selling, but control excessive risk. Second, Robinhood’s buy-only restriction was unfair to retail customers, as our previous speakers argued. Third, respond to social-media-driven trading with education, safer products and targeted oversight — not broad restrictions on retail participation.</a:t>
            </a:r>
          </a:p>
          <a:p>
            <a:r>
              <a:t>Ultimately, financial innovation should make markets both accessible and trustworthy. Thank you.</a:t>
            </a:r>
          </a:p>
          <a:p>
            <a:r>
              <a:t>Source: Yeo, Yue &amp; Lee (2023), pp. 1, 5–6. The recommendations and overall verdict are our group’s analysis.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invite questions. The group presentation is intended to remain within 20 minutes.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F2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365349"/>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AFC6BA"/>
                </a:solidFill>
                <a:latin typeface="Arial"/>
              </a:rPr>
              <a:t>BMF5355 · GameStop case  /  Yeo, Yue &amp; Lee (2023)</a:t>
            </a:r>
          </a:p>
        </p:txBody>
      </p:sp>
      <p:sp>
        <p:nvSpPr>
          <p:cNvPr id="4"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AFC6BA"/>
                </a:solidFill>
                <a:latin typeface="Arial"/>
              </a:rPr>
              <a:t>01 / 18</a:t>
            </a:r>
          </a:p>
        </p:txBody>
      </p:sp>
      <p:sp>
        <p:nvSpPr>
          <p:cNvPr id="5" name="eyebrow"/>
          <p:cNvSpPr txBox="1"/>
          <p:nvPr/>
        </p:nvSpPr>
        <p:spPr>
          <a:xfrm>
            <a:off x="713232" y="548640"/>
            <a:ext cx="10058400" cy="246888"/>
          </a:xfrm>
          <a:prstGeom prst="rect">
            <a:avLst/>
          </a:prstGeom>
          <a:noFill/>
        </p:spPr>
        <p:txBody>
          <a:bodyPr wrap="square" lIns="0" rIns="0" tIns="9144" bIns="0" anchor="t">
            <a:noAutofit/>
          </a:bodyPr>
          <a:lstStyle/>
          <a:p>
            <a:pPr algn="l">
              <a:lnSpc>
                <a:spcPts val="1355"/>
              </a:lnSpc>
              <a:spcBef>
                <a:spcPts val="0"/>
              </a:spcBef>
              <a:spcAft>
                <a:spcPts val="0"/>
              </a:spcAft>
              <a:defRPr sz="1200">
                <a:latin typeface="Arial"/>
              </a:defRPr>
            </a:pPr>
            <a:r>
              <a:rPr sz="1200" b="1">
                <a:solidFill>
                  <a:srgbClr val="B7D4BD"/>
                </a:solidFill>
                <a:latin typeface="Arial"/>
              </a:rPr>
              <a:t>BMF5355 / CASE PRESENTATION</a:t>
            </a:r>
          </a:p>
        </p:txBody>
      </p:sp>
      <p:sp>
        <p:nvSpPr>
          <p:cNvPr id="6" name="cover title"/>
          <p:cNvSpPr txBox="1"/>
          <p:nvPr/>
        </p:nvSpPr>
        <p:spPr>
          <a:xfrm>
            <a:off x="713232" y="1463040"/>
            <a:ext cx="8686800" cy="1600200"/>
          </a:xfrm>
          <a:prstGeom prst="rect">
            <a:avLst/>
          </a:prstGeom>
          <a:noFill/>
        </p:spPr>
        <p:txBody>
          <a:bodyPr wrap="square" lIns="0" rIns="0" tIns="34290" bIns="0" anchor="t">
            <a:noAutofit/>
          </a:bodyPr>
          <a:lstStyle/>
          <a:p>
            <a:pPr algn="l">
              <a:lnSpc>
                <a:spcPts val="4815"/>
              </a:lnSpc>
              <a:spcBef>
                <a:spcPts val="0"/>
              </a:spcBef>
              <a:spcAft>
                <a:spcPts val="0"/>
              </a:spcAft>
              <a:defRPr sz="4500">
                <a:latin typeface="Arial"/>
              </a:defRPr>
            </a:pPr>
            <a:r>
              <a:rPr sz="4500" b="1">
                <a:solidFill>
                  <a:srgbClr val="FFFFFF"/>
                </a:solidFill>
                <a:latin typeface="Arial"/>
              </a:rPr>
              <a:t>Robinhood and</a:t>
            </a:r>
          </a:p>
          <a:p>
            <a:pPr algn="l">
              <a:lnSpc>
                <a:spcPts val="4815"/>
              </a:lnSpc>
              <a:spcBef>
                <a:spcPts val="0"/>
              </a:spcBef>
              <a:spcAft>
                <a:spcPts val="0"/>
              </a:spcAft>
              <a:defRPr sz="4500">
                <a:latin typeface="Arial"/>
              </a:defRPr>
            </a:pPr>
            <a:r>
              <a:rPr sz="4500" b="1">
                <a:solidFill>
                  <a:srgbClr val="FFFFFF"/>
                </a:solidFill>
                <a:latin typeface="Arial"/>
              </a:rPr>
              <a:t>His Merrie Men</a:t>
            </a:r>
          </a:p>
        </p:txBody>
      </p:sp>
      <p:sp>
        <p:nvSpPr>
          <p:cNvPr id="7" name="cover subtitle"/>
          <p:cNvSpPr txBox="1"/>
          <p:nvPr/>
        </p:nvSpPr>
        <p:spPr>
          <a:xfrm>
            <a:off x="731520" y="3383280"/>
            <a:ext cx="9144000" cy="749808"/>
          </a:xfrm>
          <a:prstGeom prst="rect">
            <a:avLst/>
          </a:prstGeom>
          <a:noFill/>
        </p:spPr>
        <p:txBody>
          <a:bodyPr wrap="square" lIns="0" rIns="0" tIns="28193" bIns="0" anchor="t">
            <a:noAutofit/>
          </a:bodyPr>
          <a:lstStyle/>
          <a:p>
            <a:pPr algn="l">
              <a:lnSpc>
                <a:spcPts val="4180"/>
              </a:lnSpc>
              <a:spcBef>
                <a:spcPts val="0"/>
              </a:spcBef>
              <a:spcAft>
                <a:spcPts val="0"/>
              </a:spcAft>
              <a:defRPr sz="3700">
                <a:latin typeface="Arial"/>
              </a:defRPr>
            </a:pPr>
            <a:r>
              <a:rPr sz="3700" b="1">
                <a:solidFill>
                  <a:srgbClr val="E6C792"/>
                </a:solidFill>
                <a:latin typeface="Arial"/>
              </a:rPr>
              <a:t>The GameStop Saga</a:t>
            </a:r>
          </a:p>
        </p:txBody>
      </p:sp>
      <p:cxnSp>
        <p:nvCxnSpPr>
          <p:cNvPr id="8" name="connector"/>
          <p:cNvCxnSpPr/>
          <p:nvPr/>
        </p:nvCxnSpPr>
        <p:spPr>
          <a:xfrm>
            <a:off x="731520" y="4590288"/>
            <a:ext cx="10744200" cy="0"/>
          </a:xfrm>
          <a:prstGeom prst="line">
            <a:avLst/>
          </a:prstGeom>
          <a:ln w="11430">
            <a:solidFill>
              <a:srgbClr val="416356"/>
            </a:solidFill>
          </a:ln>
          <a:effectLst/>
        </p:spPr>
        <p:style>
          <a:lnRef idx="2">
            <a:schemeClr val="accent1"/>
          </a:lnRef>
          <a:fillRef idx="0">
            <a:schemeClr val="accent1"/>
          </a:fillRef>
          <a:effectRef idx="0">
            <a:schemeClr val="accent1"/>
          </a:effectRef>
          <a:fontRef idx="minor">
            <a:schemeClr val="tx1"/>
          </a:fontRef>
        </p:style>
      </p:cxnSp>
      <p:sp>
        <p:nvSpPr>
          <p:cNvPr id="9" name="eyebrow"/>
          <p:cNvSpPr txBox="1"/>
          <p:nvPr/>
        </p:nvSpPr>
        <p:spPr>
          <a:xfrm>
            <a:off x="731520" y="4828032"/>
            <a:ext cx="9144000" cy="246888"/>
          </a:xfrm>
          <a:prstGeom prst="rect">
            <a:avLst/>
          </a:prstGeom>
          <a:noFill/>
        </p:spPr>
        <p:txBody>
          <a:bodyPr wrap="square" lIns="0" rIns="0" tIns="8001" bIns="0" anchor="t">
            <a:noAutofit/>
          </a:bodyPr>
          <a:lstStyle/>
          <a:p>
            <a:pPr algn="l">
              <a:lnSpc>
                <a:spcPts val="1186"/>
              </a:lnSpc>
              <a:spcBef>
                <a:spcPts val="0"/>
              </a:spcBef>
              <a:spcAft>
                <a:spcPts val="0"/>
              </a:spcAft>
              <a:defRPr sz="1050">
                <a:latin typeface="Arial"/>
              </a:defRPr>
            </a:pPr>
            <a:r>
              <a:rPr sz="1050" b="1">
                <a:solidFill>
                  <a:srgbClr val="AFC6BA"/>
                </a:solidFill>
                <a:latin typeface="Arial"/>
              </a:rPr>
              <a:t>GROUP PRESENTATION</a:t>
            </a:r>
          </a:p>
        </p:txBody>
      </p:sp>
      <p:sp>
        <p:nvSpPr>
          <p:cNvPr id="10" name="team names"/>
          <p:cNvSpPr txBox="1"/>
          <p:nvPr/>
        </p:nvSpPr>
        <p:spPr>
          <a:xfrm>
            <a:off x="731520" y="5175504"/>
            <a:ext cx="10561320" cy="640080"/>
          </a:xfrm>
          <a:prstGeom prst="rect">
            <a:avLst/>
          </a:prstGeom>
          <a:noFill/>
        </p:spPr>
        <p:txBody>
          <a:bodyPr wrap="square" lIns="0" rIns="0" tIns="11811" bIns="0" anchor="t">
            <a:noAutofit/>
          </a:bodyPr>
          <a:lstStyle/>
          <a:p>
            <a:pPr algn="l">
              <a:lnSpc>
                <a:spcPts val="2015"/>
              </a:lnSpc>
              <a:spcBef>
                <a:spcPts val="0"/>
              </a:spcBef>
              <a:spcAft>
                <a:spcPts val="0"/>
              </a:spcAft>
              <a:defRPr sz="1550">
                <a:latin typeface="Arial"/>
              </a:defRPr>
            </a:pPr>
            <a:r>
              <a:rPr sz="1550" b="0">
                <a:solidFill>
                  <a:srgbClr val="D8E5DD"/>
                </a:solidFill>
                <a:latin typeface="Arial"/>
              </a:rPr>
              <a:t>Ruilin Sun · Liu Yinghan · Cao Zihan · Peng Jiayi</a:t>
            </a:r>
          </a:p>
          <a:p>
            <a:pPr algn="l">
              <a:lnSpc>
                <a:spcPts val="2015"/>
              </a:lnSpc>
              <a:spcBef>
                <a:spcPts val="0"/>
              </a:spcBef>
              <a:spcAft>
                <a:spcPts val="0"/>
              </a:spcAft>
              <a:defRPr sz="1550">
                <a:latin typeface="Arial"/>
              </a:defRPr>
            </a:pPr>
            <a:r>
              <a:rPr sz="1550" b="0">
                <a:solidFill>
                  <a:srgbClr val="D8E5DD"/>
                </a:solidFill>
                <a:latin typeface="Arial"/>
              </a:rPr>
              <a:t>Li Gaojie · Zou Zhihua · Guo Jing · Lu Junyu</a:t>
            </a:r>
          </a:p>
        </p:txBody>
      </p:sp>
      <p:sp>
        <p:nvSpPr>
          <p:cNvPr id="11" name="presentation date"/>
          <p:cNvSpPr txBox="1"/>
          <p:nvPr/>
        </p:nvSpPr>
        <p:spPr>
          <a:xfrm>
            <a:off x="731520" y="5897880"/>
            <a:ext cx="5486400" cy="274320"/>
          </a:xfrm>
          <a:prstGeom prst="rect">
            <a:avLst/>
          </a:prstGeom>
          <a:noFill/>
        </p:spPr>
        <p:txBody>
          <a:bodyPr wrap="square" lIns="0" rIns="0" tIns="9906" bIns="0" anchor="t">
            <a:noAutofit/>
          </a:bodyPr>
          <a:lstStyle/>
          <a:p>
            <a:pPr algn="l">
              <a:lnSpc>
                <a:spcPts val="1468"/>
              </a:lnSpc>
              <a:spcBef>
                <a:spcPts val="0"/>
              </a:spcBef>
              <a:spcAft>
                <a:spcPts val="0"/>
              </a:spcAft>
              <a:defRPr sz="1300">
                <a:latin typeface="Arial"/>
              </a:defRPr>
            </a:pPr>
            <a:r>
              <a:rPr sz="1300" b="0">
                <a:solidFill>
                  <a:srgbClr val="AFC6BA"/>
                </a:solidFill>
                <a:latin typeface="Arial"/>
              </a:rPr>
              <a:t>October 15, 2026</a:t>
            </a:r>
          </a:p>
        </p:txBody>
      </p:sp>
      <p:cxnSp>
        <p:nvCxnSpPr>
          <p:cNvPr id="12" name="connector"/>
          <p:cNvCxnSpPr/>
          <p:nvPr/>
        </p:nvCxnSpPr>
        <p:spPr>
          <a:xfrm>
            <a:off x="9829800" y="2340863"/>
            <a:ext cx="0" cy="950976"/>
          </a:xfrm>
          <a:prstGeom prst="line">
            <a:avLst/>
          </a:prstGeom>
          <a:ln w="10160">
            <a:solidFill>
              <a:srgbClr val="3D6B56"/>
            </a:solidFill>
          </a:ln>
          <a:effectLst/>
        </p:spPr>
        <p:style>
          <a:lnRef idx="2">
            <a:schemeClr val="accent1"/>
          </a:lnRef>
          <a:fillRef idx="0">
            <a:schemeClr val="accent1"/>
          </a:fillRef>
          <a:effectRef idx="0">
            <a:schemeClr val="accent1"/>
          </a:effectRef>
          <a:fontRef idx="minor">
            <a:schemeClr val="tx1"/>
          </a:fontRef>
        </p:style>
      </p:cxnSp>
      <p:sp>
        <p:nvSpPr>
          <p:cNvPr id="13" name="abstract market motif"/>
          <p:cNvSpPr/>
          <p:nvPr/>
        </p:nvSpPr>
        <p:spPr>
          <a:xfrm>
            <a:off x="9747504" y="2578608"/>
            <a:ext cx="164592" cy="438912"/>
          </a:xfrm>
          <a:prstGeom prst="rect">
            <a:avLst/>
          </a:prstGeom>
          <a:solidFill>
            <a:srgbClr val="3D6B5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 name="connector"/>
          <p:cNvCxnSpPr/>
          <p:nvPr/>
        </p:nvCxnSpPr>
        <p:spPr>
          <a:xfrm>
            <a:off x="10323576" y="1682496"/>
            <a:ext cx="0" cy="1389888"/>
          </a:xfrm>
          <a:prstGeom prst="line">
            <a:avLst/>
          </a:prstGeom>
          <a:ln w="10160">
            <a:solidFill>
              <a:srgbClr val="4D826A"/>
            </a:solidFill>
          </a:ln>
          <a:effectLst/>
        </p:spPr>
        <p:style>
          <a:lnRef idx="2">
            <a:schemeClr val="accent1"/>
          </a:lnRef>
          <a:fillRef idx="0">
            <a:schemeClr val="accent1"/>
          </a:fillRef>
          <a:effectRef idx="0">
            <a:schemeClr val="accent1"/>
          </a:effectRef>
          <a:fontRef idx="minor">
            <a:schemeClr val="tx1"/>
          </a:fontRef>
        </p:style>
      </p:cxnSp>
      <p:sp>
        <p:nvSpPr>
          <p:cNvPr id="15" name="abstract market motif"/>
          <p:cNvSpPr/>
          <p:nvPr/>
        </p:nvSpPr>
        <p:spPr>
          <a:xfrm>
            <a:off x="10241280" y="1920240"/>
            <a:ext cx="164592" cy="877824"/>
          </a:xfrm>
          <a:prstGeom prst="rect">
            <a:avLst/>
          </a:prstGeom>
          <a:solidFill>
            <a:srgbClr val="4D826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p:cNvCxnSpPr/>
          <p:nvPr/>
        </p:nvCxnSpPr>
        <p:spPr>
          <a:xfrm>
            <a:off x="10817352" y="1143000"/>
            <a:ext cx="0" cy="1737360"/>
          </a:xfrm>
          <a:prstGeom prst="line">
            <a:avLst/>
          </a:prstGeom>
          <a:ln w="10160">
            <a:solidFill>
              <a:srgbClr val="B7D4BD"/>
            </a:solidFill>
          </a:ln>
          <a:effectLst/>
        </p:spPr>
        <p:style>
          <a:lnRef idx="2">
            <a:schemeClr val="accent1"/>
          </a:lnRef>
          <a:fillRef idx="0">
            <a:schemeClr val="accent1"/>
          </a:fillRef>
          <a:effectRef idx="0">
            <a:schemeClr val="accent1"/>
          </a:effectRef>
          <a:fontRef idx="minor">
            <a:schemeClr val="tx1"/>
          </a:fontRef>
        </p:style>
      </p:cxnSp>
      <p:sp>
        <p:nvSpPr>
          <p:cNvPr id="17" name="abstract market motif"/>
          <p:cNvSpPr/>
          <p:nvPr/>
        </p:nvSpPr>
        <p:spPr>
          <a:xfrm>
            <a:off x="10735056" y="1380744"/>
            <a:ext cx="164592" cy="1225296"/>
          </a:xfrm>
          <a:prstGeom prst="rect">
            <a:avLst/>
          </a:prstGeom>
          <a:solidFill>
            <a:srgbClr val="B7D4B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8" name="connector"/>
          <p:cNvCxnSpPr/>
          <p:nvPr/>
        </p:nvCxnSpPr>
        <p:spPr>
          <a:xfrm>
            <a:off x="11311128" y="621792"/>
            <a:ext cx="0" cy="2084832"/>
          </a:xfrm>
          <a:prstGeom prst="line">
            <a:avLst/>
          </a:prstGeom>
          <a:ln w="10160">
            <a:solidFill>
              <a:srgbClr val="E6C792"/>
            </a:solidFill>
          </a:ln>
          <a:effectLst/>
        </p:spPr>
        <p:style>
          <a:lnRef idx="2">
            <a:schemeClr val="accent1"/>
          </a:lnRef>
          <a:fillRef idx="0">
            <a:schemeClr val="accent1"/>
          </a:fillRef>
          <a:effectRef idx="0">
            <a:schemeClr val="accent1"/>
          </a:effectRef>
          <a:fontRef idx="minor">
            <a:schemeClr val="tx1"/>
          </a:fontRef>
        </p:style>
      </p:cxnSp>
      <p:sp>
        <p:nvSpPr>
          <p:cNvPr id="19" name="abstract market motif"/>
          <p:cNvSpPr/>
          <p:nvPr/>
        </p:nvSpPr>
        <p:spPr>
          <a:xfrm>
            <a:off x="11228832" y="859536"/>
            <a:ext cx="164592" cy="1572768"/>
          </a:xfrm>
          <a:prstGeom prst="rect">
            <a:avLst/>
          </a:prstGeom>
          <a:solidFill>
            <a:srgbClr val="E6C79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eyebrow"/>
          <p:cNvSpPr txBox="1"/>
          <p:nvPr/>
        </p:nvSpPr>
        <p:spPr>
          <a:xfrm>
            <a:off x="9418320" y="3977639"/>
            <a:ext cx="2103120" cy="246888"/>
          </a:xfrm>
          <a:prstGeom prst="rect">
            <a:avLst/>
          </a:prstGeom>
          <a:noFill/>
        </p:spPr>
        <p:txBody>
          <a:bodyPr wrap="square" lIns="0" rIns="0" tIns="8001" bIns="0" anchor="t">
            <a:noAutofit/>
          </a:bodyPr>
          <a:lstStyle/>
          <a:p>
            <a:pPr algn="l">
              <a:lnSpc>
                <a:spcPts val="1186"/>
              </a:lnSpc>
              <a:spcBef>
                <a:spcPts val="0"/>
              </a:spcBef>
              <a:spcAft>
                <a:spcPts val="0"/>
              </a:spcAft>
              <a:defRPr sz="1050">
                <a:latin typeface="Arial"/>
              </a:defRPr>
            </a:pPr>
            <a:r>
              <a:rPr sz="1050" b="1">
                <a:solidFill>
                  <a:srgbClr val="AFC6BA"/>
                </a:solidFill>
                <a:latin typeface="Arial"/>
              </a:rPr>
              <a:t>ACCESS / RISK / TRUST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02 / 18</a:t>
            </a:r>
          </a:p>
        </p:txBody>
      </p:sp>
      <p:sp>
        <p:nvSpPr>
          <p:cNvPr id="5"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THE ROUTE</a:t>
            </a:r>
          </a:p>
        </p:txBody>
      </p:sp>
      <p:sp>
        <p:nvSpPr>
          <p:cNvPr id="6" name="slide title"/>
          <p:cNvSpPr txBox="1"/>
          <p:nvPr/>
        </p:nvSpPr>
        <p:spPr>
          <a:xfrm>
            <a:off x="658368" y="859536"/>
            <a:ext cx="10835640" cy="676656"/>
          </a:xfrm>
          <a:prstGeom prst="rect">
            <a:avLst/>
          </a:prstGeom>
          <a:noFill/>
        </p:spPr>
        <p:txBody>
          <a:bodyPr wrap="square" lIns="0" rIns="0" tIns="27432" bIns="0" anchor="t">
            <a:noAutofit/>
          </a:bodyPr>
          <a:lstStyle/>
          <a:p>
            <a:pPr algn="l">
              <a:lnSpc>
                <a:spcPts val="3852"/>
              </a:lnSpc>
              <a:spcBef>
                <a:spcPts val="0"/>
              </a:spcBef>
              <a:spcAft>
                <a:spcPts val="0"/>
              </a:spcAft>
              <a:defRPr sz="3600">
                <a:latin typeface="Arial"/>
              </a:defRPr>
            </a:pPr>
            <a:r>
              <a:rPr sz="3600" b="1">
                <a:solidFill>
                  <a:srgbClr val="17302B"/>
                </a:solidFill>
                <a:latin typeface="Arial"/>
              </a:rPr>
              <a:t>Four questions. One market shock.</a:t>
            </a:r>
          </a:p>
        </p:txBody>
      </p:sp>
      <p:sp>
        <p:nvSpPr>
          <p:cNvPr id="7"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From the squeeze itself to what the industry should do next</a:t>
            </a:r>
          </a:p>
        </p:txBody>
      </p:sp>
      <p:sp>
        <p:nvSpPr>
          <p:cNvPr id="8" name="question number"/>
          <p:cNvSpPr txBox="1"/>
          <p:nvPr/>
        </p:nvSpPr>
        <p:spPr>
          <a:xfrm>
            <a:off x="713232" y="2176272"/>
            <a:ext cx="841248" cy="557784"/>
          </a:xfrm>
          <a:prstGeom prst="rect">
            <a:avLst/>
          </a:prstGeom>
          <a:noFill/>
        </p:spPr>
        <p:txBody>
          <a:bodyPr wrap="square" lIns="0" rIns="0" tIns="22098" bIns="0" anchor="t">
            <a:noAutofit/>
          </a:bodyPr>
          <a:lstStyle/>
          <a:p>
            <a:pPr algn="l">
              <a:lnSpc>
                <a:spcPts val="3276"/>
              </a:lnSpc>
              <a:spcBef>
                <a:spcPts val="0"/>
              </a:spcBef>
              <a:spcAft>
                <a:spcPts val="0"/>
              </a:spcAft>
              <a:defRPr sz="2900">
                <a:latin typeface="Arial"/>
              </a:defRPr>
            </a:pPr>
            <a:r>
              <a:rPr sz="2900" b="1">
                <a:solidFill>
                  <a:srgbClr val="2F7358"/>
                </a:solidFill>
                <a:latin typeface="Arial"/>
              </a:rPr>
              <a:t>Q1</a:t>
            </a:r>
          </a:p>
        </p:txBody>
      </p:sp>
      <p:sp>
        <p:nvSpPr>
          <p:cNvPr id="9" name="agenda question"/>
          <p:cNvSpPr txBox="1"/>
          <p:nvPr/>
        </p:nvSpPr>
        <p:spPr>
          <a:xfrm>
            <a:off x="1847088" y="2199132"/>
            <a:ext cx="7562088" cy="758952"/>
          </a:xfrm>
          <a:prstGeom prst="rect">
            <a:avLst/>
          </a:prstGeom>
          <a:noFill/>
        </p:spPr>
        <p:txBody>
          <a:bodyPr wrap="square" lIns="0" rIns="0" tIns="17526" bIns="0" anchor="t">
            <a:noAutofit/>
          </a:bodyPr>
          <a:lstStyle/>
          <a:p>
            <a:pPr algn="l">
              <a:lnSpc>
                <a:spcPts val="2576"/>
              </a:lnSpc>
              <a:spcBef>
                <a:spcPts val="0"/>
              </a:spcBef>
              <a:spcAft>
                <a:spcPts val="0"/>
              </a:spcAft>
              <a:defRPr sz="2300">
                <a:latin typeface="Arial"/>
              </a:defRPr>
            </a:pPr>
            <a:r>
              <a:rPr sz="2300" b="1">
                <a:solidFill>
                  <a:srgbClr val="17302B"/>
                </a:solidFill>
                <a:latin typeface="Arial"/>
              </a:rPr>
              <a:t>What led to the short squeeze?</a:t>
            </a:r>
          </a:p>
        </p:txBody>
      </p:sp>
      <p:sp>
        <p:nvSpPr>
          <p:cNvPr id="10" name="agenda section label"/>
          <p:cNvSpPr txBox="1"/>
          <p:nvPr/>
        </p:nvSpPr>
        <p:spPr>
          <a:xfrm>
            <a:off x="9601200" y="2286000"/>
            <a:ext cx="1901952" cy="502920"/>
          </a:xfrm>
          <a:prstGeom prst="rect">
            <a:avLst/>
          </a:prstGeom>
          <a:noFill/>
        </p:spPr>
        <p:txBody>
          <a:bodyPr wrap="square" lIns="0" rIns="0" tIns="8001" bIns="0" anchor="t">
            <a:noAutofit/>
          </a:bodyPr>
          <a:lstStyle/>
          <a:p>
            <a:pPr algn="r">
              <a:lnSpc>
                <a:spcPts val="1207"/>
              </a:lnSpc>
              <a:spcBef>
                <a:spcPts val="0"/>
              </a:spcBef>
              <a:spcAft>
                <a:spcPts val="0"/>
              </a:spcAft>
              <a:defRPr sz="1050">
                <a:latin typeface="Arial"/>
              </a:defRPr>
            </a:pPr>
            <a:r>
              <a:rPr sz="1050" b="1">
                <a:solidFill>
                  <a:srgbClr val="2F7358"/>
                </a:solidFill>
                <a:latin typeface="Arial"/>
              </a:rPr>
              <a:t>CAUSES</a:t>
            </a:r>
          </a:p>
        </p:txBody>
      </p:sp>
      <p:cxnSp>
        <p:nvCxnSpPr>
          <p:cNvPr id="11" name="connector"/>
          <p:cNvCxnSpPr/>
          <p:nvPr/>
        </p:nvCxnSpPr>
        <p:spPr>
          <a:xfrm>
            <a:off x="713232" y="2999232"/>
            <a:ext cx="10762488"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12" name="question number"/>
          <p:cNvSpPr txBox="1"/>
          <p:nvPr/>
        </p:nvSpPr>
        <p:spPr>
          <a:xfrm>
            <a:off x="713232" y="3127248"/>
            <a:ext cx="841248" cy="557784"/>
          </a:xfrm>
          <a:prstGeom prst="rect">
            <a:avLst/>
          </a:prstGeom>
          <a:noFill/>
        </p:spPr>
        <p:txBody>
          <a:bodyPr wrap="square" lIns="0" rIns="0" tIns="22098" bIns="0" anchor="t">
            <a:noAutofit/>
          </a:bodyPr>
          <a:lstStyle/>
          <a:p>
            <a:pPr algn="l">
              <a:lnSpc>
                <a:spcPts val="3276"/>
              </a:lnSpc>
              <a:spcBef>
                <a:spcPts val="0"/>
              </a:spcBef>
              <a:spcAft>
                <a:spcPts val="0"/>
              </a:spcAft>
              <a:defRPr sz="2900">
                <a:latin typeface="Arial"/>
              </a:defRPr>
            </a:pPr>
            <a:r>
              <a:rPr sz="2900" b="1">
                <a:solidFill>
                  <a:srgbClr val="855E26"/>
                </a:solidFill>
                <a:latin typeface="Arial"/>
              </a:rPr>
              <a:t>Q2</a:t>
            </a:r>
          </a:p>
        </p:txBody>
      </p:sp>
      <p:sp>
        <p:nvSpPr>
          <p:cNvPr id="13" name="agenda question"/>
          <p:cNvSpPr txBox="1"/>
          <p:nvPr/>
        </p:nvSpPr>
        <p:spPr>
          <a:xfrm>
            <a:off x="1847088" y="3150108"/>
            <a:ext cx="7562088" cy="758952"/>
          </a:xfrm>
          <a:prstGeom prst="rect">
            <a:avLst/>
          </a:prstGeom>
          <a:noFill/>
        </p:spPr>
        <p:txBody>
          <a:bodyPr wrap="square" lIns="0" rIns="0" tIns="17526" bIns="0" anchor="t">
            <a:noAutofit/>
          </a:bodyPr>
          <a:lstStyle/>
          <a:p>
            <a:pPr algn="l">
              <a:lnSpc>
                <a:spcPts val="2576"/>
              </a:lnSpc>
              <a:spcBef>
                <a:spcPts val="0"/>
              </a:spcBef>
              <a:spcAft>
                <a:spcPts val="0"/>
              </a:spcAft>
              <a:defRPr sz="2300">
                <a:latin typeface="Arial"/>
              </a:defRPr>
            </a:pPr>
            <a:r>
              <a:rPr sz="2300" b="1">
                <a:solidFill>
                  <a:srgbClr val="17302B"/>
                </a:solidFill>
                <a:latin typeface="Arial"/>
              </a:rPr>
              <a:t>Should short selling be banned?</a:t>
            </a:r>
          </a:p>
        </p:txBody>
      </p:sp>
      <p:sp>
        <p:nvSpPr>
          <p:cNvPr id="14" name="agenda section label"/>
          <p:cNvSpPr txBox="1"/>
          <p:nvPr/>
        </p:nvSpPr>
        <p:spPr>
          <a:xfrm>
            <a:off x="9601200" y="3236976"/>
            <a:ext cx="1901952" cy="502920"/>
          </a:xfrm>
          <a:prstGeom prst="rect">
            <a:avLst/>
          </a:prstGeom>
          <a:noFill/>
        </p:spPr>
        <p:txBody>
          <a:bodyPr wrap="square" lIns="0" rIns="0" tIns="8001" bIns="0" anchor="t">
            <a:noAutofit/>
          </a:bodyPr>
          <a:lstStyle/>
          <a:p>
            <a:pPr algn="r">
              <a:lnSpc>
                <a:spcPts val="1207"/>
              </a:lnSpc>
              <a:spcBef>
                <a:spcPts val="0"/>
              </a:spcBef>
              <a:spcAft>
                <a:spcPts val="0"/>
              </a:spcAft>
              <a:defRPr sz="1050">
                <a:latin typeface="Arial"/>
              </a:defRPr>
            </a:pPr>
            <a:r>
              <a:rPr sz="1050" b="1">
                <a:solidFill>
                  <a:srgbClr val="855E26"/>
                </a:solidFill>
                <a:latin typeface="Arial"/>
              </a:rPr>
              <a:t>MARKET RULES</a:t>
            </a:r>
          </a:p>
        </p:txBody>
      </p:sp>
      <p:cxnSp>
        <p:nvCxnSpPr>
          <p:cNvPr id="15" name="connector"/>
          <p:cNvCxnSpPr/>
          <p:nvPr/>
        </p:nvCxnSpPr>
        <p:spPr>
          <a:xfrm>
            <a:off x="713232" y="3950208"/>
            <a:ext cx="10762488"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16" name="question number"/>
          <p:cNvSpPr txBox="1"/>
          <p:nvPr/>
        </p:nvSpPr>
        <p:spPr>
          <a:xfrm>
            <a:off x="713232" y="4078224"/>
            <a:ext cx="841248" cy="557784"/>
          </a:xfrm>
          <a:prstGeom prst="rect">
            <a:avLst/>
          </a:prstGeom>
          <a:noFill/>
        </p:spPr>
        <p:txBody>
          <a:bodyPr wrap="square" lIns="0" rIns="0" tIns="22098" bIns="0" anchor="t">
            <a:noAutofit/>
          </a:bodyPr>
          <a:lstStyle/>
          <a:p>
            <a:pPr algn="l">
              <a:lnSpc>
                <a:spcPts val="3276"/>
              </a:lnSpc>
              <a:spcBef>
                <a:spcPts val="0"/>
              </a:spcBef>
              <a:spcAft>
                <a:spcPts val="0"/>
              </a:spcAft>
              <a:defRPr sz="2900">
                <a:latin typeface="Arial"/>
              </a:defRPr>
            </a:pPr>
            <a:r>
              <a:rPr sz="2900" b="1">
                <a:solidFill>
                  <a:srgbClr val="B13F36"/>
                </a:solidFill>
                <a:latin typeface="Arial"/>
              </a:rPr>
              <a:t>Q3</a:t>
            </a:r>
          </a:p>
        </p:txBody>
      </p:sp>
      <p:sp>
        <p:nvSpPr>
          <p:cNvPr id="17" name="agenda question"/>
          <p:cNvSpPr txBox="1"/>
          <p:nvPr/>
        </p:nvSpPr>
        <p:spPr>
          <a:xfrm>
            <a:off x="1847088" y="4101084"/>
            <a:ext cx="7562088" cy="758952"/>
          </a:xfrm>
          <a:prstGeom prst="rect">
            <a:avLst/>
          </a:prstGeom>
          <a:noFill/>
        </p:spPr>
        <p:txBody>
          <a:bodyPr wrap="square" lIns="0" rIns="0" tIns="17526" bIns="0" anchor="t">
            <a:noAutofit/>
          </a:bodyPr>
          <a:lstStyle/>
          <a:p>
            <a:pPr algn="l">
              <a:lnSpc>
                <a:spcPts val="2576"/>
              </a:lnSpc>
              <a:spcBef>
                <a:spcPts val="0"/>
              </a:spcBef>
              <a:spcAft>
                <a:spcPts val="0"/>
              </a:spcAft>
              <a:defRPr sz="2300">
                <a:latin typeface="Arial"/>
              </a:defRPr>
            </a:pPr>
            <a:r>
              <a:rPr sz="2300" b="1">
                <a:solidFill>
                  <a:srgbClr val="17302B"/>
                </a:solidFill>
                <a:latin typeface="Arial"/>
              </a:rPr>
              <a:t>Was Robinhood justified in stopping customers from</a:t>
            </a:r>
          </a:p>
          <a:p>
            <a:pPr algn="l">
              <a:lnSpc>
                <a:spcPts val="2576"/>
              </a:lnSpc>
              <a:spcBef>
                <a:spcPts val="0"/>
              </a:spcBef>
              <a:spcAft>
                <a:spcPts val="0"/>
              </a:spcAft>
              <a:defRPr sz="2300">
                <a:latin typeface="Arial"/>
              </a:defRPr>
            </a:pPr>
            <a:r>
              <a:rPr sz="2300" b="1">
                <a:solidFill>
                  <a:srgbClr val="17302B"/>
                </a:solidFill>
                <a:latin typeface="Arial"/>
              </a:rPr>
              <a:t>buying GME?</a:t>
            </a:r>
          </a:p>
        </p:txBody>
      </p:sp>
      <p:sp>
        <p:nvSpPr>
          <p:cNvPr id="18" name="agenda section label"/>
          <p:cNvSpPr txBox="1"/>
          <p:nvPr/>
        </p:nvSpPr>
        <p:spPr>
          <a:xfrm>
            <a:off x="9601200" y="4187952"/>
            <a:ext cx="1901952" cy="502920"/>
          </a:xfrm>
          <a:prstGeom prst="rect">
            <a:avLst/>
          </a:prstGeom>
          <a:noFill/>
        </p:spPr>
        <p:txBody>
          <a:bodyPr wrap="square" lIns="0" rIns="0" tIns="8001" bIns="0" anchor="t">
            <a:noAutofit/>
          </a:bodyPr>
          <a:lstStyle/>
          <a:p>
            <a:pPr algn="r">
              <a:lnSpc>
                <a:spcPts val="1207"/>
              </a:lnSpc>
              <a:spcBef>
                <a:spcPts val="0"/>
              </a:spcBef>
              <a:spcAft>
                <a:spcPts val="0"/>
              </a:spcAft>
              <a:defRPr sz="1050">
                <a:latin typeface="Arial"/>
              </a:defRPr>
            </a:pPr>
            <a:r>
              <a:rPr sz="1050" b="1">
                <a:solidFill>
                  <a:srgbClr val="B13F36"/>
                </a:solidFill>
                <a:latin typeface="Arial"/>
              </a:rPr>
              <a:t>PLATFORM</a:t>
            </a:r>
          </a:p>
          <a:p>
            <a:pPr algn="r">
              <a:lnSpc>
                <a:spcPts val="1207"/>
              </a:lnSpc>
              <a:spcBef>
                <a:spcPts val="0"/>
              </a:spcBef>
              <a:spcAft>
                <a:spcPts val="0"/>
              </a:spcAft>
              <a:defRPr sz="1050">
                <a:latin typeface="Arial"/>
              </a:defRPr>
            </a:pPr>
            <a:r>
              <a:rPr sz="1050" b="1">
                <a:solidFill>
                  <a:srgbClr val="B13F36"/>
                </a:solidFill>
                <a:latin typeface="Arial"/>
              </a:rPr>
              <a:t>RESPONSIBILITY</a:t>
            </a:r>
          </a:p>
        </p:txBody>
      </p:sp>
      <p:cxnSp>
        <p:nvCxnSpPr>
          <p:cNvPr id="19" name="connector"/>
          <p:cNvCxnSpPr/>
          <p:nvPr/>
        </p:nvCxnSpPr>
        <p:spPr>
          <a:xfrm>
            <a:off x="713232" y="4901184"/>
            <a:ext cx="10762488"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0" name="question number"/>
          <p:cNvSpPr txBox="1"/>
          <p:nvPr/>
        </p:nvSpPr>
        <p:spPr>
          <a:xfrm>
            <a:off x="713232" y="5029200"/>
            <a:ext cx="841248" cy="557784"/>
          </a:xfrm>
          <a:prstGeom prst="rect">
            <a:avLst/>
          </a:prstGeom>
          <a:noFill/>
        </p:spPr>
        <p:txBody>
          <a:bodyPr wrap="square" lIns="0" rIns="0" tIns="22098" bIns="0" anchor="t">
            <a:noAutofit/>
          </a:bodyPr>
          <a:lstStyle/>
          <a:p>
            <a:pPr algn="l">
              <a:lnSpc>
                <a:spcPts val="3276"/>
              </a:lnSpc>
              <a:spcBef>
                <a:spcPts val="0"/>
              </a:spcBef>
              <a:spcAft>
                <a:spcPts val="0"/>
              </a:spcAft>
              <a:defRPr sz="2900">
                <a:latin typeface="Arial"/>
              </a:defRPr>
            </a:pPr>
            <a:r>
              <a:rPr sz="2900" b="1">
                <a:solidFill>
                  <a:srgbClr val="6D5A99"/>
                </a:solidFill>
                <a:latin typeface="Arial"/>
              </a:rPr>
              <a:t>Q4</a:t>
            </a:r>
          </a:p>
        </p:txBody>
      </p:sp>
      <p:sp>
        <p:nvSpPr>
          <p:cNvPr id="21" name="agenda question"/>
          <p:cNvSpPr txBox="1"/>
          <p:nvPr/>
        </p:nvSpPr>
        <p:spPr>
          <a:xfrm>
            <a:off x="1847088" y="5052060"/>
            <a:ext cx="7562088" cy="758952"/>
          </a:xfrm>
          <a:prstGeom prst="rect">
            <a:avLst/>
          </a:prstGeom>
          <a:noFill/>
        </p:spPr>
        <p:txBody>
          <a:bodyPr wrap="square" lIns="0" rIns="0" tIns="17526" bIns="0" anchor="t">
            <a:noAutofit/>
          </a:bodyPr>
          <a:lstStyle/>
          <a:p>
            <a:pPr algn="l">
              <a:lnSpc>
                <a:spcPts val="2576"/>
              </a:lnSpc>
              <a:spcBef>
                <a:spcPts val="0"/>
              </a:spcBef>
              <a:spcAft>
                <a:spcPts val="0"/>
              </a:spcAft>
              <a:defRPr sz="2300">
                <a:latin typeface="Arial"/>
              </a:defRPr>
            </a:pPr>
            <a:r>
              <a:rPr sz="2300" b="1">
                <a:solidFill>
                  <a:srgbClr val="17302B"/>
                </a:solidFill>
                <a:latin typeface="Arial"/>
              </a:rPr>
              <a:t>How should the industry deal with “the mob”?</a:t>
            </a:r>
          </a:p>
        </p:txBody>
      </p:sp>
      <p:sp>
        <p:nvSpPr>
          <p:cNvPr id="22" name="agenda section label"/>
          <p:cNvSpPr txBox="1"/>
          <p:nvPr/>
        </p:nvSpPr>
        <p:spPr>
          <a:xfrm>
            <a:off x="9601200" y="5138928"/>
            <a:ext cx="1901952" cy="502920"/>
          </a:xfrm>
          <a:prstGeom prst="rect">
            <a:avLst/>
          </a:prstGeom>
          <a:noFill/>
        </p:spPr>
        <p:txBody>
          <a:bodyPr wrap="square" lIns="0" rIns="0" tIns="8001" bIns="0" anchor="t">
            <a:noAutofit/>
          </a:bodyPr>
          <a:lstStyle/>
          <a:p>
            <a:pPr algn="r">
              <a:lnSpc>
                <a:spcPts val="1207"/>
              </a:lnSpc>
              <a:spcBef>
                <a:spcPts val="0"/>
              </a:spcBef>
              <a:spcAft>
                <a:spcPts val="0"/>
              </a:spcAft>
              <a:defRPr sz="1050">
                <a:latin typeface="Arial"/>
              </a:defRPr>
            </a:pPr>
            <a:r>
              <a:rPr sz="1050" b="1">
                <a:solidFill>
                  <a:srgbClr val="6D5A99"/>
                </a:solidFill>
                <a:latin typeface="Arial"/>
              </a:rPr>
              <a:t>INDUSTRY RESPONSE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Ruilin Sun</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03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Q1 / THE COMPANY</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A disc store in a download world</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Why the market had written GameStop off by 2020</a:t>
            </a:r>
          </a:p>
        </p:txBody>
      </p:sp>
      <p:sp>
        <p:nvSpPr>
          <p:cNvPr id="9" name="eyebrow"/>
          <p:cNvSpPr txBox="1"/>
          <p:nvPr/>
        </p:nvSpPr>
        <p:spPr>
          <a:xfrm>
            <a:off x="713232" y="2221992"/>
            <a:ext cx="40233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THE BUSINESS</a:t>
            </a:r>
          </a:p>
        </p:txBody>
      </p:sp>
      <p:sp>
        <p:nvSpPr>
          <p:cNvPr id="10" name="business point"/>
          <p:cNvSpPr txBox="1"/>
          <p:nvPr/>
        </p:nvSpPr>
        <p:spPr>
          <a:xfrm>
            <a:off x="713232" y="2487168"/>
            <a:ext cx="4041648" cy="356616"/>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America’s video-game store</a:t>
            </a:r>
          </a:p>
        </p:txBody>
      </p:sp>
      <p:sp>
        <p:nvSpPr>
          <p:cNvPr id="11" name="business explanation"/>
          <p:cNvSpPr txBox="1"/>
          <p:nvPr/>
        </p:nvSpPr>
        <p:spPr>
          <a:xfrm>
            <a:off x="713232" y="2880360"/>
            <a:ext cx="4041648" cy="502920"/>
          </a:xfrm>
          <a:prstGeom prst="rect">
            <a:avLst/>
          </a:prstGeom>
          <a:noFill/>
        </p:spPr>
        <p:txBody>
          <a:bodyPr wrap="square" lIns="0" rIns="0" tIns="12192" bIns="0" anchor="t">
            <a:noAutofit/>
          </a:bodyPr>
          <a:lstStyle/>
          <a:p>
            <a:pPr algn="l">
              <a:lnSpc>
                <a:spcPts val="1760"/>
              </a:lnSpc>
              <a:spcBef>
                <a:spcPts val="0"/>
              </a:spcBef>
              <a:spcAft>
                <a:spcPts val="0"/>
              </a:spcAft>
              <a:defRPr sz="1600">
                <a:latin typeface="Arial"/>
              </a:defRPr>
            </a:pPr>
            <a:r>
              <a:rPr sz="1600" b="0">
                <a:solidFill>
                  <a:srgbClr val="5E6B65"/>
                </a:solidFill>
                <a:latin typeface="Arial"/>
              </a:rPr>
              <a:t>Buy new, trade in, resell.</a:t>
            </a:r>
          </a:p>
          <a:p>
            <a:pPr algn="l">
              <a:lnSpc>
                <a:spcPts val="1760"/>
              </a:lnSpc>
              <a:spcBef>
                <a:spcPts val="0"/>
              </a:spcBef>
              <a:spcAft>
                <a:spcPts val="0"/>
              </a:spcAft>
              <a:defRPr sz="1600">
                <a:latin typeface="Arial"/>
              </a:defRPr>
            </a:pPr>
            <a:r>
              <a:rPr sz="1600" b="0">
                <a:solidFill>
                  <a:srgbClr val="5E6B65"/>
                </a:solidFill>
                <a:latin typeface="Arial"/>
              </a:rPr>
              <a:t>4,816 stores.</a:t>
            </a:r>
          </a:p>
        </p:txBody>
      </p:sp>
      <p:sp>
        <p:nvSpPr>
          <p:cNvPr id="12" name="eyebrow"/>
          <p:cNvSpPr txBox="1"/>
          <p:nvPr/>
        </p:nvSpPr>
        <p:spPr>
          <a:xfrm>
            <a:off x="713232" y="3419856"/>
            <a:ext cx="40233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THE DISRUPTION</a:t>
            </a:r>
          </a:p>
        </p:txBody>
      </p:sp>
      <p:sp>
        <p:nvSpPr>
          <p:cNvPr id="13" name="business point"/>
          <p:cNvSpPr txBox="1"/>
          <p:nvPr/>
        </p:nvSpPr>
        <p:spPr>
          <a:xfrm>
            <a:off x="713232" y="3685032"/>
            <a:ext cx="4041648" cy="356616"/>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Games went digital, ~2013</a:t>
            </a:r>
          </a:p>
        </p:txBody>
      </p:sp>
      <p:sp>
        <p:nvSpPr>
          <p:cNvPr id="14" name="business explanation"/>
          <p:cNvSpPr txBox="1"/>
          <p:nvPr/>
        </p:nvSpPr>
        <p:spPr>
          <a:xfrm>
            <a:off x="713232" y="4078224"/>
            <a:ext cx="4041648" cy="502920"/>
          </a:xfrm>
          <a:prstGeom prst="rect">
            <a:avLst/>
          </a:prstGeom>
          <a:noFill/>
        </p:spPr>
        <p:txBody>
          <a:bodyPr wrap="square" lIns="0" rIns="0" tIns="12192" bIns="0" anchor="t">
            <a:noAutofit/>
          </a:bodyPr>
          <a:lstStyle/>
          <a:p>
            <a:pPr algn="l">
              <a:lnSpc>
                <a:spcPts val="1760"/>
              </a:lnSpc>
              <a:spcBef>
                <a:spcPts val="0"/>
              </a:spcBef>
              <a:spcAft>
                <a:spcPts val="0"/>
              </a:spcAft>
              <a:defRPr sz="1600">
                <a:latin typeface="Arial"/>
              </a:defRPr>
            </a:pPr>
            <a:r>
              <a:rPr sz="1600" b="0">
                <a:solidFill>
                  <a:srgbClr val="5E6B65"/>
                </a:solidFill>
                <a:latin typeface="Arial"/>
              </a:rPr>
              <a:t>Xbox and PlayStation sold downloads</a:t>
            </a:r>
          </a:p>
          <a:p>
            <a:pPr algn="l">
              <a:lnSpc>
                <a:spcPts val="1760"/>
              </a:lnSpc>
              <a:spcBef>
                <a:spcPts val="0"/>
              </a:spcBef>
              <a:spcAft>
                <a:spcPts val="0"/>
              </a:spcAft>
              <a:defRPr sz="1600">
                <a:latin typeface="Arial"/>
              </a:defRPr>
            </a:pPr>
            <a:r>
              <a:rPr sz="1600" b="0">
                <a:solidFill>
                  <a:srgbClr val="5E6B65"/>
                </a:solidFill>
                <a:latin typeface="Arial"/>
              </a:rPr>
              <a:t>directly to consumers.</a:t>
            </a:r>
          </a:p>
        </p:txBody>
      </p:sp>
      <p:sp>
        <p:nvSpPr>
          <p:cNvPr id="15" name="eyebrow"/>
          <p:cNvSpPr txBox="1"/>
          <p:nvPr/>
        </p:nvSpPr>
        <p:spPr>
          <a:xfrm>
            <a:off x="713232" y="4617720"/>
            <a:ext cx="40233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THE COST</a:t>
            </a:r>
          </a:p>
        </p:txBody>
      </p:sp>
      <p:sp>
        <p:nvSpPr>
          <p:cNvPr id="16" name="business point"/>
          <p:cNvSpPr txBox="1"/>
          <p:nvPr/>
        </p:nvSpPr>
        <p:spPr>
          <a:xfrm>
            <a:off x="713232" y="4882896"/>
            <a:ext cx="4041648" cy="356616"/>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Debt: $0 → $800m by 2018</a:t>
            </a:r>
          </a:p>
        </p:txBody>
      </p:sp>
      <p:sp>
        <p:nvSpPr>
          <p:cNvPr id="17" name="business explanation"/>
          <p:cNvSpPr txBox="1"/>
          <p:nvPr/>
        </p:nvSpPr>
        <p:spPr>
          <a:xfrm>
            <a:off x="713232" y="5276088"/>
            <a:ext cx="4041648" cy="502920"/>
          </a:xfrm>
          <a:prstGeom prst="rect">
            <a:avLst/>
          </a:prstGeom>
          <a:noFill/>
        </p:spPr>
        <p:txBody>
          <a:bodyPr wrap="square" lIns="0" rIns="0" tIns="12192" bIns="0" anchor="t">
            <a:noAutofit/>
          </a:bodyPr>
          <a:lstStyle/>
          <a:p>
            <a:pPr algn="l">
              <a:lnSpc>
                <a:spcPts val="1760"/>
              </a:lnSpc>
              <a:spcBef>
                <a:spcPts val="0"/>
              </a:spcBef>
              <a:spcAft>
                <a:spcPts val="0"/>
              </a:spcAft>
              <a:defRPr sz="1600">
                <a:latin typeface="Arial"/>
              </a:defRPr>
            </a:pPr>
            <a:r>
              <a:rPr sz="1600" b="0">
                <a:solidFill>
                  <a:srgbClr val="5E6B65"/>
                </a:solidFill>
                <a:latin typeface="Arial"/>
              </a:rPr>
              <a:t>Acquisition spree; store closures</a:t>
            </a:r>
          </a:p>
          <a:p>
            <a:pPr algn="l">
              <a:lnSpc>
                <a:spcPts val="1760"/>
              </a:lnSpc>
              <a:spcBef>
                <a:spcPts val="0"/>
              </a:spcBef>
              <a:spcAft>
                <a:spcPts val="0"/>
              </a:spcAft>
              <a:defRPr sz="1600">
                <a:latin typeface="Arial"/>
              </a:defRPr>
            </a:pPr>
            <a:r>
              <a:rPr sz="1600" b="0">
                <a:solidFill>
                  <a:srgbClr val="5E6B65"/>
                </a:solidFill>
                <a:latin typeface="Arial"/>
              </a:rPr>
              <a:t>came too late.</a:t>
            </a:r>
          </a:p>
        </p:txBody>
      </p:sp>
      <p:sp>
        <p:nvSpPr>
          <p:cNvPr id="18" name="eyebrow"/>
          <p:cNvSpPr txBox="1"/>
          <p:nvPr/>
        </p:nvSpPr>
        <p:spPr>
          <a:xfrm>
            <a:off x="5074920" y="2221992"/>
            <a:ext cx="640080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SELECTED CASE PRICE MILESTONES</a:t>
            </a:r>
          </a:p>
        </p:txBody>
      </p:sp>
      <p:cxnSp>
        <p:nvCxnSpPr>
          <p:cNvPr id="19" name="connector"/>
          <p:cNvCxnSpPr/>
          <p:nvPr/>
        </p:nvCxnSpPr>
        <p:spPr>
          <a:xfrm flipV="1">
            <a:off x="5376672" y="2971800"/>
            <a:ext cx="1837944" cy="1331366"/>
          </a:xfrm>
          <a:prstGeom prst="line">
            <a:avLst/>
          </a:prstGeom>
          <a:ln w="25400">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20" name="connector"/>
          <p:cNvCxnSpPr/>
          <p:nvPr/>
        </p:nvCxnSpPr>
        <p:spPr>
          <a:xfrm>
            <a:off x="7214616" y="2971800"/>
            <a:ext cx="1837944" cy="1820485"/>
          </a:xfrm>
          <a:prstGeom prst="line">
            <a:avLst/>
          </a:prstGeom>
          <a:ln w="25400">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21" name="connector"/>
          <p:cNvCxnSpPr/>
          <p:nvPr/>
        </p:nvCxnSpPr>
        <p:spPr>
          <a:xfrm flipV="1">
            <a:off x="9052560" y="4239768"/>
            <a:ext cx="1837944" cy="552517"/>
          </a:xfrm>
          <a:prstGeom prst="line">
            <a:avLst/>
          </a:prstGeom>
          <a:ln w="25400">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22" name="connector"/>
          <p:cNvCxnSpPr/>
          <p:nvPr/>
        </p:nvCxnSpPr>
        <p:spPr>
          <a:xfrm>
            <a:off x="5074920" y="4974336"/>
            <a:ext cx="6409944" cy="0"/>
          </a:xfrm>
          <a:prstGeom prst="line">
            <a:avLst/>
          </a:prstGeom>
          <a:ln w="1016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3" name="circle"/>
          <p:cNvSpPr/>
          <p:nvPr/>
        </p:nvSpPr>
        <p:spPr>
          <a:xfrm>
            <a:off x="5335524" y="4262018"/>
            <a:ext cx="82296" cy="82296"/>
          </a:xfrm>
          <a:prstGeom prst="ellipse">
            <a:avLst/>
          </a:prstGeom>
          <a:solidFill>
            <a:srgbClr val="2F73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chart value"/>
          <p:cNvSpPr txBox="1"/>
          <p:nvPr/>
        </p:nvSpPr>
        <p:spPr>
          <a:xfrm>
            <a:off x="4782312" y="4458614"/>
            <a:ext cx="1280160" cy="338328"/>
          </a:xfrm>
          <a:prstGeom prst="rect">
            <a:avLst/>
          </a:prstGeom>
          <a:noFill/>
        </p:spPr>
        <p:txBody>
          <a:bodyPr wrap="square" lIns="0" rIns="0" tIns="16002" bIns="0" anchor="t">
            <a:noAutofit/>
          </a:bodyPr>
          <a:lstStyle/>
          <a:p>
            <a:pPr algn="ctr">
              <a:lnSpc>
                <a:spcPts val="2372"/>
              </a:lnSpc>
              <a:spcBef>
                <a:spcPts val="0"/>
              </a:spcBef>
              <a:spcAft>
                <a:spcPts val="0"/>
              </a:spcAft>
              <a:defRPr sz="2100">
                <a:latin typeface="Arial"/>
              </a:defRPr>
            </a:pPr>
            <a:r>
              <a:rPr sz="2100" b="1">
                <a:solidFill>
                  <a:srgbClr val="2F7358"/>
                </a:solidFill>
                <a:latin typeface="Arial"/>
              </a:rPr>
              <a:t>$18</a:t>
            </a:r>
          </a:p>
        </p:txBody>
      </p:sp>
      <p:sp>
        <p:nvSpPr>
          <p:cNvPr id="25" name="chart date"/>
          <p:cNvSpPr txBox="1"/>
          <p:nvPr/>
        </p:nvSpPr>
        <p:spPr>
          <a:xfrm>
            <a:off x="4754880" y="5129784"/>
            <a:ext cx="1389888" cy="320040"/>
          </a:xfrm>
          <a:prstGeom prst="rect">
            <a:avLst/>
          </a:prstGeom>
          <a:noFill/>
        </p:spPr>
        <p:txBody>
          <a:bodyPr wrap="square" lIns="0" rIns="0" tIns="8763" bIns="0" anchor="t">
            <a:noAutofit/>
          </a:bodyPr>
          <a:lstStyle/>
          <a:p>
            <a:pPr algn="ctr">
              <a:lnSpc>
                <a:spcPts val="1299"/>
              </a:lnSpc>
              <a:spcBef>
                <a:spcPts val="0"/>
              </a:spcBef>
              <a:spcAft>
                <a:spcPts val="0"/>
              </a:spcAft>
              <a:defRPr sz="1150">
                <a:latin typeface="Arial"/>
              </a:defRPr>
            </a:pPr>
            <a:r>
              <a:rPr sz="1150" b="0">
                <a:solidFill>
                  <a:srgbClr val="5E6B65"/>
                </a:solidFill>
                <a:latin typeface="Arial"/>
              </a:rPr>
              <a:t>IPO · 2002</a:t>
            </a:r>
          </a:p>
        </p:txBody>
      </p:sp>
      <p:sp>
        <p:nvSpPr>
          <p:cNvPr id="26" name="circle"/>
          <p:cNvSpPr/>
          <p:nvPr/>
        </p:nvSpPr>
        <p:spPr>
          <a:xfrm>
            <a:off x="7173468" y="2930652"/>
            <a:ext cx="82296" cy="82296"/>
          </a:xfrm>
          <a:prstGeom prst="ellipse">
            <a:avLst/>
          </a:prstGeom>
          <a:solidFill>
            <a:srgbClr val="2F73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chart value"/>
          <p:cNvSpPr txBox="1"/>
          <p:nvPr/>
        </p:nvSpPr>
        <p:spPr>
          <a:xfrm>
            <a:off x="6620255" y="2487168"/>
            <a:ext cx="1280160" cy="338328"/>
          </a:xfrm>
          <a:prstGeom prst="rect">
            <a:avLst/>
          </a:prstGeom>
          <a:noFill/>
        </p:spPr>
        <p:txBody>
          <a:bodyPr wrap="square" lIns="0" rIns="0" tIns="16002" bIns="0" anchor="t">
            <a:noAutofit/>
          </a:bodyPr>
          <a:lstStyle/>
          <a:p>
            <a:pPr algn="ctr">
              <a:lnSpc>
                <a:spcPts val="2372"/>
              </a:lnSpc>
              <a:spcBef>
                <a:spcPts val="0"/>
              </a:spcBef>
              <a:spcAft>
                <a:spcPts val="0"/>
              </a:spcAft>
              <a:defRPr sz="2100">
                <a:latin typeface="Arial"/>
              </a:defRPr>
            </a:pPr>
            <a:r>
              <a:rPr sz="2100" b="1">
                <a:solidFill>
                  <a:srgbClr val="2F7358"/>
                </a:solidFill>
                <a:latin typeface="Arial"/>
              </a:rPr>
              <a:t>$60+</a:t>
            </a:r>
          </a:p>
        </p:txBody>
      </p:sp>
      <p:sp>
        <p:nvSpPr>
          <p:cNvPr id="28" name="chart date"/>
          <p:cNvSpPr txBox="1"/>
          <p:nvPr/>
        </p:nvSpPr>
        <p:spPr>
          <a:xfrm>
            <a:off x="6592824" y="5129784"/>
            <a:ext cx="1389888" cy="320040"/>
          </a:xfrm>
          <a:prstGeom prst="rect">
            <a:avLst/>
          </a:prstGeom>
          <a:noFill/>
        </p:spPr>
        <p:txBody>
          <a:bodyPr wrap="square" lIns="0" rIns="0" tIns="8763" bIns="0" anchor="t">
            <a:noAutofit/>
          </a:bodyPr>
          <a:lstStyle/>
          <a:p>
            <a:pPr algn="ctr">
              <a:lnSpc>
                <a:spcPts val="1299"/>
              </a:lnSpc>
              <a:spcBef>
                <a:spcPts val="0"/>
              </a:spcBef>
              <a:spcAft>
                <a:spcPts val="0"/>
              </a:spcAft>
              <a:defRPr sz="1150">
                <a:latin typeface="Arial"/>
              </a:defRPr>
            </a:pPr>
            <a:r>
              <a:rPr sz="1150" b="0">
                <a:solidFill>
                  <a:srgbClr val="5E6B65"/>
                </a:solidFill>
                <a:latin typeface="Arial"/>
              </a:rPr>
              <a:t>Dec 2007</a:t>
            </a:r>
          </a:p>
        </p:txBody>
      </p:sp>
      <p:sp>
        <p:nvSpPr>
          <p:cNvPr id="29" name="circle"/>
          <p:cNvSpPr/>
          <p:nvPr/>
        </p:nvSpPr>
        <p:spPr>
          <a:xfrm>
            <a:off x="9011412" y="4751137"/>
            <a:ext cx="82296" cy="82296"/>
          </a:xfrm>
          <a:prstGeom prst="ellipse">
            <a:avLst/>
          </a:prstGeom>
          <a:solidFill>
            <a:srgbClr val="B13F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hart value"/>
          <p:cNvSpPr txBox="1"/>
          <p:nvPr/>
        </p:nvSpPr>
        <p:spPr>
          <a:xfrm>
            <a:off x="9171432" y="3959352"/>
            <a:ext cx="1280160" cy="338328"/>
          </a:xfrm>
          <a:prstGeom prst="rect">
            <a:avLst/>
          </a:prstGeom>
          <a:noFill/>
        </p:spPr>
        <p:txBody>
          <a:bodyPr wrap="square" lIns="0" rIns="0" tIns="16002" bIns="0" anchor="t">
            <a:noAutofit/>
          </a:bodyPr>
          <a:lstStyle/>
          <a:p>
            <a:pPr algn="ctr">
              <a:lnSpc>
                <a:spcPts val="2372"/>
              </a:lnSpc>
              <a:spcBef>
                <a:spcPts val="0"/>
              </a:spcBef>
              <a:spcAft>
                <a:spcPts val="0"/>
              </a:spcAft>
              <a:defRPr sz="2100">
                <a:latin typeface="Arial"/>
              </a:defRPr>
            </a:pPr>
            <a:r>
              <a:rPr sz="2100" b="1">
                <a:solidFill>
                  <a:srgbClr val="B13F36"/>
                </a:solidFill>
                <a:latin typeface="Arial"/>
              </a:rPr>
              <a:t>$2.57</a:t>
            </a:r>
          </a:p>
        </p:txBody>
      </p:sp>
      <p:sp>
        <p:nvSpPr>
          <p:cNvPr id="31" name="chart date"/>
          <p:cNvSpPr txBox="1"/>
          <p:nvPr/>
        </p:nvSpPr>
        <p:spPr>
          <a:xfrm>
            <a:off x="8430768" y="5129784"/>
            <a:ext cx="1389888" cy="320040"/>
          </a:xfrm>
          <a:prstGeom prst="rect">
            <a:avLst/>
          </a:prstGeom>
          <a:noFill/>
        </p:spPr>
        <p:txBody>
          <a:bodyPr wrap="square" lIns="0" rIns="0" tIns="8763" bIns="0" anchor="t">
            <a:noAutofit/>
          </a:bodyPr>
          <a:lstStyle/>
          <a:p>
            <a:pPr algn="ctr">
              <a:lnSpc>
                <a:spcPts val="1299"/>
              </a:lnSpc>
              <a:spcBef>
                <a:spcPts val="0"/>
              </a:spcBef>
              <a:spcAft>
                <a:spcPts val="0"/>
              </a:spcAft>
              <a:defRPr sz="1150">
                <a:latin typeface="Arial"/>
              </a:defRPr>
            </a:pPr>
            <a:r>
              <a:rPr sz="1150" b="0">
                <a:solidFill>
                  <a:srgbClr val="5E6B65"/>
                </a:solidFill>
                <a:latin typeface="Arial"/>
              </a:rPr>
              <a:t>Apr 3, 2020</a:t>
            </a:r>
          </a:p>
        </p:txBody>
      </p:sp>
      <p:sp>
        <p:nvSpPr>
          <p:cNvPr id="32" name="circle"/>
          <p:cNvSpPr/>
          <p:nvPr/>
        </p:nvSpPr>
        <p:spPr>
          <a:xfrm>
            <a:off x="10849356" y="4198620"/>
            <a:ext cx="82296" cy="82296"/>
          </a:xfrm>
          <a:prstGeom prst="ellipse">
            <a:avLst/>
          </a:prstGeom>
          <a:solidFill>
            <a:srgbClr val="2F73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chart value"/>
          <p:cNvSpPr txBox="1"/>
          <p:nvPr/>
        </p:nvSpPr>
        <p:spPr>
          <a:xfrm>
            <a:off x="10296144" y="3755136"/>
            <a:ext cx="1280160" cy="338328"/>
          </a:xfrm>
          <a:prstGeom prst="rect">
            <a:avLst/>
          </a:prstGeom>
          <a:noFill/>
        </p:spPr>
        <p:txBody>
          <a:bodyPr wrap="square" lIns="0" rIns="0" tIns="16002" bIns="0" anchor="t">
            <a:noAutofit/>
          </a:bodyPr>
          <a:lstStyle/>
          <a:p>
            <a:pPr algn="ctr">
              <a:lnSpc>
                <a:spcPts val="2372"/>
              </a:lnSpc>
              <a:spcBef>
                <a:spcPts val="0"/>
              </a:spcBef>
              <a:spcAft>
                <a:spcPts val="0"/>
              </a:spcAft>
              <a:defRPr sz="2100">
                <a:latin typeface="Arial"/>
              </a:defRPr>
            </a:pPr>
            <a:r>
              <a:rPr sz="2100" b="1">
                <a:solidFill>
                  <a:srgbClr val="2F7358"/>
                </a:solidFill>
                <a:latin typeface="Arial"/>
              </a:rPr>
              <a:t>~$20</a:t>
            </a:r>
          </a:p>
        </p:txBody>
      </p:sp>
      <p:sp>
        <p:nvSpPr>
          <p:cNvPr id="34" name="chart date"/>
          <p:cNvSpPr txBox="1"/>
          <p:nvPr/>
        </p:nvSpPr>
        <p:spPr>
          <a:xfrm>
            <a:off x="10268712" y="5129784"/>
            <a:ext cx="1389888" cy="320040"/>
          </a:xfrm>
          <a:prstGeom prst="rect">
            <a:avLst/>
          </a:prstGeom>
          <a:noFill/>
        </p:spPr>
        <p:txBody>
          <a:bodyPr wrap="square" lIns="0" rIns="0" tIns="8763" bIns="0" anchor="t">
            <a:noAutofit/>
          </a:bodyPr>
          <a:lstStyle/>
          <a:p>
            <a:pPr algn="ctr">
              <a:lnSpc>
                <a:spcPts val="1299"/>
              </a:lnSpc>
              <a:spcBef>
                <a:spcPts val="0"/>
              </a:spcBef>
              <a:spcAft>
                <a:spcPts val="0"/>
              </a:spcAft>
              <a:defRPr sz="1150">
                <a:latin typeface="Arial"/>
              </a:defRPr>
            </a:pPr>
            <a:r>
              <a:rPr sz="1150" b="0">
                <a:solidFill>
                  <a:srgbClr val="5E6B65"/>
                </a:solidFill>
                <a:latin typeface="Arial"/>
              </a:rPr>
              <a:t>Dec 2020</a:t>
            </a:r>
          </a:p>
        </p:txBody>
      </p:sp>
      <p:sp>
        <p:nvSpPr>
          <p:cNvPr id="35" name="eyebrow"/>
          <p:cNvSpPr txBox="1"/>
          <p:nvPr/>
        </p:nvSpPr>
        <p:spPr>
          <a:xfrm>
            <a:off x="8458200" y="3072384"/>
            <a:ext cx="274320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−96% FROM THE PEAK</a:t>
            </a:r>
          </a:p>
        </p:txBody>
      </p:sp>
      <p:cxnSp>
        <p:nvCxnSpPr>
          <p:cNvPr id="36" name="price value leader"/>
          <p:cNvCxnSpPr/>
          <p:nvPr/>
        </p:nvCxnSpPr>
        <p:spPr>
          <a:xfrm flipV="1">
            <a:off x="9134856" y="4416552"/>
            <a:ext cx="420624" cy="329184"/>
          </a:xfrm>
          <a:prstGeom prst="line">
            <a:avLst/>
          </a:prstGeom>
          <a:ln w="8890">
            <a:solidFill>
              <a:srgbClr val="B13F36"/>
            </a:solidFill>
          </a:ln>
          <a:effectLst/>
        </p:spPr>
        <p:style>
          <a:lnRef idx="2">
            <a:schemeClr val="accent1"/>
          </a:lnRef>
          <a:fillRef idx="0">
            <a:schemeClr val="accent1"/>
          </a:fillRef>
          <a:effectRef idx="0">
            <a:schemeClr val="accent1"/>
          </a:effectRef>
          <a:fontRef idx="minor">
            <a:schemeClr val="tx1"/>
          </a:fontRef>
        </p:style>
      </p:cxnSp>
      <p:sp>
        <p:nvSpPr>
          <p:cNvPr id="37" name="chart basis"/>
          <p:cNvSpPr txBox="1"/>
          <p:nvPr/>
        </p:nvSpPr>
        <p:spPr>
          <a:xfrm>
            <a:off x="5074920" y="5504688"/>
            <a:ext cx="6400800" cy="219456"/>
          </a:xfrm>
          <a:prstGeom prst="rect">
            <a:avLst/>
          </a:prstGeom>
          <a:noFill/>
        </p:spPr>
        <p:txBody>
          <a:bodyPr wrap="square" lIns="0" rIns="0" tIns="8001" bIns="0" anchor="t">
            <a:noAutofit/>
          </a:bodyPr>
          <a:lstStyle/>
          <a:p>
            <a:pPr algn="l">
              <a:lnSpc>
                <a:spcPts val="1186"/>
              </a:lnSpc>
              <a:spcBef>
                <a:spcPts val="0"/>
              </a:spcBef>
              <a:spcAft>
                <a:spcPts val="0"/>
              </a:spcAft>
              <a:defRPr sz="1050">
                <a:latin typeface="Arial"/>
              </a:defRPr>
            </a:pPr>
            <a:r>
              <a:rPr sz="1050" b="0">
                <a:solidFill>
                  <a:srgbClr val="5E6B65"/>
                </a:solidFill>
                <a:latin typeface="Arial"/>
              </a:rPr>
              <a:t>Selected milestones; connecting line is schematic, not a full price series.</a:t>
            </a:r>
          </a:p>
        </p:txBody>
      </p:sp>
      <p:sp>
        <p:nvSpPr>
          <p:cNvPr id="38" name="turnaround annotation"/>
          <p:cNvSpPr/>
          <p:nvPr/>
        </p:nvSpPr>
        <p:spPr>
          <a:xfrm>
            <a:off x="658368" y="5815584"/>
            <a:ext cx="10881360" cy="384048"/>
          </a:xfrm>
          <a:prstGeom prst="rect">
            <a:avLst/>
          </a:prstGeom>
          <a:solidFill>
            <a:srgbClr val="EA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urnaround note"/>
          <p:cNvSpPr txBox="1"/>
          <p:nvPr/>
        </p:nvSpPr>
        <p:spPr>
          <a:xfrm>
            <a:off x="822960" y="5879592"/>
            <a:ext cx="10561320" cy="237744"/>
          </a:xfrm>
          <a:prstGeom prst="rect">
            <a:avLst/>
          </a:prstGeom>
          <a:noFill/>
        </p:spPr>
        <p:txBody>
          <a:bodyPr wrap="square" lIns="0" rIns="0" tIns="10287" bIns="0" anchor="t">
            <a:noAutofit/>
          </a:bodyPr>
          <a:lstStyle/>
          <a:p>
            <a:pPr algn="l">
              <a:lnSpc>
                <a:spcPts val="1525"/>
              </a:lnSpc>
              <a:spcBef>
                <a:spcPts val="0"/>
              </a:spcBef>
              <a:spcAft>
                <a:spcPts val="0"/>
              </a:spcAft>
              <a:defRPr sz="1350">
                <a:latin typeface="Arial"/>
              </a:defRPr>
            </a:pPr>
            <a:r>
              <a:rPr sz="1350" b="1">
                <a:solidFill>
                  <a:srgbClr val="2F7358"/>
                </a:solidFill>
                <a:latin typeface="Arial"/>
              </a:rPr>
              <a:t>THE TWIST Aug 2020: Ryan Cohen buys in. By Jan 2021: ~13% ownership and a board seat.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Ruilin Sun</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04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Q1 / THE CROWDED TRADE</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Wall Street bet against it, all at once</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Melvin Capital and Citron shorted GameStop; the exit became dangerously crowded.</a:t>
            </a:r>
          </a:p>
        </p:txBody>
      </p:sp>
      <p:sp>
        <p:nvSpPr>
          <p:cNvPr id="9" name="eyebrow"/>
          <p:cNvSpPr txBox="1"/>
          <p:nvPr/>
        </p:nvSpPr>
        <p:spPr>
          <a:xfrm>
            <a:off x="713232" y="2267712"/>
            <a:ext cx="484632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SHORT INTEREST / JAN 15, 2021</a:t>
            </a:r>
          </a:p>
        </p:txBody>
      </p:sp>
      <p:sp>
        <p:nvSpPr>
          <p:cNvPr id="10" name="short interest hero"/>
          <p:cNvSpPr txBox="1"/>
          <p:nvPr/>
        </p:nvSpPr>
        <p:spPr>
          <a:xfrm>
            <a:off x="658368" y="2651760"/>
            <a:ext cx="5577840" cy="1280160"/>
          </a:xfrm>
          <a:prstGeom prst="rect">
            <a:avLst/>
          </a:prstGeom>
          <a:noFill/>
        </p:spPr>
        <p:txBody>
          <a:bodyPr wrap="square" lIns="0" rIns="0" tIns="64008" bIns="0" anchor="t">
            <a:noAutofit/>
          </a:bodyPr>
          <a:lstStyle/>
          <a:p>
            <a:pPr algn="l">
              <a:lnSpc>
                <a:spcPts val="9491"/>
              </a:lnSpc>
              <a:spcBef>
                <a:spcPts val="0"/>
              </a:spcBef>
              <a:spcAft>
                <a:spcPts val="0"/>
              </a:spcAft>
              <a:defRPr sz="8400">
                <a:latin typeface="Arial"/>
              </a:defRPr>
            </a:pPr>
            <a:r>
              <a:rPr sz="8400" b="1">
                <a:solidFill>
                  <a:srgbClr val="855E26"/>
                </a:solidFill>
                <a:latin typeface="Arial"/>
              </a:rPr>
              <a:t>102.1%</a:t>
            </a:r>
          </a:p>
        </p:txBody>
      </p:sp>
      <p:sp>
        <p:nvSpPr>
          <p:cNvPr id="11" name="short interest definition"/>
          <p:cNvSpPr txBox="1"/>
          <p:nvPr/>
        </p:nvSpPr>
        <p:spPr>
          <a:xfrm>
            <a:off x="749808" y="4041648"/>
            <a:ext cx="4937760" cy="64922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0">
                <a:solidFill>
                  <a:srgbClr val="17302B"/>
                </a:solidFill>
                <a:latin typeface="Arial"/>
              </a:rPr>
              <a:t>of tradable shares had been sold short</a:t>
            </a:r>
          </a:p>
        </p:txBody>
      </p:sp>
      <p:sp>
        <p:nvSpPr>
          <p:cNvPr id="12" name="re-lending explanation"/>
          <p:cNvSpPr txBox="1"/>
          <p:nvPr/>
        </p:nvSpPr>
        <p:spPr>
          <a:xfrm>
            <a:off x="749808" y="4892040"/>
            <a:ext cx="4663440" cy="548640"/>
          </a:xfrm>
          <a:prstGeom prst="rect">
            <a:avLst/>
          </a:prstGeom>
          <a:noFill/>
        </p:spPr>
        <p:txBody>
          <a:bodyPr wrap="square" lIns="0" rIns="0" tIns="11811" bIns="0" anchor="t">
            <a:noAutofit/>
          </a:bodyPr>
          <a:lstStyle/>
          <a:p>
            <a:pPr algn="l">
              <a:lnSpc>
                <a:spcPts val="1751"/>
              </a:lnSpc>
              <a:spcBef>
                <a:spcPts val="0"/>
              </a:spcBef>
              <a:spcAft>
                <a:spcPts val="0"/>
              </a:spcAft>
              <a:defRPr sz="1550">
                <a:latin typeface="Arial"/>
              </a:defRPr>
            </a:pPr>
            <a:r>
              <a:rPr sz="1550" b="0">
                <a:solidFill>
                  <a:srgbClr val="5E6B65"/>
                </a:solidFill>
                <a:latin typeface="Arial"/>
              </a:rPr>
              <a:t>Over 100% is possible: a borrowed share can be</a:t>
            </a:r>
          </a:p>
          <a:p>
            <a:pPr algn="l">
              <a:lnSpc>
                <a:spcPts val="1751"/>
              </a:lnSpc>
              <a:spcBef>
                <a:spcPts val="0"/>
              </a:spcBef>
              <a:spcAft>
                <a:spcPts val="0"/>
              </a:spcAft>
              <a:defRPr sz="1550">
                <a:latin typeface="Arial"/>
              </a:defRPr>
            </a:pPr>
            <a:r>
              <a:rPr sz="1550" b="0">
                <a:solidFill>
                  <a:srgbClr val="5E6B65"/>
                </a:solidFill>
                <a:latin typeface="Arial"/>
              </a:rPr>
              <a:t>re-lent and shorted again.</a:t>
            </a:r>
          </a:p>
        </p:txBody>
      </p:sp>
      <p:cxnSp>
        <p:nvCxnSpPr>
          <p:cNvPr id="13" name="connector"/>
          <p:cNvCxnSpPr/>
          <p:nvPr/>
        </p:nvCxnSpPr>
        <p:spPr>
          <a:xfrm>
            <a:off x="6108192" y="2286000"/>
            <a:ext cx="0" cy="3227832"/>
          </a:xfrm>
          <a:prstGeom prst="line">
            <a:avLst/>
          </a:prstGeom>
          <a:ln w="1016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14" name="eyebrow"/>
          <p:cNvSpPr txBox="1"/>
          <p:nvPr/>
        </p:nvSpPr>
        <p:spPr>
          <a:xfrm>
            <a:off x="6601968" y="2267712"/>
            <a:ext cx="47548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THE SHORT TRADE</a:t>
            </a:r>
          </a:p>
        </p:txBody>
      </p:sp>
      <p:sp>
        <p:nvSpPr>
          <p:cNvPr id="15" name="short trade sequence"/>
          <p:cNvSpPr txBox="1"/>
          <p:nvPr/>
        </p:nvSpPr>
        <p:spPr>
          <a:xfrm>
            <a:off x="6601968" y="2670048"/>
            <a:ext cx="4663440" cy="393192"/>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1">
                <a:solidFill>
                  <a:srgbClr val="17302B"/>
                </a:solidFill>
                <a:latin typeface="Arial"/>
              </a:rPr>
              <a:t>Borrow → sell now → buy back later</a:t>
            </a:r>
          </a:p>
        </p:txBody>
      </p:sp>
      <p:sp>
        <p:nvSpPr>
          <p:cNvPr id="16" name="maximum gain"/>
          <p:cNvSpPr txBox="1"/>
          <p:nvPr/>
        </p:nvSpPr>
        <p:spPr>
          <a:xfrm>
            <a:off x="6583680" y="3337560"/>
            <a:ext cx="2157984" cy="612648"/>
          </a:xfrm>
          <a:prstGeom prst="rect">
            <a:avLst/>
          </a:prstGeom>
          <a:noFill/>
        </p:spPr>
        <p:txBody>
          <a:bodyPr wrap="square" lIns="0" rIns="0" tIns="28193" bIns="0" anchor="t">
            <a:noAutofit/>
          </a:bodyPr>
          <a:lstStyle/>
          <a:p>
            <a:pPr algn="l">
              <a:lnSpc>
                <a:spcPts val="4180"/>
              </a:lnSpc>
              <a:spcBef>
                <a:spcPts val="0"/>
              </a:spcBef>
              <a:spcAft>
                <a:spcPts val="0"/>
              </a:spcAft>
              <a:defRPr sz="3700">
                <a:latin typeface="Arial"/>
              </a:defRPr>
            </a:pPr>
            <a:r>
              <a:rPr sz="3700" b="1">
                <a:solidFill>
                  <a:srgbClr val="2F7358"/>
                </a:solidFill>
                <a:latin typeface="Arial"/>
              </a:rPr>
              <a:t>+100%</a:t>
            </a:r>
          </a:p>
        </p:txBody>
      </p:sp>
      <p:sp>
        <p:nvSpPr>
          <p:cNvPr id="17" name="unbounded loss"/>
          <p:cNvSpPr txBox="1"/>
          <p:nvPr/>
        </p:nvSpPr>
        <p:spPr>
          <a:xfrm>
            <a:off x="9400032" y="3273552"/>
            <a:ext cx="1920240" cy="749808"/>
          </a:xfrm>
          <a:prstGeom prst="rect">
            <a:avLst/>
          </a:prstGeom>
          <a:noFill/>
        </p:spPr>
        <p:txBody>
          <a:bodyPr wrap="square" lIns="0" rIns="0" tIns="35814" bIns="0" anchor="t">
            <a:noAutofit/>
          </a:bodyPr>
          <a:lstStyle/>
          <a:p>
            <a:pPr algn="l">
              <a:lnSpc>
                <a:spcPts val="5310"/>
              </a:lnSpc>
              <a:spcBef>
                <a:spcPts val="0"/>
              </a:spcBef>
              <a:spcAft>
                <a:spcPts val="0"/>
              </a:spcAft>
              <a:defRPr sz="4700">
                <a:latin typeface="Arial"/>
              </a:defRPr>
            </a:pPr>
            <a:r>
              <a:rPr sz="4700" b="1">
                <a:solidFill>
                  <a:srgbClr val="B13F36"/>
                </a:solidFill>
                <a:latin typeface="Arial"/>
              </a:rPr>
              <a:t>∞</a:t>
            </a:r>
          </a:p>
        </p:txBody>
      </p:sp>
      <p:sp>
        <p:nvSpPr>
          <p:cNvPr id="18" name="gain explanation"/>
          <p:cNvSpPr txBox="1"/>
          <p:nvPr/>
        </p:nvSpPr>
        <p:spPr>
          <a:xfrm>
            <a:off x="6601968" y="3995928"/>
            <a:ext cx="2212848" cy="566928"/>
          </a:xfrm>
          <a:prstGeom prst="rect">
            <a:avLst/>
          </a:prstGeom>
          <a:noFill/>
        </p:spPr>
        <p:txBody>
          <a:bodyPr wrap="square" lIns="0" rIns="0" tIns="11811" bIns="0" anchor="t">
            <a:noAutofit/>
          </a:bodyPr>
          <a:lstStyle/>
          <a:p>
            <a:pPr algn="l">
              <a:lnSpc>
                <a:spcPts val="1751"/>
              </a:lnSpc>
              <a:spcBef>
                <a:spcPts val="0"/>
              </a:spcBef>
              <a:spcAft>
                <a:spcPts val="0"/>
              </a:spcAft>
              <a:defRPr sz="1550">
                <a:latin typeface="Arial"/>
              </a:defRPr>
            </a:pPr>
            <a:r>
              <a:rPr sz="1550" b="0">
                <a:solidFill>
                  <a:srgbClr val="5E6B65"/>
                </a:solidFill>
                <a:latin typeface="Arial"/>
              </a:rPr>
              <a:t>Best case: the stock</a:t>
            </a:r>
          </a:p>
          <a:p>
            <a:pPr algn="l">
              <a:lnSpc>
                <a:spcPts val="1751"/>
              </a:lnSpc>
              <a:spcBef>
                <a:spcPts val="0"/>
              </a:spcBef>
              <a:spcAft>
                <a:spcPts val="0"/>
              </a:spcAft>
              <a:defRPr sz="1550">
                <a:latin typeface="Arial"/>
              </a:defRPr>
            </a:pPr>
            <a:r>
              <a:rPr sz="1550" b="0">
                <a:solidFill>
                  <a:srgbClr val="5E6B65"/>
                </a:solidFill>
                <a:latin typeface="Arial"/>
              </a:rPr>
              <a:t>goes to zero</a:t>
            </a:r>
          </a:p>
        </p:txBody>
      </p:sp>
      <p:sp>
        <p:nvSpPr>
          <p:cNvPr id="19" name="loss explanation"/>
          <p:cNvSpPr txBox="1"/>
          <p:nvPr/>
        </p:nvSpPr>
        <p:spPr>
          <a:xfrm>
            <a:off x="9400032" y="3995928"/>
            <a:ext cx="2011680" cy="566928"/>
          </a:xfrm>
          <a:prstGeom prst="rect">
            <a:avLst/>
          </a:prstGeom>
          <a:noFill/>
        </p:spPr>
        <p:txBody>
          <a:bodyPr wrap="square" lIns="0" rIns="0" tIns="11811" bIns="0" anchor="t">
            <a:noAutofit/>
          </a:bodyPr>
          <a:lstStyle/>
          <a:p>
            <a:pPr algn="l">
              <a:lnSpc>
                <a:spcPts val="1751"/>
              </a:lnSpc>
              <a:spcBef>
                <a:spcPts val="0"/>
              </a:spcBef>
              <a:spcAft>
                <a:spcPts val="0"/>
              </a:spcAft>
              <a:defRPr sz="1550">
                <a:latin typeface="Arial"/>
              </a:defRPr>
            </a:pPr>
            <a:r>
              <a:rPr sz="1550" b="0">
                <a:solidFill>
                  <a:srgbClr val="5E6B65"/>
                </a:solidFill>
                <a:latin typeface="Arial"/>
              </a:rPr>
              <a:t>Worst case: a price</a:t>
            </a:r>
          </a:p>
          <a:p>
            <a:pPr algn="l">
              <a:lnSpc>
                <a:spcPts val="1751"/>
              </a:lnSpc>
              <a:spcBef>
                <a:spcPts val="0"/>
              </a:spcBef>
              <a:spcAft>
                <a:spcPts val="0"/>
              </a:spcAft>
              <a:defRPr sz="1550">
                <a:latin typeface="Arial"/>
              </a:defRPr>
            </a:pPr>
            <a:r>
              <a:rPr sz="1550" b="0">
                <a:solidFill>
                  <a:srgbClr val="5E6B65"/>
                </a:solidFill>
                <a:latin typeface="Arial"/>
              </a:rPr>
              <a:t>has no ceiling</a:t>
            </a:r>
          </a:p>
        </p:txBody>
      </p:sp>
      <p:cxnSp>
        <p:nvCxnSpPr>
          <p:cNvPr id="20" name="connector"/>
          <p:cNvCxnSpPr/>
          <p:nvPr/>
        </p:nvCxnSpPr>
        <p:spPr>
          <a:xfrm>
            <a:off x="6601968" y="4745736"/>
            <a:ext cx="4837176" cy="0"/>
          </a:xfrm>
          <a:prstGeom prst="line">
            <a:avLst/>
          </a:prstGeom>
          <a:ln w="1016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1" name="days to cover"/>
          <p:cNvSpPr txBox="1"/>
          <p:nvPr/>
        </p:nvSpPr>
        <p:spPr>
          <a:xfrm>
            <a:off x="6601968" y="4965192"/>
            <a:ext cx="2468880" cy="521207"/>
          </a:xfrm>
          <a:prstGeom prst="rect">
            <a:avLst/>
          </a:prstGeom>
          <a:noFill/>
        </p:spPr>
        <p:txBody>
          <a:bodyPr wrap="square" lIns="0" rIns="0" tIns="22098" bIns="0" anchor="t">
            <a:noAutofit/>
          </a:bodyPr>
          <a:lstStyle/>
          <a:p>
            <a:pPr algn="l">
              <a:lnSpc>
                <a:spcPts val="3276"/>
              </a:lnSpc>
              <a:spcBef>
                <a:spcPts val="0"/>
              </a:spcBef>
              <a:spcAft>
                <a:spcPts val="0"/>
              </a:spcAft>
              <a:defRPr sz="2900">
                <a:latin typeface="Arial"/>
              </a:defRPr>
            </a:pPr>
            <a:r>
              <a:rPr sz="2900" b="1">
                <a:solidFill>
                  <a:srgbClr val="17302B"/>
                </a:solidFill>
                <a:latin typeface="Arial"/>
              </a:rPr>
              <a:t>11.6 days</a:t>
            </a:r>
          </a:p>
        </p:txBody>
      </p:sp>
      <p:sp>
        <p:nvSpPr>
          <p:cNvPr id="22" name="days to cover basis"/>
          <p:cNvSpPr txBox="1"/>
          <p:nvPr/>
        </p:nvSpPr>
        <p:spPr>
          <a:xfrm>
            <a:off x="9180576" y="4965192"/>
            <a:ext cx="2267712" cy="621792"/>
          </a:xfrm>
          <a:prstGeom prst="rect">
            <a:avLst/>
          </a:prstGeom>
          <a:noFill/>
        </p:spPr>
        <p:txBody>
          <a:bodyPr wrap="square" lIns="0" rIns="0" tIns="11049" bIns="0" anchor="t">
            <a:noAutofit/>
          </a:bodyPr>
          <a:lstStyle/>
          <a:p>
            <a:pPr algn="l">
              <a:lnSpc>
                <a:spcPts val="1638"/>
              </a:lnSpc>
              <a:spcBef>
                <a:spcPts val="0"/>
              </a:spcBef>
              <a:spcAft>
                <a:spcPts val="0"/>
              </a:spcAft>
              <a:defRPr sz="1450">
                <a:latin typeface="Arial"/>
              </a:defRPr>
            </a:pPr>
            <a:r>
              <a:rPr sz="1450" b="0">
                <a:solidFill>
                  <a:srgbClr val="5E6B65"/>
                </a:solidFill>
                <a:latin typeface="Arial"/>
              </a:rPr>
              <a:t>of normal volume to cover</a:t>
            </a:r>
          </a:p>
          <a:p>
            <a:pPr algn="l">
              <a:lnSpc>
                <a:spcPts val="1638"/>
              </a:lnSpc>
              <a:spcBef>
                <a:spcPts val="0"/>
              </a:spcBef>
              <a:spcAft>
                <a:spcPts val="0"/>
              </a:spcAft>
              <a:defRPr sz="1450">
                <a:latin typeface="Arial"/>
              </a:defRPr>
            </a:pPr>
            <a:r>
              <a:rPr sz="1450" b="0">
                <a:solidFill>
                  <a:srgbClr val="5E6B65"/>
                </a:solidFill>
                <a:latin typeface="Arial"/>
              </a:rPr>
              <a:t>all shorts (Mar 2020)</a:t>
            </a:r>
          </a:p>
        </p:txBody>
      </p:sp>
      <p:sp>
        <p:nvSpPr>
          <p:cNvPr id="23" name="conclusion mark"/>
          <p:cNvSpPr/>
          <p:nvPr/>
        </p:nvSpPr>
        <p:spPr>
          <a:xfrm>
            <a:off x="658368" y="5833872"/>
            <a:ext cx="50292" cy="365760"/>
          </a:xfrm>
          <a:prstGeom prst="rect">
            <a:avLst/>
          </a:prstGeom>
          <a:solidFill>
            <a:srgbClr val="855E2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akeaway"/>
          <p:cNvSpPr txBox="1"/>
          <p:nvPr/>
        </p:nvSpPr>
        <p:spPr>
          <a:xfrm>
            <a:off x="877824" y="5806440"/>
            <a:ext cx="10561320" cy="493776"/>
          </a:xfrm>
          <a:prstGeom prst="rect">
            <a:avLst/>
          </a:prstGeom>
          <a:noFill/>
        </p:spPr>
        <p:txBody>
          <a:bodyPr wrap="square" lIns="0" rIns="0" tIns="16002" bIns="0" anchor="t">
            <a:noAutofit/>
          </a:bodyPr>
          <a:lstStyle/>
          <a:p>
            <a:pPr algn="l">
              <a:lnSpc>
                <a:spcPts val="2310"/>
              </a:lnSpc>
              <a:spcBef>
                <a:spcPts val="0"/>
              </a:spcBef>
              <a:spcAft>
                <a:spcPts val="0"/>
              </a:spcAft>
              <a:defRPr sz="2100">
                <a:latin typeface="Arial"/>
              </a:defRPr>
            </a:pPr>
            <a:r>
              <a:rPr sz="2100" b="1">
                <a:solidFill>
                  <a:srgbClr val="17302B"/>
                </a:solidFill>
                <a:latin typeface="Arial"/>
              </a:rPr>
              <a:t>A packed room, one small door. All it needed was a fire alarm.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Liu Yinghan</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05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Q1 / THE RETAIL ARMY</a:t>
            </a:r>
          </a:p>
        </p:txBody>
      </p:sp>
      <p:sp>
        <p:nvSpPr>
          <p:cNvPr id="7" name="slide title"/>
          <p:cNvSpPr txBox="1"/>
          <p:nvPr/>
        </p:nvSpPr>
        <p:spPr>
          <a:xfrm>
            <a:off x="658368" y="859536"/>
            <a:ext cx="10835640" cy="676656"/>
          </a:xfrm>
          <a:prstGeom prst="rect">
            <a:avLst/>
          </a:prstGeom>
          <a:noFill/>
        </p:spPr>
        <p:txBody>
          <a:bodyPr wrap="square" lIns="0" rIns="0" tIns="25908" bIns="0" anchor="t">
            <a:noAutofit/>
          </a:bodyPr>
          <a:lstStyle/>
          <a:p>
            <a:pPr algn="l">
              <a:lnSpc>
                <a:spcPts val="3638"/>
              </a:lnSpc>
              <a:spcBef>
                <a:spcPts val="0"/>
              </a:spcBef>
              <a:spcAft>
                <a:spcPts val="0"/>
              </a:spcAft>
              <a:defRPr sz="3400">
                <a:latin typeface="Arial"/>
              </a:defRPr>
            </a:pPr>
            <a:r>
              <a:rPr sz="3400" b="1">
                <a:solidFill>
                  <a:srgbClr val="17302B"/>
                </a:solidFill>
                <a:latin typeface="Arial"/>
              </a:rPr>
              <a:t>Money, time and a cause built a retail army</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Profit motive combined with powerful anti-Wall Street sentiment.</a:t>
            </a:r>
          </a:p>
        </p:txBody>
      </p:sp>
      <p:sp>
        <p:nvSpPr>
          <p:cNvPr id="9" name="reason number"/>
          <p:cNvSpPr txBox="1"/>
          <p:nvPr/>
        </p:nvSpPr>
        <p:spPr>
          <a:xfrm>
            <a:off x="713232" y="2267712"/>
            <a:ext cx="576072" cy="457200"/>
          </a:xfrm>
          <a:prstGeom prst="rect">
            <a:avLst/>
          </a:prstGeom>
          <a:noFill/>
        </p:spPr>
        <p:txBody>
          <a:bodyPr wrap="square" lIns="0" rIns="0" tIns="19812" bIns="0" anchor="t">
            <a:noAutofit/>
          </a:bodyPr>
          <a:lstStyle/>
          <a:p>
            <a:pPr algn="l">
              <a:lnSpc>
                <a:spcPts val="2937"/>
              </a:lnSpc>
              <a:spcBef>
                <a:spcPts val="0"/>
              </a:spcBef>
              <a:spcAft>
                <a:spcPts val="0"/>
              </a:spcAft>
              <a:defRPr sz="2600">
                <a:latin typeface="Arial"/>
              </a:defRPr>
            </a:pPr>
            <a:r>
              <a:rPr sz="2600" b="1">
                <a:solidFill>
                  <a:srgbClr val="2F7358"/>
                </a:solidFill>
                <a:latin typeface="Arial"/>
              </a:rPr>
              <a:t>01</a:t>
            </a:r>
          </a:p>
        </p:txBody>
      </p:sp>
      <p:sp>
        <p:nvSpPr>
          <p:cNvPr id="10" name="reason title"/>
          <p:cNvSpPr txBox="1"/>
          <p:nvPr/>
        </p:nvSpPr>
        <p:spPr>
          <a:xfrm>
            <a:off x="1481328" y="2267712"/>
            <a:ext cx="6355080" cy="356616"/>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Cash and time</a:t>
            </a:r>
          </a:p>
        </p:txBody>
      </p:sp>
      <p:sp>
        <p:nvSpPr>
          <p:cNvPr id="11" name="reason explanation"/>
          <p:cNvSpPr txBox="1"/>
          <p:nvPr/>
        </p:nvSpPr>
        <p:spPr>
          <a:xfrm>
            <a:off x="1481328" y="2706624"/>
            <a:ext cx="5943600" cy="59436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Government stimulus cheques and lockdown left new traders</a:t>
            </a:r>
          </a:p>
          <a:p>
            <a:pPr algn="l">
              <a:lnSpc>
                <a:spcPts val="1920"/>
              </a:lnSpc>
              <a:spcBef>
                <a:spcPts val="0"/>
              </a:spcBef>
              <a:spcAft>
                <a:spcPts val="0"/>
              </a:spcAft>
              <a:defRPr sz="1700">
                <a:latin typeface="Arial"/>
              </a:defRPr>
            </a:pPr>
            <a:r>
              <a:rPr sz="1700" b="0">
                <a:solidFill>
                  <a:srgbClr val="5E6B65"/>
                </a:solidFill>
                <a:latin typeface="Arial"/>
              </a:rPr>
              <a:t>with extra cash and time.</a:t>
            </a:r>
          </a:p>
        </p:txBody>
      </p:sp>
      <p:sp>
        <p:nvSpPr>
          <p:cNvPr id="12" name="reason number"/>
          <p:cNvSpPr txBox="1"/>
          <p:nvPr/>
        </p:nvSpPr>
        <p:spPr>
          <a:xfrm>
            <a:off x="713232" y="3310128"/>
            <a:ext cx="576072" cy="457200"/>
          </a:xfrm>
          <a:prstGeom prst="rect">
            <a:avLst/>
          </a:prstGeom>
          <a:noFill/>
        </p:spPr>
        <p:txBody>
          <a:bodyPr wrap="square" lIns="0" rIns="0" tIns="19812" bIns="0" anchor="t">
            <a:noAutofit/>
          </a:bodyPr>
          <a:lstStyle/>
          <a:p>
            <a:pPr algn="l">
              <a:lnSpc>
                <a:spcPts val="2937"/>
              </a:lnSpc>
              <a:spcBef>
                <a:spcPts val="0"/>
              </a:spcBef>
              <a:spcAft>
                <a:spcPts val="0"/>
              </a:spcAft>
              <a:defRPr sz="2600">
                <a:latin typeface="Arial"/>
              </a:defRPr>
            </a:pPr>
            <a:r>
              <a:rPr sz="2600" b="1">
                <a:solidFill>
                  <a:srgbClr val="2F7358"/>
                </a:solidFill>
                <a:latin typeface="Arial"/>
              </a:rPr>
              <a:t>02</a:t>
            </a:r>
          </a:p>
        </p:txBody>
      </p:sp>
      <p:sp>
        <p:nvSpPr>
          <p:cNvPr id="13" name="reason title"/>
          <p:cNvSpPr txBox="1"/>
          <p:nvPr/>
        </p:nvSpPr>
        <p:spPr>
          <a:xfrm>
            <a:off x="1481328" y="3310128"/>
            <a:ext cx="6355080" cy="356616"/>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Zero-commission access</a:t>
            </a:r>
          </a:p>
        </p:txBody>
      </p:sp>
      <p:sp>
        <p:nvSpPr>
          <p:cNvPr id="14" name="reason explanation"/>
          <p:cNvSpPr txBox="1"/>
          <p:nvPr/>
        </p:nvSpPr>
        <p:spPr>
          <a:xfrm>
            <a:off x="1481328" y="3749039"/>
            <a:ext cx="5943600" cy="59436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Apps such as Robinhood removed the cost barrier for</a:t>
            </a:r>
          </a:p>
          <a:p>
            <a:pPr algn="l">
              <a:lnSpc>
                <a:spcPts val="1920"/>
              </a:lnSpc>
              <a:spcBef>
                <a:spcPts val="0"/>
              </a:spcBef>
              <a:spcAft>
                <a:spcPts val="0"/>
              </a:spcAft>
              <a:defRPr sz="1700">
                <a:latin typeface="Arial"/>
              </a:defRPr>
            </a:pPr>
            <a:r>
              <a:rPr sz="1700" b="0">
                <a:solidFill>
                  <a:srgbClr val="5E6B65"/>
                </a:solidFill>
                <a:latin typeface="Arial"/>
              </a:rPr>
              <a:t>everyday investors.</a:t>
            </a:r>
          </a:p>
        </p:txBody>
      </p:sp>
      <p:sp>
        <p:nvSpPr>
          <p:cNvPr id="15" name="reason number"/>
          <p:cNvSpPr txBox="1"/>
          <p:nvPr/>
        </p:nvSpPr>
        <p:spPr>
          <a:xfrm>
            <a:off x="713232" y="4352544"/>
            <a:ext cx="576072" cy="457200"/>
          </a:xfrm>
          <a:prstGeom prst="rect">
            <a:avLst/>
          </a:prstGeom>
          <a:noFill/>
        </p:spPr>
        <p:txBody>
          <a:bodyPr wrap="square" lIns="0" rIns="0" tIns="19812" bIns="0" anchor="t">
            <a:noAutofit/>
          </a:bodyPr>
          <a:lstStyle/>
          <a:p>
            <a:pPr algn="l">
              <a:lnSpc>
                <a:spcPts val="2937"/>
              </a:lnSpc>
              <a:spcBef>
                <a:spcPts val="0"/>
              </a:spcBef>
              <a:spcAft>
                <a:spcPts val="0"/>
              </a:spcAft>
              <a:defRPr sz="2600">
                <a:latin typeface="Arial"/>
              </a:defRPr>
            </a:pPr>
            <a:r>
              <a:rPr sz="2600" b="1">
                <a:solidFill>
                  <a:srgbClr val="2F7358"/>
                </a:solidFill>
                <a:latin typeface="Arial"/>
              </a:rPr>
              <a:t>03</a:t>
            </a:r>
          </a:p>
        </p:txBody>
      </p:sp>
      <p:sp>
        <p:nvSpPr>
          <p:cNvPr id="16" name="reason title"/>
          <p:cNvSpPr txBox="1"/>
          <p:nvPr/>
        </p:nvSpPr>
        <p:spPr>
          <a:xfrm>
            <a:off x="1481328" y="4352544"/>
            <a:ext cx="6355080" cy="356616"/>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Social proof and FOMO</a:t>
            </a:r>
          </a:p>
        </p:txBody>
      </p:sp>
      <p:sp>
        <p:nvSpPr>
          <p:cNvPr id="17" name="reason explanation"/>
          <p:cNvSpPr txBox="1"/>
          <p:nvPr/>
        </p:nvSpPr>
        <p:spPr>
          <a:xfrm>
            <a:off x="1481328" y="4791456"/>
            <a:ext cx="5943600" cy="59436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Keith Gill’s visible success on WallStreetBets attracted</a:t>
            </a:r>
          </a:p>
          <a:p>
            <a:pPr algn="l">
              <a:lnSpc>
                <a:spcPts val="1920"/>
              </a:lnSpc>
              <a:spcBef>
                <a:spcPts val="0"/>
              </a:spcBef>
              <a:spcAft>
                <a:spcPts val="0"/>
              </a:spcAft>
              <a:defRPr sz="1700">
                <a:latin typeface="Arial"/>
              </a:defRPr>
            </a:pPr>
            <a:r>
              <a:rPr sz="1700" b="0">
                <a:solidFill>
                  <a:srgbClr val="5E6B65"/>
                </a:solidFill>
                <a:latin typeface="Arial"/>
              </a:rPr>
              <a:t>followers and fueled greed.</a:t>
            </a:r>
          </a:p>
        </p:txBody>
      </p:sp>
      <p:sp>
        <p:nvSpPr>
          <p:cNvPr id="18" name="retail evidence panel"/>
          <p:cNvSpPr/>
          <p:nvPr/>
        </p:nvSpPr>
        <p:spPr>
          <a:xfrm>
            <a:off x="8229600" y="2240280"/>
            <a:ext cx="3255264" cy="3209544"/>
          </a:xfrm>
          <a:prstGeom prst="rect">
            <a:avLst/>
          </a:prstGeom>
          <a:solidFill>
            <a:srgbClr val="EA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eyebrow"/>
          <p:cNvSpPr txBox="1"/>
          <p:nvPr/>
        </p:nvSpPr>
        <p:spPr>
          <a:xfrm>
            <a:off x="8458200" y="2450592"/>
            <a:ext cx="283464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FIRST-TIME INVESTORS</a:t>
            </a:r>
          </a:p>
        </p:txBody>
      </p:sp>
      <p:sp>
        <p:nvSpPr>
          <p:cNvPr id="20" name="first-time investor statistic"/>
          <p:cNvSpPr txBox="1"/>
          <p:nvPr/>
        </p:nvSpPr>
        <p:spPr>
          <a:xfrm>
            <a:off x="8430768" y="2752344"/>
            <a:ext cx="2807208" cy="850392"/>
          </a:xfrm>
          <a:prstGeom prst="rect">
            <a:avLst/>
          </a:prstGeom>
          <a:noFill/>
        </p:spPr>
        <p:txBody>
          <a:bodyPr wrap="square" lIns="0" rIns="0" tIns="41148" bIns="0" anchor="t">
            <a:noAutofit/>
          </a:bodyPr>
          <a:lstStyle/>
          <a:p>
            <a:pPr algn="l">
              <a:lnSpc>
                <a:spcPts val="6102"/>
              </a:lnSpc>
              <a:spcBef>
                <a:spcPts val="0"/>
              </a:spcBef>
              <a:spcAft>
                <a:spcPts val="0"/>
              </a:spcAft>
              <a:defRPr sz="5400">
                <a:latin typeface="Arial"/>
              </a:defRPr>
            </a:pPr>
            <a:r>
              <a:rPr sz="5400" b="1">
                <a:solidFill>
                  <a:srgbClr val="2F7358"/>
                </a:solidFill>
                <a:latin typeface="Arial"/>
              </a:rPr>
              <a:t>50%</a:t>
            </a:r>
          </a:p>
        </p:txBody>
      </p:sp>
      <p:sp>
        <p:nvSpPr>
          <p:cNvPr id="21" name="first-time investor basis"/>
          <p:cNvSpPr txBox="1"/>
          <p:nvPr/>
        </p:nvSpPr>
        <p:spPr>
          <a:xfrm>
            <a:off x="8458200" y="3657600"/>
            <a:ext cx="2734056" cy="59436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of Robinhood’s new 2020</a:t>
            </a:r>
          </a:p>
          <a:p>
            <a:pPr algn="l">
              <a:lnSpc>
                <a:spcPts val="1920"/>
              </a:lnSpc>
              <a:spcBef>
                <a:spcPts val="0"/>
              </a:spcBef>
              <a:spcAft>
                <a:spcPts val="0"/>
              </a:spcAft>
              <a:defRPr sz="1700">
                <a:latin typeface="Arial"/>
              </a:defRPr>
            </a:pPr>
            <a:r>
              <a:rPr sz="1700" b="0">
                <a:solidFill>
                  <a:srgbClr val="5E6B65"/>
                </a:solidFill>
                <a:latin typeface="Arial"/>
              </a:rPr>
              <a:t>users</a:t>
            </a:r>
          </a:p>
        </p:txBody>
      </p:sp>
      <p:cxnSp>
        <p:nvCxnSpPr>
          <p:cNvPr id="22" name="connector"/>
          <p:cNvCxnSpPr/>
          <p:nvPr/>
        </p:nvCxnSpPr>
        <p:spPr>
          <a:xfrm>
            <a:off x="8458200" y="4425696"/>
            <a:ext cx="2807208" cy="0"/>
          </a:xfrm>
          <a:prstGeom prst="line">
            <a:avLst/>
          </a:prstGeom>
          <a:ln w="8890">
            <a:solidFill>
              <a:srgbClr val="C9DCCE"/>
            </a:solidFill>
          </a:ln>
          <a:effectLst/>
        </p:spPr>
        <p:style>
          <a:lnRef idx="2">
            <a:schemeClr val="accent1"/>
          </a:lnRef>
          <a:fillRef idx="0">
            <a:schemeClr val="accent1"/>
          </a:fillRef>
          <a:effectRef idx="0">
            <a:schemeClr val="accent1"/>
          </a:effectRef>
          <a:fontRef idx="minor">
            <a:schemeClr val="tx1"/>
          </a:fontRef>
        </p:style>
      </p:cxnSp>
      <p:sp>
        <p:nvSpPr>
          <p:cNvPr id="23" name="Keith Gill option gain"/>
          <p:cNvSpPr txBox="1"/>
          <p:nvPr/>
        </p:nvSpPr>
        <p:spPr>
          <a:xfrm>
            <a:off x="8458200" y="4608576"/>
            <a:ext cx="2770632" cy="374904"/>
          </a:xfrm>
          <a:prstGeom prst="rect">
            <a:avLst/>
          </a:prstGeom>
          <a:noFill/>
        </p:spPr>
        <p:txBody>
          <a:bodyPr wrap="square" lIns="0" rIns="0" tIns="18288" bIns="0" anchor="t">
            <a:noAutofit/>
          </a:bodyPr>
          <a:lstStyle/>
          <a:p>
            <a:pPr algn="l">
              <a:lnSpc>
                <a:spcPts val="2711"/>
              </a:lnSpc>
              <a:spcBef>
                <a:spcPts val="0"/>
              </a:spcBef>
              <a:spcAft>
                <a:spcPts val="0"/>
              </a:spcAft>
              <a:defRPr sz="2400">
                <a:latin typeface="Arial"/>
              </a:defRPr>
            </a:pPr>
            <a:r>
              <a:rPr sz="2400" b="1">
                <a:solidFill>
                  <a:srgbClr val="2F7358"/>
                </a:solidFill>
                <a:latin typeface="Arial"/>
              </a:rPr>
              <a:t>$53K → $11M</a:t>
            </a:r>
          </a:p>
        </p:txBody>
      </p:sp>
      <p:sp>
        <p:nvSpPr>
          <p:cNvPr id="24" name="option trade basis"/>
          <p:cNvSpPr txBox="1"/>
          <p:nvPr/>
        </p:nvSpPr>
        <p:spPr>
          <a:xfrm>
            <a:off x="8458200" y="5047488"/>
            <a:ext cx="2743200" cy="246888"/>
          </a:xfrm>
          <a:prstGeom prst="rect">
            <a:avLst/>
          </a:prstGeom>
          <a:noFill/>
        </p:spPr>
        <p:txBody>
          <a:bodyPr wrap="square" lIns="0" rIns="0" tIns="10668" bIns="0" anchor="t">
            <a:noAutofit/>
          </a:bodyPr>
          <a:lstStyle/>
          <a:p>
            <a:pPr algn="l">
              <a:lnSpc>
                <a:spcPts val="1581"/>
              </a:lnSpc>
              <a:spcBef>
                <a:spcPts val="0"/>
              </a:spcBef>
              <a:spcAft>
                <a:spcPts val="0"/>
              </a:spcAft>
              <a:defRPr sz="1400">
                <a:latin typeface="Arial"/>
              </a:defRPr>
            </a:pPr>
            <a:r>
              <a:rPr sz="1400" b="0">
                <a:solidFill>
                  <a:srgbClr val="5E6B65"/>
                </a:solidFill>
                <a:latin typeface="Arial"/>
              </a:rPr>
              <a:t>Keith Gill’s option trades</a:t>
            </a:r>
          </a:p>
        </p:txBody>
      </p:sp>
      <p:sp>
        <p:nvSpPr>
          <p:cNvPr id="25" name="conclusion mark"/>
          <p:cNvSpPr/>
          <p:nvPr/>
        </p:nvSpPr>
        <p:spPr>
          <a:xfrm>
            <a:off x="658368" y="5833872"/>
            <a:ext cx="50292" cy="365760"/>
          </a:xfrm>
          <a:prstGeom prst="rect">
            <a:avLst/>
          </a:prstGeom>
          <a:solidFill>
            <a:srgbClr val="2F73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akeaway"/>
          <p:cNvSpPr txBox="1"/>
          <p:nvPr/>
        </p:nvSpPr>
        <p:spPr>
          <a:xfrm>
            <a:off x="877824" y="5806440"/>
            <a:ext cx="10561320" cy="493776"/>
          </a:xfrm>
          <a:prstGeom prst="rect">
            <a:avLst/>
          </a:prstGeom>
          <a:noFill/>
        </p:spPr>
        <p:txBody>
          <a:bodyPr wrap="square" lIns="0" rIns="0" tIns="14477" bIns="0" anchor="t">
            <a:noAutofit/>
          </a:bodyPr>
          <a:lstStyle/>
          <a:p>
            <a:pPr algn="l">
              <a:lnSpc>
                <a:spcPts val="2090"/>
              </a:lnSpc>
              <a:spcBef>
                <a:spcPts val="0"/>
              </a:spcBef>
              <a:spcAft>
                <a:spcPts val="0"/>
              </a:spcAft>
              <a:defRPr sz="1900">
                <a:latin typeface="Arial"/>
              </a:defRPr>
            </a:pPr>
            <a:r>
              <a:rPr sz="1900" b="1">
                <a:solidFill>
                  <a:srgbClr val="17302B"/>
                </a:solidFill>
                <a:latin typeface="Arial"/>
              </a:rPr>
              <a:t>Free time + easy access + highly visible success stories formed a retail army.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Liu Yinghan</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06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Q1 / THE SQUEEZE MECHANISM</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Rising prices triggered even more buying</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Retail investors, short sellers and option sellers reinforced the same upward spiral.</a:t>
            </a:r>
          </a:p>
        </p:txBody>
      </p:sp>
      <p:sp>
        <p:nvSpPr>
          <p:cNvPr id="9" name="eyebrow"/>
          <p:cNvSpPr txBox="1"/>
          <p:nvPr/>
        </p:nvSpPr>
        <p:spPr>
          <a:xfrm>
            <a:off x="713232" y="2267712"/>
            <a:ext cx="29260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THE FIRST PUSH</a:t>
            </a:r>
          </a:p>
        </p:txBody>
      </p:sp>
      <p:sp>
        <p:nvSpPr>
          <p:cNvPr id="10" name="retail input"/>
          <p:cNvSpPr txBox="1"/>
          <p:nvPr/>
        </p:nvSpPr>
        <p:spPr>
          <a:xfrm>
            <a:off x="713232" y="2651760"/>
            <a:ext cx="2926080" cy="603504"/>
          </a:xfrm>
          <a:prstGeom prst="rect">
            <a:avLst/>
          </a:prstGeom>
          <a:noFill/>
        </p:spPr>
        <p:txBody>
          <a:bodyPr wrap="square" lIns="0" rIns="0" tIns="19050" bIns="0" anchor="t">
            <a:noAutofit/>
          </a:bodyPr>
          <a:lstStyle/>
          <a:p>
            <a:pPr algn="l">
              <a:lnSpc>
                <a:spcPts val="2824"/>
              </a:lnSpc>
              <a:spcBef>
                <a:spcPts val="0"/>
              </a:spcBef>
              <a:spcAft>
                <a:spcPts val="0"/>
              </a:spcAft>
              <a:defRPr sz="2500">
                <a:latin typeface="Arial"/>
              </a:defRPr>
            </a:pPr>
            <a:r>
              <a:rPr sz="2500" b="1">
                <a:solidFill>
                  <a:srgbClr val="17302B"/>
                </a:solidFill>
                <a:latin typeface="Arial"/>
              </a:rPr>
              <a:t>Retail buy-in</a:t>
            </a:r>
          </a:p>
        </p:txBody>
      </p:sp>
      <p:sp>
        <p:nvSpPr>
          <p:cNvPr id="11" name="retail input explanation"/>
          <p:cNvSpPr txBox="1"/>
          <p:nvPr/>
        </p:nvSpPr>
        <p:spPr>
          <a:xfrm>
            <a:off x="713232" y="3346704"/>
            <a:ext cx="2560320" cy="56692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Buy GME shares</a:t>
            </a:r>
          </a:p>
          <a:p>
            <a:pPr algn="l">
              <a:lnSpc>
                <a:spcPts val="2033"/>
              </a:lnSpc>
              <a:spcBef>
                <a:spcPts val="0"/>
              </a:spcBef>
              <a:spcAft>
                <a:spcPts val="0"/>
              </a:spcAft>
              <a:defRPr sz="1800">
                <a:latin typeface="Arial"/>
              </a:defRPr>
            </a:pPr>
            <a:r>
              <a:rPr sz="1800" b="0">
                <a:solidFill>
                  <a:srgbClr val="5E6B65"/>
                </a:solidFill>
                <a:latin typeface="Arial"/>
              </a:rPr>
              <a:t>and options</a:t>
            </a:r>
          </a:p>
        </p:txBody>
      </p:sp>
      <p:sp>
        <p:nvSpPr>
          <p:cNvPr id="12" name="WSB new subscriber stat"/>
          <p:cNvSpPr txBox="1"/>
          <p:nvPr/>
        </p:nvSpPr>
        <p:spPr>
          <a:xfrm>
            <a:off x="713232" y="4453128"/>
            <a:ext cx="2606040" cy="530352"/>
          </a:xfrm>
          <a:prstGeom prst="rect">
            <a:avLst/>
          </a:prstGeom>
          <a:noFill/>
        </p:spPr>
        <p:txBody>
          <a:bodyPr wrap="square" lIns="0" rIns="0" tIns="20574" bIns="0" anchor="t">
            <a:noAutofit/>
          </a:bodyPr>
          <a:lstStyle/>
          <a:p>
            <a:pPr algn="l">
              <a:lnSpc>
                <a:spcPts val="3051"/>
              </a:lnSpc>
              <a:spcBef>
                <a:spcPts val="0"/>
              </a:spcBef>
              <a:spcAft>
                <a:spcPts val="0"/>
              </a:spcAft>
              <a:defRPr sz="2700">
                <a:latin typeface="Arial"/>
              </a:defRPr>
            </a:pPr>
            <a:r>
              <a:rPr sz="2700" b="1">
                <a:solidFill>
                  <a:srgbClr val="2F7358"/>
                </a:solidFill>
                <a:latin typeface="Arial"/>
              </a:rPr>
              <a:t>+1.1 million</a:t>
            </a:r>
          </a:p>
        </p:txBody>
      </p:sp>
      <p:sp>
        <p:nvSpPr>
          <p:cNvPr id="13" name="WSB subscriber basis"/>
          <p:cNvSpPr txBox="1"/>
          <p:nvPr/>
        </p:nvSpPr>
        <p:spPr>
          <a:xfrm>
            <a:off x="713232" y="4992624"/>
            <a:ext cx="2651760" cy="576072"/>
          </a:xfrm>
          <a:prstGeom prst="rect">
            <a:avLst/>
          </a:prstGeom>
          <a:noFill/>
        </p:spPr>
        <p:txBody>
          <a:bodyPr wrap="square" lIns="0" rIns="0" tIns="11811" bIns="0" anchor="t">
            <a:noAutofit/>
          </a:bodyPr>
          <a:lstStyle/>
          <a:p>
            <a:pPr algn="l">
              <a:lnSpc>
                <a:spcPts val="1751"/>
              </a:lnSpc>
              <a:spcBef>
                <a:spcPts val="0"/>
              </a:spcBef>
              <a:spcAft>
                <a:spcPts val="0"/>
              </a:spcAft>
              <a:defRPr sz="1550">
                <a:latin typeface="Arial"/>
              </a:defRPr>
            </a:pPr>
            <a:r>
              <a:rPr sz="1550" b="0">
                <a:solidFill>
                  <a:srgbClr val="5E6B65"/>
                </a:solidFill>
                <a:latin typeface="Arial"/>
              </a:rPr>
              <a:t>new WSB subscribers in a</a:t>
            </a:r>
          </a:p>
          <a:p>
            <a:pPr algn="l">
              <a:lnSpc>
                <a:spcPts val="1751"/>
              </a:lnSpc>
              <a:spcBef>
                <a:spcPts val="0"/>
              </a:spcBef>
              <a:spcAft>
                <a:spcPts val="0"/>
              </a:spcAft>
              <a:defRPr sz="1550">
                <a:latin typeface="Arial"/>
              </a:defRPr>
            </a:pPr>
            <a:r>
              <a:rPr sz="1550" b="0">
                <a:solidFill>
                  <a:srgbClr val="5E6B65"/>
                </a:solidFill>
                <a:latin typeface="Arial"/>
              </a:rPr>
              <a:t>single day</a:t>
            </a:r>
          </a:p>
        </p:txBody>
      </p:sp>
      <p:sp>
        <p:nvSpPr>
          <p:cNvPr id="14" name="circle"/>
          <p:cNvSpPr/>
          <p:nvPr/>
        </p:nvSpPr>
        <p:spPr>
          <a:xfrm>
            <a:off x="3666744" y="2898648"/>
            <a:ext cx="1728216" cy="1728216"/>
          </a:xfrm>
          <a:prstGeom prst="ellipse">
            <a:avLst/>
          </a:prstGeom>
          <a:solidFill>
            <a:srgbClr val="EA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price feedback hub"/>
          <p:cNvSpPr txBox="1"/>
          <p:nvPr/>
        </p:nvSpPr>
        <p:spPr>
          <a:xfrm>
            <a:off x="3785615" y="3319272"/>
            <a:ext cx="1490472" cy="740664"/>
          </a:xfrm>
          <a:prstGeom prst="rect">
            <a:avLst/>
          </a:prstGeom>
          <a:noFill/>
        </p:spPr>
        <p:txBody>
          <a:bodyPr wrap="square" lIns="0" rIns="0" tIns="14477" bIns="0" anchor="t">
            <a:noAutofit/>
          </a:bodyPr>
          <a:lstStyle/>
          <a:p>
            <a:pPr algn="ctr">
              <a:lnSpc>
                <a:spcPts val="2147"/>
              </a:lnSpc>
              <a:spcBef>
                <a:spcPts val="0"/>
              </a:spcBef>
              <a:spcAft>
                <a:spcPts val="0"/>
              </a:spcAft>
              <a:defRPr sz="1900">
                <a:latin typeface="Arial"/>
              </a:defRPr>
            </a:pPr>
            <a:r>
              <a:rPr sz="1900" b="1">
                <a:solidFill>
                  <a:srgbClr val="2F7358"/>
                </a:solidFill>
                <a:latin typeface="Arial"/>
              </a:rPr>
              <a:t>GME</a:t>
            </a:r>
          </a:p>
          <a:p>
            <a:pPr algn="ctr">
              <a:lnSpc>
                <a:spcPts val="2147"/>
              </a:lnSpc>
              <a:spcBef>
                <a:spcPts val="0"/>
              </a:spcBef>
              <a:spcAft>
                <a:spcPts val="0"/>
              </a:spcAft>
              <a:defRPr sz="1900">
                <a:latin typeface="Arial"/>
              </a:defRPr>
            </a:pPr>
            <a:r>
              <a:rPr sz="1900" b="1">
                <a:solidFill>
                  <a:srgbClr val="2F7358"/>
                </a:solidFill>
                <a:latin typeface="Arial"/>
              </a:rPr>
              <a:t>price rises</a:t>
            </a:r>
          </a:p>
        </p:txBody>
      </p:sp>
      <p:cxnSp>
        <p:nvCxnSpPr>
          <p:cNvPr id="16" name="retail input arrow"/>
          <p:cNvCxnSpPr/>
          <p:nvPr/>
        </p:nvCxnSpPr>
        <p:spPr>
          <a:xfrm>
            <a:off x="3072384" y="3767328"/>
            <a:ext cx="493776" cy="0"/>
          </a:xfrm>
          <a:prstGeom prst="line">
            <a:avLst/>
          </a:prstGeom>
          <a:ln w="20320">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7" name="short covering branch"/>
          <p:cNvCxnSpPr/>
          <p:nvPr/>
        </p:nvCxnSpPr>
        <p:spPr>
          <a:xfrm>
            <a:off x="5468112" y="3474720"/>
            <a:ext cx="292608" cy="0"/>
          </a:xfrm>
          <a:prstGeom prst="line">
            <a:avLst/>
          </a:prstGeom>
          <a:ln w="19050">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18" name="short covering branch"/>
          <p:cNvCxnSpPr/>
          <p:nvPr/>
        </p:nvCxnSpPr>
        <p:spPr>
          <a:xfrm flipV="1">
            <a:off x="5760720" y="2715768"/>
            <a:ext cx="0" cy="758952"/>
          </a:xfrm>
          <a:prstGeom prst="line">
            <a:avLst/>
          </a:prstGeom>
          <a:ln w="19050">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19" name="short covering branch"/>
          <p:cNvCxnSpPr/>
          <p:nvPr/>
        </p:nvCxnSpPr>
        <p:spPr>
          <a:xfrm>
            <a:off x="5760720" y="2715768"/>
            <a:ext cx="365760" cy="0"/>
          </a:xfrm>
          <a:prstGeom prst="line">
            <a:avLst/>
          </a:prstGeom>
          <a:ln w="19050">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0" name="option hedge branch"/>
          <p:cNvCxnSpPr/>
          <p:nvPr/>
        </p:nvCxnSpPr>
        <p:spPr>
          <a:xfrm>
            <a:off x="5468112" y="4050791"/>
            <a:ext cx="292608" cy="0"/>
          </a:xfrm>
          <a:prstGeom prst="line">
            <a:avLst/>
          </a:prstGeom>
          <a:ln w="19050">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21" name="option hedge branch"/>
          <p:cNvCxnSpPr/>
          <p:nvPr/>
        </p:nvCxnSpPr>
        <p:spPr>
          <a:xfrm>
            <a:off x="5760720" y="4050791"/>
            <a:ext cx="0" cy="438913"/>
          </a:xfrm>
          <a:prstGeom prst="line">
            <a:avLst/>
          </a:prstGeom>
          <a:ln w="19050">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22" name="option hedge branch"/>
          <p:cNvCxnSpPr/>
          <p:nvPr/>
        </p:nvCxnSpPr>
        <p:spPr>
          <a:xfrm>
            <a:off x="5760720" y="4489704"/>
            <a:ext cx="365760" cy="0"/>
          </a:xfrm>
          <a:prstGeom prst="line">
            <a:avLst/>
          </a:prstGeom>
          <a:ln w="19050">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eyebrow"/>
          <p:cNvSpPr txBox="1"/>
          <p:nvPr/>
        </p:nvSpPr>
        <p:spPr>
          <a:xfrm>
            <a:off x="6309360" y="2249424"/>
            <a:ext cx="2075688"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FORCED BUYING</a:t>
            </a:r>
          </a:p>
        </p:txBody>
      </p:sp>
      <p:sp>
        <p:nvSpPr>
          <p:cNvPr id="24" name="forced short covering"/>
          <p:cNvSpPr txBox="1"/>
          <p:nvPr/>
        </p:nvSpPr>
        <p:spPr>
          <a:xfrm>
            <a:off x="6309360" y="2615184"/>
            <a:ext cx="1984248" cy="640080"/>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Shorts cover</a:t>
            </a:r>
          </a:p>
        </p:txBody>
      </p:sp>
      <p:sp>
        <p:nvSpPr>
          <p:cNvPr id="25" name="short covering explanation"/>
          <p:cNvSpPr txBox="1"/>
          <p:nvPr/>
        </p:nvSpPr>
        <p:spPr>
          <a:xfrm>
            <a:off x="6309360" y="3246120"/>
            <a:ext cx="1984248" cy="822960"/>
          </a:xfrm>
          <a:prstGeom prst="rect">
            <a:avLst/>
          </a:prstGeom>
          <a:noFill/>
        </p:spPr>
        <p:txBody>
          <a:bodyPr wrap="square" lIns="0" rIns="0" tIns="12573" bIns="0" anchor="t">
            <a:noAutofit/>
          </a:bodyPr>
          <a:lstStyle/>
          <a:p>
            <a:pPr algn="l">
              <a:lnSpc>
                <a:spcPts val="1864"/>
              </a:lnSpc>
              <a:spcBef>
                <a:spcPts val="0"/>
              </a:spcBef>
              <a:spcAft>
                <a:spcPts val="0"/>
              </a:spcAft>
              <a:defRPr sz="1650">
                <a:latin typeface="Arial"/>
              </a:defRPr>
            </a:pPr>
            <a:r>
              <a:rPr sz="1650" b="0">
                <a:solidFill>
                  <a:srgbClr val="5E6B65"/>
                </a:solidFill>
                <a:latin typeface="Arial"/>
              </a:rPr>
              <a:t>Hedge funds buy</a:t>
            </a:r>
          </a:p>
          <a:p>
            <a:pPr algn="l">
              <a:lnSpc>
                <a:spcPts val="1864"/>
              </a:lnSpc>
              <a:spcBef>
                <a:spcPts val="0"/>
              </a:spcBef>
              <a:spcAft>
                <a:spcPts val="0"/>
              </a:spcAft>
              <a:defRPr sz="1650">
                <a:latin typeface="Arial"/>
              </a:defRPr>
            </a:pPr>
            <a:r>
              <a:rPr sz="1650" b="0">
                <a:solidFill>
                  <a:srgbClr val="5E6B65"/>
                </a:solidFill>
                <a:latin typeface="Arial"/>
              </a:rPr>
              <a:t>shares back to cover</a:t>
            </a:r>
          </a:p>
          <a:p>
            <a:pPr algn="l">
              <a:lnSpc>
                <a:spcPts val="1864"/>
              </a:lnSpc>
              <a:spcBef>
                <a:spcPts val="0"/>
              </a:spcBef>
              <a:spcAft>
                <a:spcPts val="0"/>
              </a:spcAft>
              <a:defRPr sz="1650">
                <a:latin typeface="Arial"/>
              </a:defRPr>
            </a:pPr>
            <a:r>
              <a:rPr sz="1650" b="0">
                <a:solidFill>
                  <a:srgbClr val="5E6B65"/>
                </a:solidFill>
                <a:latin typeface="Arial"/>
              </a:rPr>
              <a:t>losses.</a:t>
            </a:r>
          </a:p>
        </p:txBody>
      </p:sp>
      <p:sp>
        <p:nvSpPr>
          <p:cNvPr id="26" name="option hedging"/>
          <p:cNvSpPr txBox="1"/>
          <p:nvPr/>
        </p:nvSpPr>
        <p:spPr>
          <a:xfrm>
            <a:off x="6309360" y="4215384"/>
            <a:ext cx="1984248" cy="630936"/>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Option sellers</a:t>
            </a:r>
          </a:p>
          <a:p>
            <a:pPr algn="l">
              <a:lnSpc>
                <a:spcPts val="2372"/>
              </a:lnSpc>
              <a:spcBef>
                <a:spcPts val="0"/>
              </a:spcBef>
              <a:spcAft>
                <a:spcPts val="0"/>
              </a:spcAft>
              <a:defRPr sz="2100">
                <a:latin typeface="Arial"/>
              </a:defRPr>
            </a:pPr>
            <a:r>
              <a:rPr sz="2100" b="1">
                <a:solidFill>
                  <a:srgbClr val="17302B"/>
                </a:solidFill>
                <a:latin typeface="Arial"/>
              </a:rPr>
              <a:t>hedge</a:t>
            </a:r>
          </a:p>
        </p:txBody>
      </p:sp>
      <p:sp>
        <p:nvSpPr>
          <p:cNvPr id="27" name="option hedge explanation"/>
          <p:cNvSpPr txBox="1"/>
          <p:nvPr/>
        </p:nvSpPr>
        <p:spPr>
          <a:xfrm>
            <a:off x="6309360" y="4828032"/>
            <a:ext cx="1984248" cy="685800"/>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Market makers buy</a:t>
            </a:r>
          </a:p>
          <a:p>
            <a:pPr algn="l">
              <a:lnSpc>
                <a:spcPts val="1807"/>
              </a:lnSpc>
              <a:spcBef>
                <a:spcPts val="0"/>
              </a:spcBef>
              <a:spcAft>
                <a:spcPts val="0"/>
              </a:spcAft>
              <a:defRPr sz="1600">
                <a:latin typeface="Arial"/>
              </a:defRPr>
            </a:pPr>
            <a:r>
              <a:rPr sz="1600" b="0">
                <a:solidFill>
                  <a:srgbClr val="5E6B65"/>
                </a:solidFill>
                <a:latin typeface="Arial"/>
              </a:rPr>
              <a:t>shares to manage</a:t>
            </a:r>
          </a:p>
          <a:p>
            <a:pPr algn="l">
              <a:lnSpc>
                <a:spcPts val="1807"/>
              </a:lnSpc>
              <a:spcBef>
                <a:spcPts val="0"/>
              </a:spcBef>
              <a:spcAft>
                <a:spcPts val="0"/>
              </a:spcAft>
              <a:defRPr sz="1600">
                <a:latin typeface="Arial"/>
              </a:defRPr>
            </a:pPr>
            <a:r>
              <a:rPr sz="1600" b="0">
                <a:solidFill>
                  <a:srgbClr val="5E6B65"/>
                </a:solidFill>
                <a:latin typeface="Arial"/>
              </a:rPr>
              <a:t>call-option risk.</a:t>
            </a:r>
          </a:p>
        </p:txBody>
      </p:sp>
      <p:cxnSp>
        <p:nvCxnSpPr>
          <p:cNvPr id="28" name="mandatory buying feedback"/>
          <p:cNvCxnSpPr/>
          <p:nvPr/>
        </p:nvCxnSpPr>
        <p:spPr>
          <a:xfrm flipH="1">
            <a:off x="4544568" y="5641848"/>
            <a:ext cx="1837944" cy="0"/>
          </a:xfrm>
          <a:prstGeom prst="line">
            <a:avLst/>
          </a:prstGeom>
          <a:ln w="17780">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29" name="mandatory buying feedback"/>
          <p:cNvCxnSpPr/>
          <p:nvPr/>
        </p:nvCxnSpPr>
        <p:spPr>
          <a:xfrm flipV="1">
            <a:off x="4544568" y="4745736"/>
            <a:ext cx="0" cy="896112"/>
          </a:xfrm>
          <a:prstGeom prst="line">
            <a:avLst/>
          </a:prstGeom>
          <a:ln w="17780">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0" name="feedback arrow label"/>
          <p:cNvSpPr txBox="1"/>
          <p:nvPr/>
        </p:nvSpPr>
        <p:spPr>
          <a:xfrm>
            <a:off x="4700016" y="5779008"/>
            <a:ext cx="3401568" cy="283464"/>
          </a:xfrm>
          <a:prstGeom prst="rect">
            <a:avLst/>
          </a:prstGeom>
          <a:noFill/>
        </p:spPr>
        <p:txBody>
          <a:bodyPr wrap="square" lIns="0" rIns="0" tIns="10668" bIns="0" anchor="t">
            <a:noAutofit/>
          </a:bodyPr>
          <a:lstStyle/>
          <a:p>
            <a:pPr algn="l">
              <a:lnSpc>
                <a:spcPts val="1581"/>
              </a:lnSpc>
              <a:spcBef>
                <a:spcPts val="0"/>
              </a:spcBef>
              <a:spcAft>
                <a:spcPts val="0"/>
              </a:spcAft>
              <a:defRPr sz="1400">
                <a:latin typeface="Arial"/>
              </a:defRPr>
            </a:pPr>
            <a:r>
              <a:rPr sz="1400" b="1">
                <a:solidFill>
                  <a:srgbClr val="2F7358"/>
                </a:solidFill>
                <a:latin typeface="Arial"/>
              </a:rPr>
              <a:t>More mandatory buying</a:t>
            </a:r>
          </a:p>
        </p:txBody>
      </p:sp>
      <p:sp>
        <p:nvSpPr>
          <p:cNvPr id="31" name="squeeze outcome panel"/>
          <p:cNvSpPr/>
          <p:nvPr/>
        </p:nvSpPr>
        <p:spPr>
          <a:xfrm>
            <a:off x="8860536" y="2231136"/>
            <a:ext cx="2615184" cy="3813048"/>
          </a:xfrm>
          <a:prstGeom prst="rect">
            <a:avLst/>
          </a:prstGeom>
          <a:solidFill>
            <a:srgbClr val="132F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eyebrow"/>
          <p:cNvSpPr txBox="1"/>
          <p:nvPr/>
        </p:nvSpPr>
        <p:spPr>
          <a:xfrm>
            <a:off x="9089136" y="2459736"/>
            <a:ext cx="21945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AFC6BA"/>
                </a:solidFill>
                <a:latin typeface="Arial"/>
              </a:rPr>
              <a:t>THE OUTCOME</a:t>
            </a:r>
          </a:p>
        </p:txBody>
      </p:sp>
      <p:sp>
        <p:nvSpPr>
          <p:cNvPr id="33" name="price surge stat"/>
          <p:cNvSpPr txBox="1"/>
          <p:nvPr/>
        </p:nvSpPr>
        <p:spPr>
          <a:xfrm>
            <a:off x="9089136" y="2852928"/>
            <a:ext cx="2194560" cy="768096"/>
          </a:xfrm>
          <a:prstGeom prst="rect">
            <a:avLst/>
          </a:prstGeom>
          <a:noFill/>
        </p:spPr>
        <p:txBody>
          <a:bodyPr wrap="square" lIns="0" rIns="0" tIns="32766" bIns="0" anchor="t">
            <a:noAutofit/>
          </a:bodyPr>
          <a:lstStyle/>
          <a:p>
            <a:pPr algn="l">
              <a:lnSpc>
                <a:spcPts val="4859"/>
              </a:lnSpc>
              <a:spcBef>
                <a:spcPts val="0"/>
              </a:spcBef>
              <a:spcAft>
                <a:spcPts val="0"/>
              </a:spcAft>
              <a:defRPr sz="4300">
                <a:latin typeface="Arial"/>
              </a:defRPr>
            </a:pPr>
            <a:r>
              <a:rPr sz="4300" b="1">
                <a:solidFill>
                  <a:srgbClr val="E6C792"/>
                </a:solidFill>
                <a:latin typeface="Arial"/>
              </a:rPr>
              <a:t>707.6%</a:t>
            </a:r>
          </a:p>
        </p:txBody>
      </p:sp>
      <p:sp>
        <p:nvSpPr>
          <p:cNvPr id="34" name="price surge date"/>
          <p:cNvSpPr txBox="1"/>
          <p:nvPr/>
        </p:nvSpPr>
        <p:spPr>
          <a:xfrm>
            <a:off x="9089136" y="3639312"/>
            <a:ext cx="2148840" cy="585216"/>
          </a:xfrm>
          <a:prstGeom prst="rect">
            <a:avLst/>
          </a:prstGeom>
          <a:noFill/>
        </p:spPr>
        <p:txBody>
          <a:bodyPr wrap="square" lIns="0" rIns="0" tIns="11811" bIns="0" anchor="t">
            <a:noAutofit/>
          </a:bodyPr>
          <a:lstStyle/>
          <a:p>
            <a:pPr algn="l">
              <a:lnSpc>
                <a:spcPts val="1751"/>
              </a:lnSpc>
              <a:spcBef>
                <a:spcPts val="0"/>
              </a:spcBef>
              <a:spcAft>
                <a:spcPts val="0"/>
              </a:spcAft>
              <a:defRPr sz="1550">
                <a:latin typeface="Arial"/>
              </a:defRPr>
            </a:pPr>
            <a:r>
              <a:rPr sz="1550" b="0">
                <a:solidFill>
                  <a:srgbClr val="D8E5DD"/>
                </a:solidFill>
                <a:latin typeface="Arial"/>
              </a:rPr>
              <a:t>GME gain</a:t>
            </a:r>
          </a:p>
          <a:p>
            <a:pPr algn="l">
              <a:lnSpc>
                <a:spcPts val="1751"/>
              </a:lnSpc>
              <a:spcBef>
                <a:spcPts val="0"/>
              </a:spcBef>
              <a:spcAft>
                <a:spcPts val="0"/>
              </a:spcAft>
              <a:defRPr sz="1550">
                <a:latin typeface="Arial"/>
              </a:defRPr>
            </a:pPr>
            <a:r>
              <a:rPr sz="1550" b="0">
                <a:solidFill>
                  <a:srgbClr val="D8E5DD"/>
                </a:solidFill>
                <a:latin typeface="Arial"/>
              </a:rPr>
              <a:t>Jan 22–27, 2021</a:t>
            </a:r>
          </a:p>
        </p:txBody>
      </p:sp>
      <p:cxnSp>
        <p:nvCxnSpPr>
          <p:cNvPr id="35" name="connector"/>
          <p:cNvCxnSpPr/>
          <p:nvPr/>
        </p:nvCxnSpPr>
        <p:spPr>
          <a:xfrm>
            <a:off x="9089136" y="4462272"/>
            <a:ext cx="2157984" cy="0"/>
          </a:xfrm>
          <a:prstGeom prst="line">
            <a:avLst/>
          </a:prstGeom>
          <a:ln w="8890">
            <a:solidFill>
              <a:srgbClr val="416356"/>
            </a:solidFill>
          </a:ln>
          <a:effectLst/>
        </p:spPr>
        <p:style>
          <a:lnRef idx="2">
            <a:schemeClr val="accent1"/>
          </a:lnRef>
          <a:fillRef idx="0">
            <a:schemeClr val="accent1"/>
          </a:fillRef>
          <a:effectRef idx="0">
            <a:schemeClr val="accent1"/>
          </a:effectRef>
          <a:fontRef idx="minor">
            <a:schemeClr val="tx1"/>
          </a:fontRef>
        </p:style>
      </p:cxnSp>
      <p:sp>
        <p:nvSpPr>
          <p:cNvPr id="36" name="Melvin loss stat"/>
          <p:cNvSpPr txBox="1"/>
          <p:nvPr/>
        </p:nvSpPr>
        <p:spPr>
          <a:xfrm>
            <a:off x="9089136" y="4690872"/>
            <a:ext cx="2103120" cy="658368"/>
          </a:xfrm>
          <a:prstGeom prst="rect">
            <a:avLst/>
          </a:prstGeom>
          <a:noFill/>
        </p:spPr>
        <p:txBody>
          <a:bodyPr wrap="square" lIns="0" rIns="0" tIns="26670" bIns="0" anchor="t">
            <a:noAutofit/>
          </a:bodyPr>
          <a:lstStyle/>
          <a:p>
            <a:pPr algn="l">
              <a:lnSpc>
                <a:spcPts val="3954"/>
              </a:lnSpc>
              <a:spcBef>
                <a:spcPts val="0"/>
              </a:spcBef>
              <a:spcAft>
                <a:spcPts val="0"/>
              </a:spcAft>
              <a:defRPr sz="3500">
                <a:latin typeface="Arial"/>
              </a:defRPr>
            </a:pPr>
            <a:r>
              <a:rPr sz="3500" b="1">
                <a:solidFill>
                  <a:srgbClr val="F0B2A7"/>
                </a:solidFill>
                <a:latin typeface="Arial"/>
              </a:rPr>
              <a:t>−54.4%</a:t>
            </a:r>
          </a:p>
        </p:txBody>
      </p:sp>
      <p:sp>
        <p:nvSpPr>
          <p:cNvPr id="37" name="Melvin loss basis"/>
          <p:cNvSpPr txBox="1"/>
          <p:nvPr/>
        </p:nvSpPr>
        <p:spPr>
          <a:xfrm>
            <a:off x="9089136" y="5394960"/>
            <a:ext cx="2139696" cy="530352"/>
          </a:xfrm>
          <a:prstGeom prst="rect">
            <a:avLst/>
          </a:prstGeom>
          <a:noFill/>
        </p:spPr>
        <p:txBody>
          <a:bodyPr wrap="square" lIns="0" rIns="0" tIns="11049" bIns="0" anchor="t">
            <a:noAutofit/>
          </a:bodyPr>
          <a:lstStyle/>
          <a:p>
            <a:pPr algn="l">
              <a:lnSpc>
                <a:spcPts val="1638"/>
              </a:lnSpc>
              <a:spcBef>
                <a:spcPts val="0"/>
              </a:spcBef>
              <a:spcAft>
                <a:spcPts val="0"/>
              </a:spcAft>
              <a:defRPr sz="1450">
                <a:latin typeface="Arial"/>
              </a:defRPr>
            </a:pPr>
            <a:r>
              <a:rPr sz="1450" b="0">
                <a:solidFill>
                  <a:srgbClr val="D8E5DD"/>
                </a:solidFill>
                <a:latin typeface="Arial"/>
              </a:rPr>
              <a:t>Melvin’s January loss;</a:t>
            </a:r>
          </a:p>
          <a:p>
            <a:pPr algn="l">
              <a:lnSpc>
                <a:spcPts val="1638"/>
              </a:lnSpc>
              <a:spcBef>
                <a:spcPts val="0"/>
              </a:spcBef>
              <a:spcAft>
                <a:spcPts val="0"/>
              </a:spcAft>
              <a:defRPr sz="1450">
                <a:latin typeface="Arial"/>
              </a:defRPr>
            </a:pPr>
            <a:r>
              <a:rPr sz="1450" b="0">
                <a:solidFill>
                  <a:srgbClr val="D8E5DD"/>
                </a:solidFill>
                <a:latin typeface="Arial"/>
              </a:rPr>
              <a:t>$2.75bn bailout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Cao Zihan</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07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Q2 / THE RISK</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Excessive short selling can amplify a rally</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Crowded short positions create a feedback mechanism—and large losses.</a:t>
            </a:r>
          </a:p>
        </p:txBody>
      </p:sp>
      <p:sp>
        <p:nvSpPr>
          <p:cNvPr id="9" name="eyebrow"/>
          <p:cNvSpPr txBox="1"/>
          <p:nvPr/>
        </p:nvSpPr>
        <p:spPr>
          <a:xfrm>
            <a:off x="713232" y="2258568"/>
            <a:ext cx="31089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GME SHORT INTEREST</a:t>
            </a:r>
          </a:p>
        </p:txBody>
      </p:sp>
      <p:sp>
        <p:nvSpPr>
          <p:cNvPr id="10" name="excessive short interest"/>
          <p:cNvSpPr txBox="1"/>
          <p:nvPr/>
        </p:nvSpPr>
        <p:spPr>
          <a:xfrm>
            <a:off x="658368" y="2688336"/>
            <a:ext cx="3419856" cy="850392"/>
          </a:xfrm>
          <a:prstGeom prst="rect">
            <a:avLst/>
          </a:prstGeom>
          <a:noFill/>
        </p:spPr>
        <p:txBody>
          <a:bodyPr wrap="square" lIns="0" rIns="0" tIns="39624" bIns="0" anchor="t">
            <a:noAutofit/>
          </a:bodyPr>
          <a:lstStyle/>
          <a:p>
            <a:pPr algn="l">
              <a:lnSpc>
                <a:spcPts val="5875"/>
              </a:lnSpc>
              <a:spcBef>
                <a:spcPts val="0"/>
              </a:spcBef>
              <a:spcAft>
                <a:spcPts val="0"/>
              </a:spcAft>
              <a:defRPr sz="5200">
                <a:latin typeface="Arial"/>
              </a:defRPr>
            </a:pPr>
            <a:r>
              <a:rPr sz="5200" b="1">
                <a:solidFill>
                  <a:srgbClr val="855E26"/>
                </a:solidFill>
                <a:latin typeface="Arial"/>
              </a:rPr>
              <a:t>102.1%</a:t>
            </a:r>
          </a:p>
        </p:txBody>
      </p:sp>
      <p:sp>
        <p:nvSpPr>
          <p:cNvPr id="11" name="short interest basis"/>
          <p:cNvSpPr txBox="1"/>
          <p:nvPr/>
        </p:nvSpPr>
        <p:spPr>
          <a:xfrm>
            <a:off x="713232" y="3621024"/>
            <a:ext cx="3154680" cy="539496"/>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of public float</a:t>
            </a:r>
          </a:p>
          <a:p>
            <a:pPr algn="l">
              <a:lnSpc>
                <a:spcPts val="1920"/>
              </a:lnSpc>
              <a:spcBef>
                <a:spcPts val="0"/>
              </a:spcBef>
              <a:spcAft>
                <a:spcPts val="0"/>
              </a:spcAft>
              <a:defRPr sz="1700">
                <a:latin typeface="Arial"/>
              </a:defRPr>
            </a:pPr>
            <a:r>
              <a:rPr sz="1700" b="0">
                <a:solidFill>
                  <a:srgbClr val="5E6B65"/>
                </a:solidFill>
                <a:latin typeface="Arial"/>
              </a:rPr>
              <a:t>15 January 2021</a:t>
            </a:r>
          </a:p>
        </p:txBody>
      </p:sp>
      <p:cxnSp>
        <p:nvCxnSpPr>
          <p:cNvPr id="12" name="connector"/>
          <p:cNvCxnSpPr/>
          <p:nvPr/>
        </p:nvCxnSpPr>
        <p:spPr>
          <a:xfrm>
            <a:off x="713232" y="4517136"/>
            <a:ext cx="2980944" cy="0"/>
          </a:xfrm>
          <a:prstGeom prst="line">
            <a:avLst/>
          </a:prstGeom>
          <a:ln w="1016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13" name="eyebrow"/>
          <p:cNvSpPr txBox="1"/>
          <p:nvPr/>
        </p:nvSpPr>
        <p:spPr>
          <a:xfrm>
            <a:off x="713232" y="4718304"/>
            <a:ext cx="320040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SHORT INTEREST OVER TIME</a:t>
            </a:r>
          </a:p>
        </p:txBody>
      </p:sp>
      <p:sp>
        <p:nvSpPr>
          <p:cNvPr id="14" name="historical short interest"/>
          <p:cNvSpPr txBox="1"/>
          <p:nvPr/>
        </p:nvSpPr>
        <p:spPr>
          <a:xfrm>
            <a:off x="713232" y="5084064"/>
            <a:ext cx="1051560" cy="38404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1">
                <a:solidFill>
                  <a:srgbClr val="855E26"/>
                </a:solidFill>
                <a:latin typeface="Arial"/>
              </a:rPr>
              <a:t>92.5%</a:t>
            </a:r>
          </a:p>
        </p:txBody>
      </p:sp>
      <p:sp>
        <p:nvSpPr>
          <p:cNvPr id="15" name="short interest date"/>
          <p:cNvSpPr txBox="1"/>
          <p:nvPr/>
        </p:nvSpPr>
        <p:spPr>
          <a:xfrm>
            <a:off x="713232" y="5513832"/>
            <a:ext cx="1005840" cy="256032"/>
          </a:xfrm>
          <a:prstGeom prst="rect">
            <a:avLst/>
          </a:prstGeom>
          <a:noFill/>
        </p:spPr>
        <p:txBody>
          <a:bodyPr wrap="square" lIns="0" rIns="0" tIns="7924" bIns="0" anchor="t">
            <a:noAutofit/>
          </a:bodyPr>
          <a:lstStyle/>
          <a:p>
            <a:pPr algn="l">
              <a:lnSpc>
                <a:spcPts val="1175"/>
              </a:lnSpc>
              <a:spcBef>
                <a:spcPts val="0"/>
              </a:spcBef>
              <a:spcAft>
                <a:spcPts val="0"/>
              </a:spcAft>
              <a:defRPr sz="1040">
                <a:latin typeface="Arial"/>
              </a:defRPr>
            </a:pPr>
            <a:r>
              <a:rPr sz="1040" b="0">
                <a:solidFill>
                  <a:srgbClr val="5E6B65"/>
                </a:solidFill>
                <a:latin typeface="Arial"/>
              </a:rPr>
              <a:t>31 Mar 2020</a:t>
            </a:r>
          </a:p>
        </p:txBody>
      </p:sp>
      <p:sp>
        <p:nvSpPr>
          <p:cNvPr id="16" name="historical short interest"/>
          <p:cNvSpPr txBox="1"/>
          <p:nvPr/>
        </p:nvSpPr>
        <p:spPr>
          <a:xfrm>
            <a:off x="1810512" y="5084064"/>
            <a:ext cx="1051560" cy="38404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1">
                <a:solidFill>
                  <a:srgbClr val="855E26"/>
                </a:solidFill>
                <a:latin typeface="Arial"/>
              </a:rPr>
              <a:t>102.1%</a:t>
            </a:r>
          </a:p>
        </p:txBody>
      </p:sp>
      <p:sp>
        <p:nvSpPr>
          <p:cNvPr id="17" name="short interest date"/>
          <p:cNvSpPr txBox="1"/>
          <p:nvPr/>
        </p:nvSpPr>
        <p:spPr>
          <a:xfrm>
            <a:off x="1810512" y="5513832"/>
            <a:ext cx="1005840" cy="256032"/>
          </a:xfrm>
          <a:prstGeom prst="rect">
            <a:avLst/>
          </a:prstGeom>
          <a:noFill/>
        </p:spPr>
        <p:txBody>
          <a:bodyPr wrap="square" lIns="0" rIns="0" tIns="7924" bIns="0" anchor="t">
            <a:noAutofit/>
          </a:bodyPr>
          <a:lstStyle/>
          <a:p>
            <a:pPr algn="l">
              <a:lnSpc>
                <a:spcPts val="1175"/>
              </a:lnSpc>
              <a:spcBef>
                <a:spcPts val="0"/>
              </a:spcBef>
              <a:spcAft>
                <a:spcPts val="0"/>
              </a:spcAft>
              <a:defRPr sz="1040">
                <a:latin typeface="Arial"/>
              </a:defRPr>
            </a:pPr>
            <a:r>
              <a:rPr sz="1040" b="0">
                <a:solidFill>
                  <a:srgbClr val="5E6B65"/>
                </a:solidFill>
                <a:latin typeface="Arial"/>
              </a:rPr>
              <a:t>15 Jan 2021</a:t>
            </a:r>
          </a:p>
        </p:txBody>
      </p:sp>
      <p:sp>
        <p:nvSpPr>
          <p:cNvPr id="18" name="historical short interest"/>
          <p:cNvSpPr txBox="1"/>
          <p:nvPr/>
        </p:nvSpPr>
        <p:spPr>
          <a:xfrm>
            <a:off x="2953512" y="5084064"/>
            <a:ext cx="1051560" cy="38404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1">
                <a:solidFill>
                  <a:srgbClr val="855E26"/>
                </a:solidFill>
                <a:latin typeface="Arial"/>
              </a:rPr>
              <a:t>35.4%</a:t>
            </a:r>
          </a:p>
        </p:txBody>
      </p:sp>
      <p:sp>
        <p:nvSpPr>
          <p:cNvPr id="19" name="short interest date"/>
          <p:cNvSpPr txBox="1"/>
          <p:nvPr/>
        </p:nvSpPr>
        <p:spPr>
          <a:xfrm>
            <a:off x="2953512" y="5513832"/>
            <a:ext cx="1005840" cy="256032"/>
          </a:xfrm>
          <a:prstGeom prst="rect">
            <a:avLst/>
          </a:prstGeom>
          <a:noFill/>
        </p:spPr>
        <p:txBody>
          <a:bodyPr wrap="square" lIns="0" rIns="0" tIns="7924" bIns="0" anchor="t">
            <a:noAutofit/>
          </a:bodyPr>
          <a:lstStyle/>
          <a:p>
            <a:pPr algn="l">
              <a:lnSpc>
                <a:spcPts val="1175"/>
              </a:lnSpc>
              <a:spcBef>
                <a:spcPts val="0"/>
              </a:spcBef>
              <a:spcAft>
                <a:spcPts val="0"/>
              </a:spcAft>
              <a:defRPr sz="1040">
                <a:latin typeface="Arial"/>
              </a:defRPr>
            </a:pPr>
            <a:r>
              <a:rPr sz="1040" b="0">
                <a:solidFill>
                  <a:srgbClr val="5E6B65"/>
                </a:solidFill>
                <a:latin typeface="Arial"/>
              </a:rPr>
              <a:t>29 Jan 2021</a:t>
            </a:r>
          </a:p>
        </p:txBody>
      </p:sp>
      <p:cxnSp>
        <p:nvCxnSpPr>
          <p:cNvPr id="20" name="connector"/>
          <p:cNvCxnSpPr/>
          <p:nvPr/>
        </p:nvCxnSpPr>
        <p:spPr>
          <a:xfrm>
            <a:off x="4343400" y="2240280"/>
            <a:ext cx="0" cy="3401568"/>
          </a:xfrm>
          <a:prstGeom prst="line">
            <a:avLst/>
          </a:prstGeom>
          <a:ln w="889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1" name="eyebrow"/>
          <p:cNvSpPr txBox="1"/>
          <p:nvPr/>
        </p:nvSpPr>
        <p:spPr>
          <a:xfrm>
            <a:off x="4800600" y="2258568"/>
            <a:ext cx="649224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POTENTIAL SHORT-COVERING FEEDBACK</a:t>
            </a:r>
          </a:p>
        </p:txBody>
      </p:sp>
      <p:sp>
        <p:nvSpPr>
          <p:cNvPr id="22" name="circle"/>
          <p:cNvSpPr/>
          <p:nvPr/>
        </p:nvSpPr>
        <p:spPr>
          <a:xfrm>
            <a:off x="4800600" y="2706624"/>
            <a:ext cx="402336" cy="402336"/>
          </a:xfrm>
          <a:prstGeom prst="ellipse">
            <a:avLst/>
          </a:prstGeom>
          <a:solidFill>
            <a:srgbClr val="F4ED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tep number"/>
          <p:cNvSpPr txBox="1"/>
          <p:nvPr/>
        </p:nvSpPr>
        <p:spPr>
          <a:xfrm>
            <a:off x="4800600" y="2766060"/>
            <a:ext cx="402336" cy="228600"/>
          </a:xfrm>
          <a:prstGeom prst="rect">
            <a:avLst/>
          </a:prstGeom>
          <a:noFill/>
        </p:spPr>
        <p:txBody>
          <a:bodyPr wrap="square" lIns="0" rIns="0" tIns="9525" bIns="0" anchor="t">
            <a:noAutofit/>
          </a:bodyPr>
          <a:lstStyle/>
          <a:p>
            <a:pPr algn="ctr">
              <a:lnSpc>
                <a:spcPts val="1412"/>
              </a:lnSpc>
              <a:spcBef>
                <a:spcPts val="0"/>
              </a:spcBef>
              <a:spcAft>
                <a:spcPts val="0"/>
              </a:spcAft>
              <a:defRPr sz="1250">
                <a:latin typeface="Arial"/>
              </a:defRPr>
            </a:pPr>
            <a:r>
              <a:rPr sz="1250" b="1">
                <a:solidFill>
                  <a:srgbClr val="855E26"/>
                </a:solidFill>
                <a:latin typeface="Arial"/>
              </a:rPr>
              <a:t>1</a:t>
            </a:r>
          </a:p>
        </p:txBody>
      </p:sp>
      <p:sp>
        <p:nvSpPr>
          <p:cNvPr id="24" name="feedback step title"/>
          <p:cNvSpPr txBox="1"/>
          <p:nvPr/>
        </p:nvSpPr>
        <p:spPr>
          <a:xfrm>
            <a:off x="4800600" y="3246120"/>
            <a:ext cx="2029968" cy="365760"/>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Price rises</a:t>
            </a:r>
          </a:p>
        </p:txBody>
      </p:sp>
      <p:sp>
        <p:nvSpPr>
          <p:cNvPr id="25" name="feedback step explanation"/>
          <p:cNvSpPr txBox="1"/>
          <p:nvPr/>
        </p:nvSpPr>
        <p:spPr>
          <a:xfrm>
            <a:off x="4800600" y="3712463"/>
            <a:ext cx="1938528" cy="731520"/>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Short sellers’ losses</a:t>
            </a:r>
          </a:p>
          <a:p>
            <a:pPr algn="l">
              <a:lnSpc>
                <a:spcPts val="1807"/>
              </a:lnSpc>
              <a:spcBef>
                <a:spcPts val="0"/>
              </a:spcBef>
              <a:spcAft>
                <a:spcPts val="0"/>
              </a:spcAft>
              <a:defRPr sz="1600">
                <a:latin typeface="Arial"/>
              </a:defRPr>
            </a:pPr>
            <a:r>
              <a:rPr sz="1600" b="0">
                <a:solidFill>
                  <a:srgbClr val="5E6B65"/>
                </a:solidFill>
                <a:latin typeface="Arial"/>
              </a:rPr>
              <a:t>increase.</a:t>
            </a:r>
          </a:p>
        </p:txBody>
      </p:sp>
      <p:sp>
        <p:nvSpPr>
          <p:cNvPr id="26" name="circle"/>
          <p:cNvSpPr/>
          <p:nvPr/>
        </p:nvSpPr>
        <p:spPr>
          <a:xfrm>
            <a:off x="7260336" y="2706624"/>
            <a:ext cx="402336" cy="402336"/>
          </a:xfrm>
          <a:prstGeom prst="ellipse">
            <a:avLst/>
          </a:prstGeom>
          <a:solidFill>
            <a:srgbClr val="F4ED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step number"/>
          <p:cNvSpPr txBox="1"/>
          <p:nvPr/>
        </p:nvSpPr>
        <p:spPr>
          <a:xfrm>
            <a:off x="7260336" y="2766060"/>
            <a:ext cx="402336" cy="228600"/>
          </a:xfrm>
          <a:prstGeom prst="rect">
            <a:avLst/>
          </a:prstGeom>
          <a:noFill/>
        </p:spPr>
        <p:txBody>
          <a:bodyPr wrap="square" lIns="0" rIns="0" tIns="9525" bIns="0" anchor="t">
            <a:noAutofit/>
          </a:bodyPr>
          <a:lstStyle/>
          <a:p>
            <a:pPr algn="ctr">
              <a:lnSpc>
                <a:spcPts val="1412"/>
              </a:lnSpc>
              <a:spcBef>
                <a:spcPts val="0"/>
              </a:spcBef>
              <a:spcAft>
                <a:spcPts val="0"/>
              </a:spcAft>
              <a:defRPr sz="1250">
                <a:latin typeface="Arial"/>
              </a:defRPr>
            </a:pPr>
            <a:r>
              <a:rPr sz="1250" b="1">
                <a:solidFill>
                  <a:srgbClr val="855E26"/>
                </a:solidFill>
                <a:latin typeface="Arial"/>
              </a:rPr>
              <a:t>2</a:t>
            </a:r>
          </a:p>
        </p:txBody>
      </p:sp>
      <p:sp>
        <p:nvSpPr>
          <p:cNvPr id="28" name="feedback step title"/>
          <p:cNvSpPr txBox="1"/>
          <p:nvPr/>
        </p:nvSpPr>
        <p:spPr>
          <a:xfrm>
            <a:off x="7260336" y="3246120"/>
            <a:ext cx="2029968" cy="365760"/>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Shorts cover</a:t>
            </a:r>
          </a:p>
        </p:txBody>
      </p:sp>
      <p:sp>
        <p:nvSpPr>
          <p:cNvPr id="29" name="feedback step explanation"/>
          <p:cNvSpPr txBox="1"/>
          <p:nvPr/>
        </p:nvSpPr>
        <p:spPr>
          <a:xfrm>
            <a:off x="7260336" y="3712463"/>
            <a:ext cx="1938528" cy="731520"/>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They buy shares to</a:t>
            </a:r>
          </a:p>
          <a:p>
            <a:pPr algn="l">
              <a:lnSpc>
                <a:spcPts val="1807"/>
              </a:lnSpc>
              <a:spcBef>
                <a:spcPts val="0"/>
              </a:spcBef>
              <a:spcAft>
                <a:spcPts val="0"/>
              </a:spcAft>
              <a:defRPr sz="1600">
                <a:latin typeface="Arial"/>
              </a:defRPr>
            </a:pPr>
            <a:r>
              <a:rPr sz="1600" b="0">
                <a:solidFill>
                  <a:srgbClr val="5E6B65"/>
                </a:solidFill>
                <a:latin typeface="Arial"/>
              </a:rPr>
              <a:t>close positions.</a:t>
            </a:r>
          </a:p>
        </p:txBody>
      </p:sp>
      <p:sp>
        <p:nvSpPr>
          <p:cNvPr id="30" name="circle"/>
          <p:cNvSpPr/>
          <p:nvPr/>
        </p:nvSpPr>
        <p:spPr>
          <a:xfrm>
            <a:off x="9601200" y="2706624"/>
            <a:ext cx="402336" cy="402336"/>
          </a:xfrm>
          <a:prstGeom prst="ellipse">
            <a:avLst/>
          </a:prstGeom>
          <a:solidFill>
            <a:srgbClr val="F4ED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step number"/>
          <p:cNvSpPr txBox="1"/>
          <p:nvPr/>
        </p:nvSpPr>
        <p:spPr>
          <a:xfrm>
            <a:off x="9601200" y="2766060"/>
            <a:ext cx="402336" cy="228600"/>
          </a:xfrm>
          <a:prstGeom prst="rect">
            <a:avLst/>
          </a:prstGeom>
          <a:noFill/>
        </p:spPr>
        <p:txBody>
          <a:bodyPr wrap="square" lIns="0" rIns="0" tIns="9525" bIns="0" anchor="t">
            <a:noAutofit/>
          </a:bodyPr>
          <a:lstStyle/>
          <a:p>
            <a:pPr algn="ctr">
              <a:lnSpc>
                <a:spcPts val="1412"/>
              </a:lnSpc>
              <a:spcBef>
                <a:spcPts val="0"/>
              </a:spcBef>
              <a:spcAft>
                <a:spcPts val="0"/>
              </a:spcAft>
              <a:defRPr sz="1250">
                <a:latin typeface="Arial"/>
              </a:defRPr>
            </a:pPr>
            <a:r>
              <a:rPr sz="1250" b="1">
                <a:solidFill>
                  <a:srgbClr val="855E26"/>
                </a:solidFill>
                <a:latin typeface="Arial"/>
              </a:rPr>
              <a:t>3</a:t>
            </a:r>
          </a:p>
        </p:txBody>
      </p:sp>
      <p:sp>
        <p:nvSpPr>
          <p:cNvPr id="32" name="feedback step title"/>
          <p:cNvSpPr txBox="1"/>
          <p:nvPr/>
        </p:nvSpPr>
        <p:spPr>
          <a:xfrm>
            <a:off x="9601200" y="3246120"/>
            <a:ext cx="2029968" cy="365760"/>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Buying grows</a:t>
            </a:r>
          </a:p>
        </p:txBody>
      </p:sp>
      <p:sp>
        <p:nvSpPr>
          <p:cNvPr id="33" name="feedback step explanation"/>
          <p:cNvSpPr txBox="1"/>
          <p:nvPr/>
        </p:nvSpPr>
        <p:spPr>
          <a:xfrm>
            <a:off x="9601200" y="3712463"/>
            <a:ext cx="1938528" cy="731520"/>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Additional demand</a:t>
            </a:r>
          </a:p>
          <a:p>
            <a:pPr algn="l">
              <a:lnSpc>
                <a:spcPts val="1807"/>
              </a:lnSpc>
              <a:spcBef>
                <a:spcPts val="0"/>
              </a:spcBef>
              <a:spcAft>
                <a:spcPts val="0"/>
              </a:spcAft>
              <a:defRPr sz="1600">
                <a:latin typeface="Arial"/>
              </a:defRPr>
            </a:pPr>
            <a:r>
              <a:rPr sz="1600" b="0">
                <a:solidFill>
                  <a:srgbClr val="5E6B65"/>
                </a:solidFill>
                <a:latin typeface="Arial"/>
              </a:rPr>
              <a:t>can push prices</a:t>
            </a:r>
          </a:p>
          <a:p>
            <a:pPr algn="l">
              <a:lnSpc>
                <a:spcPts val="1807"/>
              </a:lnSpc>
              <a:spcBef>
                <a:spcPts val="0"/>
              </a:spcBef>
              <a:spcAft>
                <a:spcPts val="0"/>
              </a:spcAft>
              <a:defRPr sz="1600">
                <a:latin typeface="Arial"/>
              </a:defRPr>
            </a:pPr>
            <a:r>
              <a:rPr sz="1600" b="0">
                <a:solidFill>
                  <a:srgbClr val="5E6B65"/>
                </a:solidFill>
                <a:latin typeface="Arial"/>
              </a:rPr>
              <a:t>higher.</a:t>
            </a:r>
          </a:p>
        </p:txBody>
      </p:sp>
      <p:cxnSp>
        <p:nvCxnSpPr>
          <p:cNvPr id="34" name="connector"/>
          <p:cNvCxnSpPr/>
          <p:nvPr/>
        </p:nvCxnSpPr>
        <p:spPr>
          <a:xfrm>
            <a:off x="6885432" y="3456432"/>
            <a:ext cx="256032" cy="0"/>
          </a:xfrm>
          <a:prstGeom prst="line">
            <a:avLst/>
          </a:prstGeom>
          <a:ln w="15240">
            <a:solidFill>
              <a:srgbClr val="855E26"/>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35" name="connector"/>
          <p:cNvCxnSpPr/>
          <p:nvPr/>
        </p:nvCxnSpPr>
        <p:spPr>
          <a:xfrm>
            <a:off x="9317736" y="3456432"/>
            <a:ext cx="201168" cy="0"/>
          </a:xfrm>
          <a:prstGeom prst="line">
            <a:avLst/>
          </a:prstGeom>
          <a:ln w="15240">
            <a:solidFill>
              <a:srgbClr val="855E26"/>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36" name="connector"/>
          <p:cNvCxnSpPr/>
          <p:nvPr/>
        </p:nvCxnSpPr>
        <p:spPr>
          <a:xfrm>
            <a:off x="4800600" y="4608576"/>
            <a:ext cx="6675120" cy="0"/>
          </a:xfrm>
          <a:prstGeom prst="line">
            <a:avLst/>
          </a:prstGeom>
          <a:ln w="889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7" name="crowding risk title"/>
          <p:cNvSpPr txBox="1"/>
          <p:nvPr/>
        </p:nvSpPr>
        <p:spPr>
          <a:xfrm>
            <a:off x="4800600" y="4828032"/>
            <a:ext cx="3063240" cy="356616"/>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Crowded positions</a:t>
            </a:r>
          </a:p>
        </p:txBody>
      </p:sp>
      <p:sp>
        <p:nvSpPr>
          <p:cNvPr id="38" name="crowding risk"/>
          <p:cNvSpPr txBox="1"/>
          <p:nvPr/>
        </p:nvSpPr>
        <p:spPr>
          <a:xfrm>
            <a:off x="4800600" y="5276088"/>
            <a:ext cx="3063240" cy="502920"/>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Covering can amplify an existing</a:t>
            </a:r>
          </a:p>
          <a:p>
            <a:pPr algn="l">
              <a:lnSpc>
                <a:spcPts val="1807"/>
              </a:lnSpc>
              <a:spcBef>
                <a:spcPts val="0"/>
              </a:spcBef>
              <a:spcAft>
                <a:spcPts val="0"/>
              </a:spcAft>
              <a:defRPr sz="1600">
                <a:latin typeface="Arial"/>
              </a:defRPr>
            </a:pPr>
            <a:r>
              <a:rPr sz="1600" b="0">
                <a:solidFill>
                  <a:srgbClr val="5E6B65"/>
                </a:solidFill>
                <a:latin typeface="Arial"/>
              </a:rPr>
              <a:t>price increase.</a:t>
            </a:r>
          </a:p>
        </p:txBody>
      </p:sp>
      <p:sp>
        <p:nvSpPr>
          <p:cNvPr id="39" name="volatility title"/>
          <p:cNvSpPr txBox="1"/>
          <p:nvPr/>
        </p:nvSpPr>
        <p:spPr>
          <a:xfrm>
            <a:off x="8366760" y="4828032"/>
            <a:ext cx="3063240" cy="356616"/>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Losses on both sides</a:t>
            </a:r>
          </a:p>
        </p:txBody>
      </p:sp>
      <p:sp>
        <p:nvSpPr>
          <p:cNvPr id="40" name="volatility explanation"/>
          <p:cNvSpPr txBox="1"/>
          <p:nvPr/>
        </p:nvSpPr>
        <p:spPr>
          <a:xfrm>
            <a:off x="8366760" y="5276088"/>
            <a:ext cx="3063240" cy="502920"/>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Shorts lose on the way up; late</a:t>
            </a:r>
          </a:p>
          <a:p>
            <a:pPr algn="l">
              <a:lnSpc>
                <a:spcPts val="1807"/>
              </a:lnSpc>
              <a:spcBef>
                <a:spcPts val="0"/>
              </a:spcBef>
              <a:spcAft>
                <a:spcPts val="0"/>
              </a:spcAft>
              <a:defRPr sz="1600">
                <a:latin typeface="Arial"/>
              </a:defRPr>
            </a:pPr>
            <a:r>
              <a:rPr sz="1600" b="0">
                <a:solidFill>
                  <a:srgbClr val="5E6B65"/>
                </a:solidFill>
                <a:latin typeface="Arial"/>
              </a:rPr>
              <a:t>buyers risk a reversal.</a:t>
            </a:r>
          </a:p>
        </p:txBody>
      </p:sp>
      <p:sp>
        <p:nvSpPr>
          <p:cNvPr id="41" name="conclusion mark"/>
          <p:cNvSpPr/>
          <p:nvPr/>
        </p:nvSpPr>
        <p:spPr>
          <a:xfrm>
            <a:off x="658368" y="5934456"/>
            <a:ext cx="50292" cy="365760"/>
          </a:xfrm>
          <a:prstGeom prst="rect">
            <a:avLst/>
          </a:prstGeom>
          <a:solidFill>
            <a:srgbClr val="855E2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akeaway"/>
          <p:cNvSpPr txBox="1"/>
          <p:nvPr/>
        </p:nvSpPr>
        <p:spPr>
          <a:xfrm>
            <a:off x="877824" y="5907024"/>
            <a:ext cx="10561320" cy="493776"/>
          </a:xfrm>
          <a:prstGeom prst="rect">
            <a:avLst/>
          </a:prstGeom>
          <a:noFill/>
        </p:spPr>
        <p:txBody>
          <a:bodyPr wrap="square" lIns="0" rIns="0" tIns="13335" bIns="0" anchor="t">
            <a:noAutofit/>
          </a:bodyPr>
          <a:lstStyle/>
          <a:p>
            <a:pPr algn="l">
              <a:lnSpc>
                <a:spcPts val="1925"/>
              </a:lnSpc>
              <a:spcBef>
                <a:spcPts val="0"/>
              </a:spcBef>
              <a:spcAft>
                <a:spcPts val="0"/>
              </a:spcAft>
              <a:defRPr sz="1750">
                <a:latin typeface="Arial"/>
              </a:defRPr>
            </a:pPr>
            <a:r>
              <a:rPr sz="1750" b="1">
                <a:solidFill>
                  <a:srgbClr val="17302B"/>
                </a:solidFill>
                <a:latin typeface="Arial"/>
              </a:rPr>
              <a:t>Short covering amplifies a rally. Retail buying and options activity also matter.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Cao Zihan</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08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Q2 / PROPOSED SAFEGUARDS</a:t>
            </a:r>
          </a:p>
        </p:txBody>
      </p:sp>
      <p:sp>
        <p:nvSpPr>
          <p:cNvPr id="7" name="slide title"/>
          <p:cNvSpPr txBox="1"/>
          <p:nvPr/>
        </p:nvSpPr>
        <p:spPr>
          <a:xfrm>
            <a:off x="658368" y="859536"/>
            <a:ext cx="10835640" cy="676656"/>
          </a:xfrm>
          <a:prstGeom prst="rect">
            <a:avLst/>
          </a:prstGeom>
          <a:noFill/>
        </p:spPr>
        <p:txBody>
          <a:bodyPr wrap="square" lIns="0" rIns="0" tIns="26670" bIns="0" anchor="t">
            <a:noAutofit/>
          </a:bodyPr>
          <a:lstStyle/>
          <a:p>
            <a:pPr algn="l">
              <a:lnSpc>
                <a:spcPts val="3745"/>
              </a:lnSpc>
              <a:spcBef>
                <a:spcPts val="0"/>
              </a:spcBef>
              <a:spcAft>
                <a:spcPts val="0"/>
              </a:spcAft>
              <a:defRPr sz="3500">
                <a:latin typeface="Arial"/>
              </a:defRPr>
            </a:pPr>
            <a:r>
              <a:rPr sz="3500" b="1">
                <a:solidFill>
                  <a:srgbClr val="17302B"/>
                </a:solidFill>
                <a:latin typeface="Arial"/>
              </a:rPr>
              <a:t>Regulate crowding, not all short selling</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Targeted controls preserve liquidity and price discovery.</a:t>
            </a:r>
          </a:p>
        </p:txBody>
      </p:sp>
      <p:sp>
        <p:nvSpPr>
          <p:cNvPr id="9" name="eyebrow"/>
          <p:cNvSpPr txBox="1"/>
          <p:nvPr/>
        </p:nvSpPr>
        <p:spPr>
          <a:xfrm>
            <a:off x="713232" y="2121408"/>
            <a:ext cx="411480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RISK TO ADDRESS</a:t>
            </a:r>
          </a:p>
        </p:txBody>
      </p:sp>
      <p:sp>
        <p:nvSpPr>
          <p:cNvPr id="10" name="eyebrow"/>
          <p:cNvSpPr txBox="1"/>
          <p:nvPr/>
        </p:nvSpPr>
        <p:spPr>
          <a:xfrm>
            <a:off x="5678424" y="2121408"/>
            <a:ext cx="576072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PROPOSED RESPONSE</a:t>
            </a:r>
          </a:p>
        </p:txBody>
      </p:sp>
      <p:sp>
        <p:nvSpPr>
          <p:cNvPr id="11" name="safeguard number"/>
          <p:cNvSpPr txBox="1"/>
          <p:nvPr/>
        </p:nvSpPr>
        <p:spPr>
          <a:xfrm>
            <a:off x="713232" y="2569464"/>
            <a:ext cx="566928" cy="356616"/>
          </a:xfrm>
          <a:prstGeom prst="rect">
            <a:avLst/>
          </a:prstGeom>
          <a:noFill/>
        </p:spPr>
        <p:txBody>
          <a:bodyPr wrap="square" lIns="0" rIns="0" tIns="15240" bIns="0" anchor="t">
            <a:noAutofit/>
          </a:bodyPr>
          <a:lstStyle/>
          <a:p>
            <a:pPr algn="l">
              <a:lnSpc>
                <a:spcPts val="2260"/>
              </a:lnSpc>
              <a:spcBef>
                <a:spcPts val="0"/>
              </a:spcBef>
              <a:spcAft>
                <a:spcPts val="0"/>
              </a:spcAft>
              <a:defRPr sz="2000">
                <a:latin typeface="Arial"/>
              </a:defRPr>
            </a:pPr>
            <a:r>
              <a:rPr sz="2000" b="1">
                <a:solidFill>
                  <a:srgbClr val="855E26"/>
                </a:solidFill>
                <a:latin typeface="Arial"/>
              </a:rPr>
              <a:t>01</a:t>
            </a:r>
          </a:p>
        </p:txBody>
      </p:sp>
      <p:sp>
        <p:nvSpPr>
          <p:cNvPr id="12" name="risk label"/>
          <p:cNvSpPr txBox="1"/>
          <p:nvPr/>
        </p:nvSpPr>
        <p:spPr>
          <a:xfrm>
            <a:off x="1508760" y="2569464"/>
            <a:ext cx="3401568" cy="713232"/>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Crowded short positions</a:t>
            </a:r>
          </a:p>
        </p:txBody>
      </p:sp>
      <p:cxnSp>
        <p:nvCxnSpPr>
          <p:cNvPr id="13" name="risk response arrow"/>
          <p:cNvCxnSpPr/>
          <p:nvPr/>
        </p:nvCxnSpPr>
        <p:spPr>
          <a:xfrm>
            <a:off x="5056632" y="2862072"/>
            <a:ext cx="420624" cy="0"/>
          </a:xfrm>
          <a:prstGeom prst="line">
            <a:avLst/>
          </a:prstGeom>
          <a:ln w="19050">
            <a:solidFill>
              <a:srgbClr val="855E26"/>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4" name="safeguard response"/>
          <p:cNvSpPr txBox="1"/>
          <p:nvPr/>
        </p:nvSpPr>
        <p:spPr>
          <a:xfrm>
            <a:off x="5678424" y="2569464"/>
            <a:ext cx="5623560" cy="37490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Enhanced short-interest disclosure</a:t>
            </a:r>
          </a:p>
        </p:txBody>
      </p:sp>
      <p:sp>
        <p:nvSpPr>
          <p:cNvPr id="15" name="response detail"/>
          <p:cNvSpPr txBox="1"/>
          <p:nvPr/>
        </p:nvSpPr>
        <p:spPr>
          <a:xfrm>
            <a:off x="5678424" y="3072384"/>
            <a:ext cx="5623560" cy="347472"/>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More frequent reports reveal crowding sooner.</a:t>
            </a:r>
          </a:p>
        </p:txBody>
      </p:sp>
      <p:cxnSp>
        <p:nvCxnSpPr>
          <p:cNvPr id="16" name="connector"/>
          <p:cNvCxnSpPr/>
          <p:nvPr/>
        </p:nvCxnSpPr>
        <p:spPr>
          <a:xfrm>
            <a:off x="713232" y="3447288"/>
            <a:ext cx="10762488"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17" name="safeguard number"/>
          <p:cNvSpPr txBox="1"/>
          <p:nvPr/>
        </p:nvSpPr>
        <p:spPr>
          <a:xfrm>
            <a:off x="713232" y="3575304"/>
            <a:ext cx="566928" cy="356616"/>
          </a:xfrm>
          <a:prstGeom prst="rect">
            <a:avLst/>
          </a:prstGeom>
          <a:noFill/>
        </p:spPr>
        <p:txBody>
          <a:bodyPr wrap="square" lIns="0" rIns="0" tIns="15240" bIns="0" anchor="t">
            <a:noAutofit/>
          </a:bodyPr>
          <a:lstStyle/>
          <a:p>
            <a:pPr algn="l">
              <a:lnSpc>
                <a:spcPts val="2260"/>
              </a:lnSpc>
              <a:spcBef>
                <a:spcPts val="0"/>
              </a:spcBef>
              <a:spcAft>
                <a:spcPts val="0"/>
              </a:spcAft>
              <a:defRPr sz="2000">
                <a:latin typeface="Arial"/>
              </a:defRPr>
            </a:pPr>
            <a:r>
              <a:rPr sz="2000" b="1">
                <a:solidFill>
                  <a:srgbClr val="855E26"/>
                </a:solidFill>
                <a:latin typeface="Arial"/>
              </a:rPr>
              <a:t>02</a:t>
            </a:r>
          </a:p>
        </p:txBody>
      </p:sp>
      <p:sp>
        <p:nvSpPr>
          <p:cNvPr id="18" name="risk label"/>
          <p:cNvSpPr txBox="1"/>
          <p:nvPr/>
        </p:nvSpPr>
        <p:spPr>
          <a:xfrm>
            <a:off x="1508760" y="3575304"/>
            <a:ext cx="3401568" cy="713232"/>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High short interest</a:t>
            </a:r>
          </a:p>
        </p:txBody>
      </p:sp>
      <p:cxnSp>
        <p:nvCxnSpPr>
          <p:cNvPr id="19" name="risk response arrow"/>
          <p:cNvCxnSpPr/>
          <p:nvPr/>
        </p:nvCxnSpPr>
        <p:spPr>
          <a:xfrm>
            <a:off x="5056632" y="3867912"/>
            <a:ext cx="420624" cy="0"/>
          </a:xfrm>
          <a:prstGeom prst="line">
            <a:avLst/>
          </a:prstGeom>
          <a:ln w="19050">
            <a:solidFill>
              <a:srgbClr val="855E26"/>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0" name="safeguard response"/>
          <p:cNvSpPr txBox="1"/>
          <p:nvPr/>
        </p:nvSpPr>
        <p:spPr>
          <a:xfrm>
            <a:off x="5678424" y="3575304"/>
            <a:ext cx="5623560" cy="37490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Risk-based margin requirements</a:t>
            </a:r>
          </a:p>
        </p:txBody>
      </p:sp>
      <p:sp>
        <p:nvSpPr>
          <p:cNvPr id="21" name="response detail"/>
          <p:cNvSpPr txBox="1"/>
          <p:nvPr/>
        </p:nvSpPr>
        <p:spPr>
          <a:xfrm>
            <a:off x="5678424" y="4078224"/>
            <a:ext cx="5623560" cy="347472"/>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Adjust margin to the risk of short positions.</a:t>
            </a:r>
          </a:p>
        </p:txBody>
      </p:sp>
      <p:cxnSp>
        <p:nvCxnSpPr>
          <p:cNvPr id="22" name="connector"/>
          <p:cNvCxnSpPr/>
          <p:nvPr/>
        </p:nvCxnSpPr>
        <p:spPr>
          <a:xfrm>
            <a:off x="713232" y="4453128"/>
            <a:ext cx="10762488"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3" name="safeguard number"/>
          <p:cNvSpPr txBox="1"/>
          <p:nvPr/>
        </p:nvSpPr>
        <p:spPr>
          <a:xfrm>
            <a:off x="713232" y="4581144"/>
            <a:ext cx="566928" cy="356616"/>
          </a:xfrm>
          <a:prstGeom prst="rect">
            <a:avLst/>
          </a:prstGeom>
          <a:noFill/>
        </p:spPr>
        <p:txBody>
          <a:bodyPr wrap="square" lIns="0" rIns="0" tIns="15240" bIns="0" anchor="t">
            <a:noAutofit/>
          </a:bodyPr>
          <a:lstStyle/>
          <a:p>
            <a:pPr algn="l">
              <a:lnSpc>
                <a:spcPts val="2260"/>
              </a:lnSpc>
              <a:spcBef>
                <a:spcPts val="0"/>
              </a:spcBef>
              <a:spcAft>
                <a:spcPts val="0"/>
              </a:spcAft>
              <a:defRPr sz="2000">
                <a:latin typeface="Arial"/>
              </a:defRPr>
            </a:pPr>
            <a:r>
              <a:rPr sz="2000" b="1">
                <a:solidFill>
                  <a:srgbClr val="855E26"/>
                </a:solidFill>
                <a:latin typeface="Arial"/>
              </a:rPr>
              <a:t>03</a:t>
            </a:r>
          </a:p>
        </p:txBody>
      </p:sp>
      <p:sp>
        <p:nvSpPr>
          <p:cNvPr id="24" name="risk label"/>
          <p:cNvSpPr txBox="1"/>
          <p:nvPr/>
        </p:nvSpPr>
        <p:spPr>
          <a:xfrm>
            <a:off x="1508760" y="4581144"/>
            <a:ext cx="3401568" cy="713232"/>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Securities lending</a:t>
            </a:r>
          </a:p>
        </p:txBody>
      </p:sp>
      <p:cxnSp>
        <p:nvCxnSpPr>
          <p:cNvPr id="25" name="risk response arrow"/>
          <p:cNvCxnSpPr/>
          <p:nvPr/>
        </p:nvCxnSpPr>
        <p:spPr>
          <a:xfrm>
            <a:off x="5056632" y="4873752"/>
            <a:ext cx="420624" cy="0"/>
          </a:xfrm>
          <a:prstGeom prst="line">
            <a:avLst/>
          </a:prstGeom>
          <a:ln w="19050">
            <a:solidFill>
              <a:srgbClr val="855E26"/>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safeguard response"/>
          <p:cNvSpPr txBox="1"/>
          <p:nvPr/>
        </p:nvSpPr>
        <p:spPr>
          <a:xfrm>
            <a:off x="5678424" y="4581144"/>
            <a:ext cx="5623560" cy="37490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Stronger lending oversight</a:t>
            </a:r>
          </a:p>
        </p:txBody>
      </p:sp>
      <p:sp>
        <p:nvSpPr>
          <p:cNvPr id="27" name="response detail"/>
          <p:cNvSpPr txBox="1"/>
          <p:nvPr/>
        </p:nvSpPr>
        <p:spPr>
          <a:xfrm>
            <a:off x="5678424" y="5084064"/>
            <a:ext cx="5623560" cy="347472"/>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Improve monitoring of stock borrowing and lending.</a:t>
            </a:r>
          </a:p>
        </p:txBody>
      </p:sp>
      <p:cxnSp>
        <p:nvCxnSpPr>
          <p:cNvPr id="28" name="connector"/>
          <p:cNvCxnSpPr/>
          <p:nvPr/>
        </p:nvCxnSpPr>
        <p:spPr>
          <a:xfrm>
            <a:off x="713232" y="5458968"/>
            <a:ext cx="10762488"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9" name="conclusion mark"/>
          <p:cNvSpPr/>
          <p:nvPr/>
        </p:nvSpPr>
        <p:spPr>
          <a:xfrm>
            <a:off x="658368" y="5897880"/>
            <a:ext cx="50292" cy="365760"/>
          </a:xfrm>
          <a:prstGeom prst="rect">
            <a:avLst/>
          </a:prstGeom>
          <a:solidFill>
            <a:srgbClr val="855E2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akeaway"/>
          <p:cNvSpPr txBox="1"/>
          <p:nvPr/>
        </p:nvSpPr>
        <p:spPr>
          <a:xfrm>
            <a:off x="877824" y="5870448"/>
            <a:ext cx="10561320" cy="493776"/>
          </a:xfrm>
          <a:prstGeom prst="rect">
            <a:avLst/>
          </a:prstGeom>
          <a:noFill/>
        </p:spPr>
        <p:txBody>
          <a:bodyPr wrap="square" lIns="0" rIns="0" tIns="16763" bIns="0" anchor="t">
            <a:noAutofit/>
          </a:bodyPr>
          <a:lstStyle/>
          <a:p>
            <a:pPr algn="l">
              <a:lnSpc>
                <a:spcPts val="2420"/>
              </a:lnSpc>
              <a:spcBef>
                <a:spcPts val="0"/>
              </a:spcBef>
              <a:spcAft>
                <a:spcPts val="0"/>
              </a:spcAft>
              <a:defRPr sz="2200">
                <a:latin typeface="Arial"/>
              </a:defRPr>
            </a:pPr>
            <a:r>
              <a:rPr sz="2200" b="1">
                <a:solidFill>
                  <a:srgbClr val="17302B"/>
                </a:solidFill>
                <a:latin typeface="Arial"/>
              </a:rPr>
              <a:t>Targeted safeguards—not a blanket ban.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Peng Jiayi</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09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Q2 / THE BENEFITS</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Short selling gives buyers both sides of the story</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Four reasons to preserve legitimate short selling.</a:t>
            </a:r>
          </a:p>
        </p:txBody>
      </p:sp>
      <p:cxnSp>
        <p:nvCxnSpPr>
          <p:cNvPr id="9" name="connector"/>
          <p:cNvCxnSpPr/>
          <p:nvPr/>
        </p:nvCxnSpPr>
        <p:spPr>
          <a:xfrm>
            <a:off x="6089904" y="2267712"/>
            <a:ext cx="0" cy="3182112"/>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cxnSp>
        <p:nvCxnSpPr>
          <p:cNvPr id="10" name="connector"/>
          <p:cNvCxnSpPr/>
          <p:nvPr/>
        </p:nvCxnSpPr>
        <p:spPr>
          <a:xfrm>
            <a:off x="713232" y="3867912"/>
            <a:ext cx="10762488"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cxnSp>
        <p:nvCxnSpPr>
          <p:cNvPr id="11" name="connector"/>
          <p:cNvCxnSpPr/>
          <p:nvPr/>
        </p:nvCxnSpPr>
        <p:spPr>
          <a:xfrm>
            <a:off x="969264" y="2359151"/>
            <a:ext cx="0" cy="384048"/>
          </a:xfrm>
          <a:prstGeom prst="line">
            <a:avLst/>
          </a:prstGeom>
          <a:ln w="19050">
            <a:solidFill>
              <a:srgbClr val="855E26"/>
            </a:solidFill>
          </a:ln>
          <a:effectLst/>
        </p:spPr>
        <p:style>
          <a:lnRef idx="2">
            <a:schemeClr val="accent1"/>
          </a:lnRef>
          <a:fillRef idx="0">
            <a:schemeClr val="accent1"/>
          </a:fillRef>
          <a:effectRef idx="0">
            <a:schemeClr val="accent1"/>
          </a:effectRef>
          <a:fontRef idx="minor">
            <a:schemeClr val="tx1"/>
          </a:fontRef>
        </p:style>
      </p:cxnSp>
      <p:cxnSp>
        <p:nvCxnSpPr>
          <p:cNvPr id="12" name="connector"/>
          <p:cNvCxnSpPr/>
          <p:nvPr/>
        </p:nvCxnSpPr>
        <p:spPr>
          <a:xfrm>
            <a:off x="768096" y="2487168"/>
            <a:ext cx="402336" cy="0"/>
          </a:xfrm>
          <a:prstGeom prst="line">
            <a:avLst/>
          </a:prstGeom>
          <a:ln w="19050">
            <a:solidFill>
              <a:srgbClr val="855E26"/>
            </a:solidFill>
          </a:ln>
          <a:effectLst/>
        </p:spPr>
        <p:style>
          <a:lnRef idx="2">
            <a:schemeClr val="accent1"/>
          </a:lnRef>
          <a:fillRef idx="0">
            <a:schemeClr val="accent1"/>
          </a:fillRef>
          <a:effectRef idx="0">
            <a:schemeClr val="accent1"/>
          </a:effectRef>
          <a:fontRef idx="minor">
            <a:schemeClr val="tx1"/>
          </a:fontRef>
        </p:style>
      </p:cxnSp>
      <p:cxnSp>
        <p:nvCxnSpPr>
          <p:cNvPr id="13" name="path"/>
          <p:cNvCxnSpPr/>
          <p:nvPr/>
        </p:nvCxnSpPr>
        <p:spPr>
          <a:xfrm flipH="1">
            <a:off x="731519" y="2487168"/>
            <a:ext cx="36577" cy="164591"/>
          </a:xfrm>
          <a:prstGeom prst="line">
            <a:avLst/>
          </a:prstGeom>
          <a:ln w="12700">
            <a:solidFill>
              <a:srgbClr val="855E26"/>
            </a:solidFill>
          </a:ln>
          <a:effectLst/>
        </p:spPr>
        <p:style>
          <a:lnRef idx="2">
            <a:schemeClr val="accent1"/>
          </a:lnRef>
          <a:fillRef idx="0">
            <a:schemeClr val="accent1"/>
          </a:fillRef>
          <a:effectRef idx="0">
            <a:schemeClr val="accent1"/>
          </a:effectRef>
          <a:fontRef idx="minor">
            <a:schemeClr val="tx1"/>
          </a:fontRef>
        </p:style>
      </p:cxnSp>
      <p:cxnSp>
        <p:nvCxnSpPr>
          <p:cNvPr id="14" name="path"/>
          <p:cNvCxnSpPr/>
          <p:nvPr/>
        </p:nvCxnSpPr>
        <p:spPr>
          <a:xfrm>
            <a:off x="731519" y="2651759"/>
            <a:ext cx="155449" cy="0"/>
          </a:xfrm>
          <a:prstGeom prst="line">
            <a:avLst/>
          </a:prstGeom>
          <a:ln w="12700">
            <a:solidFill>
              <a:srgbClr val="855E26"/>
            </a:solidFill>
          </a:ln>
          <a:effectLst/>
        </p:spPr>
        <p:style>
          <a:lnRef idx="2">
            <a:schemeClr val="accent1"/>
          </a:lnRef>
          <a:fillRef idx="0">
            <a:schemeClr val="accent1"/>
          </a:fillRef>
          <a:effectRef idx="0">
            <a:schemeClr val="accent1"/>
          </a:effectRef>
          <a:fontRef idx="minor">
            <a:schemeClr val="tx1"/>
          </a:fontRef>
        </p:style>
      </p:cxnSp>
      <p:cxnSp>
        <p:nvCxnSpPr>
          <p:cNvPr id="15" name="path"/>
          <p:cNvCxnSpPr/>
          <p:nvPr/>
        </p:nvCxnSpPr>
        <p:spPr>
          <a:xfrm flipH="1" flipV="1">
            <a:off x="768096" y="2487168"/>
            <a:ext cx="118872" cy="164591"/>
          </a:xfrm>
          <a:prstGeom prst="line">
            <a:avLst/>
          </a:prstGeom>
          <a:ln w="12700">
            <a:solidFill>
              <a:srgbClr val="855E26"/>
            </a:solidFill>
          </a:ln>
          <a:effectLst/>
        </p:spPr>
        <p:style>
          <a:lnRef idx="2">
            <a:schemeClr val="accent1"/>
          </a:lnRef>
          <a:fillRef idx="0">
            <a:schemeClr val="accent1"/>
          </a:fillRef>
          <a:effectRef idx="0">
            <a:schemeClr val="accent1"/>
          </a:effectRef>
          <a:fontRef idx="minor">
            <a:schemeClr val="tx1"/>
          </a:fontRef>
        </p:style>
      </p:cxnSp>
      <p:cxnSp>
        <p:nvCxnSpPr>
          <p:cNvPr id="16" name="path"/>
          <p:cNvCxnSpPr/>
          <p:nvPr/>
        </p:nvCxnSpPr>
        <p:spPr>
          <a:xfrm flipH="1">
            <a:off x="1060704" y="2487168"/>
            <a:ext cx="109728" cy="164591"/>
          </a:xfrm>
          <a:prstGeom prst="line">
            <a:avLst/>
          </a:prstGeom>
          <a:ln w="12700">
            <a:solidFill>
              <a:srgbClr val="855E26"/>
            </a:solidFill>
          </a:ln>
          <a:effectLst/>
        </p:spPr>
        <p:style>
          <a:lnRef idx="2">
            <a:schemeClr val="accent1"/>
          </a:lnRef>
          <a:fillRef idx="0">
            <a:schemeClr val="accent1"/>
          </a:fillRef>
          <a:effectRef idx="0">
            <a:schemeClr val="accent1"/>
          </a:effectRef>
          <a:fontRef idx="minor">
            <a:schemeClr val="tx1"/>
          </a:fontRef>
        </p:style>
      </p:cxnSp>
      <p:cxnSp>
        <p:nvCxnSpPr>
          <p:cNvPr id="17" name="path"/>
          <p:cNvCxnSpPr/>
          <p:nvPr/>
        </p:nvCxnSpPr>
        <p:spPr>
          <a:xfrm>
            <a:off x="1060704" y="2651759"/>
            <a:ext cx="155448" cy="0"/>
          </a:xfrm>
          <a:prstGeom prst="line">
            <a:avLst/>
          </a:prstGeom>
          <a:ln w="12700">
            <a:solidFill>
              <a:srgbClr val="855E26"/>
            </a:solidFill>
          </a:ln>
          <a:effectLst/>
        </p:spPr>
        <p:style>
          <a:lnRef idx="2">
            <a:schemeClr val="accent1"/>
          </a:lnRef>
          <a:fillRef idx="0">
            <a:schemeClr val="accent1"/>
          </a:fillRef>
          <a:effectRef idx="0">
            <a:schemeClr val="accent1"/>
          </a:effectRef>
          <a:fontRef idx="minor">
            <a:schemeClr val="tx1"/>
          </a:fontRef>
        </p:style>
      </p:cxnSp>
      <p:cxnSp>
        <p:nvCxnSpPr>
          <p:cNvPr id="18" name="path"/>
          <p:cNvCxnSpPr/>
          <p:nvPr/>
        </p:nvCxnSpPr>
        <p:spPr>
          <a:xfrm flipH="1" flipV="1">
            <a:off x="1170432" y="2487168"/>
            <a:ext cx="45720" cy="164591"/>
          </a:xfrm>
          <a:prstGeom prst="line">
            <a:avLst/>
          </a:prstGeom>
          <a:ln w="12700">
            <a:solidFill>
              <a:srgbClr val="855E26"/>
            </a:solidFill>
          </a:ln>
          <a:effectLst/>
        </p:spPr>
        <p:style>
          <a:lnRef idx="2">
            <a:schemeClr val="accent1"/>
          </a:lnRef>
          <a:fillRef idx="0">
            <a:schemeClr val="accent1"/>
          </a:fillRef>
          <a:effectRef idx="0">
            <a:schemeClr val="accent1"/>
          </a:effectRef>
          <a:fontRef idx="minor">
            <a:schemeClr val="tx1"/>
          </a:fontRef>
        </p:style>
      </p:cxnSp>
      <p:sp>
        <p:nvSpPr>
          <p:cNvPr id="19" name="benefit title"/>
          <p:cNvSpPr txBox="1"/>
          <p:nvPr/>
        </p:nvSpPr>
        <p:spPr>
          <a:xfrm>
            <a:off x="1444752" y="2313432"/>
            <a:ext cx="4361688" cy="365760"/>
          </a:xfrm>
          <a:prstGeom prst="rect">
            <a:avLst/>
          </a:prstGeom>
          <a:noFill/>
        </p:spPr>
        <p:txBody>
          <a:bodyPr wrap="square" lIns="0" rIns="0" tIns="17526" bIns="0" anchor="t">
            <a:noAutofit/>
          </a:bodyPr>
          <a:lstStyle/>
          <a:p>
            <a:pPr algn="l">
              <a:lnSpc>
                <a:spcPts val="2599"/>
              </a:lnSpc>
              <a:spcBef>
                <a:spcPts val="0"/>
              </a:spcBef>
              <a:spcAft>
                <a:spcPts val="0"/>
              </a:spcAft>
              <a:defRPr sz="2300">
                <a:latin typeface="Arial"/>
              </a:defRPr>
            </a:pPr>
            <a:r>
              <a:rPr sz="2300" b="1">
                <a:solidFill>
                  <a:srgbClr val="17302B"/>
                </a:solidFill>
                <a:latin typeface="Arial"/>
              </a:rPr>
              <a:t>Price discovery</a:t>
            </a:r>
          </a:p>
        </p:txBody>
      </p:sp>
      <p:sp>
        <p:nvSpPr>
          <p:cNvPr id="20" name="benefit explanation"/>
          <p:cNvSpPr txBox="1"/>
          <p:nvPr/>
        </p:nvSpPr>
        <p:spPr>
          <a:xfrm>
            <a:off x="1444752" y="2807208"/>
            <a:ext cx="4361688" cy="960120"/>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Prices reflect both bearish evidence and</a:t>
            </a:r>
          </a:p>
          <a:p>
            <a:pPr algn="l">
              <a:lnSpc>
                <a:spcPts val="2033"/>
              </a:lnSpc>
              <a:spcBef>
                <a:spcPts val="0"/>
              </a:spcBef>
              <a:spcAft>
                <a:spcPts val="0"/>
              </a:spcAft>
              <a:defRPr sz="1800">
                <a:latin typeface="Arial"/>
              </a:defRPr>
            </a:pPr>
            <a:r>
              <a:rPr sz="1800" b="0">
                <a:solidFill>
                  <a:srgbClr val="5E6B65"/>
                </a:solidFill>
                <a:latin typeface="Arial"/>
              </a:rPr>
              <a:t>turnaround hopes. GME faced digital</a:t>
            </a:r>
          </a:p>
          <a:p>
            <a:pPr algn="l">
              <a:lnSpc>
                <a:spcPts val="2033"/>
              </a:lnSpc>
              <a:spcBef>
                <a:spcPts val="0"/>
              </a:spcBef>
              <a:spcAft>
                <a:spcPts val="0"/>
              </a:spcAft>
              <a:defRPr sz="1800">
                <a:latin typeface="Arial"/>
              </a:defRPr>
            </a:pPr>
            <a:r>
              <a:rPr sz="1800" b="0">
                <a:solidFill>
                  <a:srgbClr val="5E6B65"/>
                </a:solidFill>
                <a:latin typeface="Arial"/>
              </a:rPr>
              <a:t>competition.</a:t>
            </a:r>
          </a:p>
        </p:txBody>
      </p:sp>
      <p:sp>
        <p:nvSpPr>
          <p:cNvPr id="21" name="circle"/>
          <p:cNvSpPr/>
          <p:nvPr/>
        </p:nvSpPr>
        <p:spPr>
          <a:xfrm>
            <a:off x="6473952" y="2340863"/>
            <a:ext cx="292608" cy="292608"/>
          </a:xfrm>
          <a:prstGeom prst="ellipse">
            <a:avLst/>
          </a:prstGeom>
          <a:noFill/>
          <a:ln w="12700">
            <a:solidFill>
              <a:srgbClr val="855E2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p:cNvCxnSpPr/>
          <p:nvPr/>
        </p:nvCxnSpPr>
        <p:spPr>
          <a:xfrm>
            <a:off x="6720840" y="2587751"/>
            <a:ext cx="173736" cy="182880"/>
          </a:xfrm>
          <a:prstGeom prst="line">
            <a:avLst/>
          </a:prstGeom>
          <a:ln w="22860">
            <a:solidFill>
              <a:srgbClr val="855E26"/>
            </a:solidFill>
          </a:ln>
          <a:effectLst/>
        </p:spPr>
        <p:style>
          <a:lnRef idx="2">
            <a:schemeClr val="accent1"/>
          </a:lnRef>
          <a:fillRef idx="0">
            <a:schemeClr val="accent1"/>
          </a:fillRef>
          <a:effectRef idx="0">
            <a:schemeClr val="accent1"/>
          </a:effectRef>
          <a:fontRef idx="minor">
            <a:schemeClr val="tx1"/>
          </a:fontRef>
        </p:style>
      </p:cxnSp>
      <p:sp>
        <p:nvSpPr>
          <p:cNvPr id="23" name="benefit title"/>
          <p:cNvSpPr txBox="1"/>
          <p:nvPr/>
        </p:nvSpPr>
        <p:spPr>
          <a:xfrm>
            <a:off x="7150608" y="2313432"/>
            <a:ext cx="4361688" cy="365760"/>
          </a:xfrm>
          <a:prstGeom prst="rect">
            <a:avLst/>
          </a:prstGeom>
          <a:noFill/>
        </p:spPr>
        <p:txBody>
          <a:bodyPr wrap="square" lIns="0" rIns="0" tIns="17526" bIns="0" anchor="t">
            <a:noAutofit/>
          </a:bodyPr>
          <a:lstStyle/>
          <a:p>
            <a:pPr algn="l">
              <a:lnSpc>
                <a:spcPts val="2599"/>
              </a:lnSpc>
              <a:spcBef>
                <a:spcPts val="0"/>
              </a:spcBef>
              <a:spcAft>
                <a:spcPts val="0"/>
              </a:spcAft>
              <a:defRPr sz="2300">
                <a:latin typeface="Arial"/>
              </a:defRPr>
            </a:pPr>
            <a:r>
              <a:rPr sz="2300" b="1">
                <a:solidFill>
                  <a:srgbClr val="17302B"/>
                </a:solidFill>
                <a:latin typeface="Arial"/>
              </a:rPr>
              <a:t>Company scrutiny</a:t>
            </a:r>
          </a:p>
        </p:txBody>
      </p:sp>
      <p:sp>
        <p:nvSpPr>
          <p:cNvPr id="24" name="benefit explanation"/>
          <p:cNvSpPr txBox="1"/>
          <p:nvPr/>
        </p:nvSpPr>
        <p:spPr>
          <a:xfrm>
            <a:off x="7150608" y="2807208"/>
            <a:ext cx="4361688" cy="960120"/>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Research can expose overvaluation or</a:t>
            </a:r>
          </a:p>
          <a:p>
            <a:pPr algn="l">
              <a:lnSpc>
                <a:spcPts val="2033"/>
              </a:lnSpc>
              <a:spcBef>
                <a:spcPts val="0"/>
              </a:spcBef>
              <a:spcAft>
                <a:spcPts val="0"/>
              </a:spcAft>
              <a:defRPr sz="1800">
                <a:latin typeface="Arial"/>
              </a:defRPr>
            </a:pPr>
            <a:r>
              <a:rPr sz="1800" b="0">
                <a:solidFill>
                  <a:srgbClr val="5E6B65"/>
                </a:solidFill>
                <a:latin typeface="Arial"/>
              </a:rPr>
              <a:t>fraud. Nikola: short report (2020), SEC</a:t>
            </a:r>
          </a:p>
          <a:p>
            <a:pPr algn="l">
              <a:lnSpc>
                <a:spcPts val="2033"/>
              </a:lnSpc>
              <a:spcBef>
                <a:spcPts val="0"/>
              </a:spcBef>
              <a:spcAft>
                <a:spcPts val="0"/>
              </a:spcAft>
              <a:defRPr sz="1800">
                <a:latin typeface="Arial"/>
              </a:defRPr>
            </a:pPr>
            <a:r>
              <a:rPr sz="1800" b="0">
                <a:solidFill>
                  <a:srgbClr val="5E6B65"/>
                </a:solidFill>
                <a:latin typeface="Arial"/>
              </a:rPr>
              <a:t>settlement (2021).</a:t>
            </a:r>
          </a:p>
        </p:txBody>
      </p:sp>
      <p:cxnSp>
        <p:nvCxnSpPr>
          <p:cNvPr id="25" name="connector"/>
          <p:cNvCxnSpPr/>
          <p:nvPr/>
        </p:nvCxnSpPr>
        <p:spPr>
          <a:xfrm>
            <a:off x="768096" y="4325112"/>
            <a:ext cx="420624" cy="0"/>
          </a:xfrm>
          <a:prstGeom prst="line">
            <a:avLst/>
          </a:prstGeom>
          <a:ln w="19050">
            <a:solidFill>
              <a:srgbClr val="855E26"/>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26" name="connector"/>
          <p:cNvCxnSpPr/>
          <p:nvPr/>
        </p:nvCxnSpPr>
        <p:spPr>
          <a:xfrm flipH="1">
            <a:off x="768096" y="4544568"/>
            <a:ext cx="420624" cy="0"/>
          </a:xfrm>
          <a:prstGeom prst="line">
            <a:avLst/>
          </a:prstGeom>
          <a:ln w="19050">
            <a:solidFill>
              <a:srgbClr val="855E26"/>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benefit title"/>
          <p:cNvSpPr txBox="1"/>
          <p:nvPr/>
        </p:nvSpPr>
        <p:spPr>
          <a:xfrm>
            <a:off x="1444752" y="4187952"/>
            <a:ext cx="4361688" cy="365760"/>
          </a:xfrm>
          <a:prstGeom prst="rect">
            <a:avLst/>
          </a:prstGeom>
          <a:noFill/>
        </p:spPr>
        <p:txBody>
          <a:bodyPr wrap="square" lIns="0" rIns="0" tIns="17526" bIns="0" anchor="t">
            <a:noAutofit/>
          </a:bodyPr>
          <a:lstStyle/>
          <a:p>
            <a:pPr algn="l">
              <a:lnSpc>
                <a:spcPts val="2599"/>
              </a:lnSpc>
              <a:spcBef>
                <a:spcPts val="0"/>
              </a:spcBef>
              <a:spcAft>
                <a:spcPts val="0"/>
              </a:spcAft>
              <a:defRPr sz="2300">
                <a:latin typeface="Arial"/>
              </a:defRPr>
            </a:pPr>
            <a:r>
              <a:rPr sz="2300" b="1">
                <a:solidFill>
                  <a:srgbClr val="17302B"/>
                </a:solidFill>
                <a:latin typeface="Arial"/>
              </a:rPr>
              <a:t>Liquidity</a:t>
            </a:r>
          </a:p>
        </p:txBody>
      </p:sp>
      <p:sp>
        <p:nvSpPr>
          <p:cNvPr id="28" name="benefit explanation"/>
          <p:cNvSpPr txBox="1"/>
          <p:nvPr/>
        </p:nvSpPr>
        <p:spPr>
          <a:xfrm>
            <a:off x="1444752" y="4681728"/>
            <a:ext cx="4361688" cy="960120"/>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Extra sellers provide counterparties when</a:t>
            </a:r>
          </a:p>
          <a:p>
            <a:pPr algn="l">
              <a:lnSpc>
                <a:spcPts val="2033"/>
              </a:lnSpc>
              <a:spcBef>
                <a:spcPts val="0"/>
              </a:spcBef>
              <a:spcAft>
                <a:spcPts val="0"/>
              </a:spcAft>
              <a:defRPr sz="1800">
                <a:latin typeface="Arial"/>
              </a:defRPr>
            </a:pPr>
            <a:r>
              <a:rPr sz="1800" b="0">
                <a:solidFill>
                  <a:srgbClr val="5E6B65"/>
                </a:solidFill>
                <a:latin typeface="Arial"/>
              </a:rPr>
              <a:t>buying demand rises.</a:t>
            </a:r>
          </a:p>
        </p:txBody>
      </p:sp>
      <p:sp>
        <p:nvSpPr>
          <p:cNvPr id="29" name="market discipline title"/>
          <p:cNvSpPr txBox="1"/>
          <p:nvPr/>
        </p:nvSpPr>
        <p:spPr>
          <a:xfrm>
            <a:off x="7168896" y="4187952"/>
            <a:ext cx="4297680" cy="365760"/>
          </a:xfrm>
          <a:prstGeom prst="rect">
            <a:avLst/>
          </a:prstGeom>
          <a:noFill/>
        </p:spPr>
        <p:txBody>
          <a:bodyPr wrap="square" lIns="0" rIns="0" tIns="17526" bIns="0" anchor="t">
            <a:noAutofit/>
          </a:bodyPr>
          <a:lstStyle/>
          <a:p>
            <a:pPr algn="l">
              <a:lnSpc>
                <a:spcPts val="2599"/>
              </a:lnSpc>
              <a:spcBef>
                <a:spcPts val="0"/>
              </a:spcBef>
              <a:spcAft>
                <a:spcPts val="0"/>
              </a:spcAft>
              <a:defRPr sz="2300">
                <a:latin typeface="Arial"/>
              </a:defRPr>
            </a:pPr>
            <a:r>
              <a:rPr sz="2300" b="1">
                <a:solidFill>
                  <a:srgbClr val="17302B"/>
                </a:solidFill>
                <a:latin typeface="Arial"/>
              </a:rPr>
              <a:t>Market discipline</a:t>
            </a:r>
          </a:p>
        </p:txBody>
      </p:sp>
      <p:sp>
        <p:nvSpPr>
          <p:cNvPr id="30" name="market discipline metric"/>
          <p:cNvSpPr txBox="1"/>
          <p:nvPr/>
        </p:nvSpPr>
        <p:spPr>
          <a:xfrm>
            <a:off x="6473952" y="4645152"/>
            <a:ext cx="1892807" cy="621792"/>
          </a:xfrm>
          <a:prstGeom prst="rect">
            <a:avLst/>
          </a:prstGeom>
          <a:noFill/>
        </p:spPr>
        <p:txBody>
          <a:bodyPr wrap="square" lIns="0" rIns="0" tIns="23622" bIns="0" anchor="t">
            <a:noAutofit/>
          </a:bodyPr>
          <a:lstStyle/>
          <a:p>
            <a:pPr algn="l">
              <a:lnSpc>
                <a:spcPts val="3502"/>
              </a:lnSpc>
              <a:spcBef>
                <a:spcPts val="0"/>
              </a:spcBef>
              <a:spcAft>
                <a:spcPts val="0"/>
              </a:spcAft>
              <a:defRPr sz="3100">
                <a:latin typeface="Arial"/>
              </a:defRPr>
            </a:pPr>
            <a:r>
              <a:rPr sz="3100" b="1">
                <a:solidFill>
                  <a:srgbClr val="855E26"/>
                </a:solidFill>
                <a:latin typeface="Arial"/>
              </a:rPr>
              <a:t>−54.4%</a:t>
            </a:r>
          </a:p>
        </p:txBody>
      </p:sp>
      <p:sp>
        <p:nvSpPr>
          <p:cNvPr id="31" name="market discipline detail"/>
          <p:cNvSpPr txBox="1"/>
          <p:nvPr/>
        </p:nvSpPr>
        <p:spPr>
          <a:xfrm>
            <a:off x="8805672" y="4663440"/>
            <a:ext cx="2523744" cy="685800"/>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Melvin’s January 2021</a:t>
            </a:r>
          </a:p>
          <a:p>
            <a:pPr algn="l">
              <a:lnSpc>
                <a:spcPts val="1807"/>
              </a:lnSpc>
              <a:spcBef>
                <a:spcPts val="0"/>
              </a:spcBef>
              <a:spcAft>
                <a:spcPts val="0"/>
              </a:spcAft>
              <a:defRPr sz="1600">
                <a:latin typeface="Arial"/>
              </a:defRPr>
            </a:pPr>
            <a:r>
              <a:rPr sz="1600" b="0">
                <a:solidFill>
                  <a:srgbClr val="5E6B65"/>
                </a:solidFill>
                <a:latin typeface="Arial"/>
              </a:rPr>
              <a:t>return. Short sellers bear</a:t>
            </a:r>
          </a:p>
          <a:p>
            <a:pPr algn="l">
              <a:lnSpc>
                <a:spcPts val="1807"/>
              </a:lnSpc>
              <a:spcBef>
                <a:spcPts val="0"/>
              </a:spcBef>
              <a:spcAft>
                <a:spcPts val="0"/>
              </a:spcAft>
              <a:defRPr sz="1600">
                <a:latin typeface="Arial"/>
              </a:defRPr>
            </a:pPr>
            <a:r>
              <a:rPr sz="1600" b="0">
                <a:solidFill>
                  <a:srgbClr val="5E6B65"/>
                </a:solidFill>
                <a:latin typeface="Arial"/>
              </a:rPr>
              <a:t>losses.</a:t>
            </a:r>
          </a:p>
        </p:txBody>
      </p:sp>
      <p:sp>
        <p:nvSpPr>
          <p:cNvPr id="32" name="conclusion mark"/>
          <p:cNvSpPr/>
          <p:nvPr/>
        </p:nvSpPr>
        <p:spPr>
          <a:xfrm>
            <a:off x="658368" y="5861304"/>
            <a:ext cx="50292" cy="365760"/>
          </a:xfrm>
          <a:prstGeom prst="rect">
            <a:avLst/>
          </a:prstGeom>
          <a:solidFill>
            <a:srgbClr val="855E2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akeaway"/>
          <p:cNvSpPr txBox="1"/>
          <p:nvPr/>
        </p:nvSpPr>
        <p:spPr>
          <a:xfrm>
            <a:off x="877824" y="5833872"/>
            <a:ext cx="10561320" cy="493776"/>
          </a:xfrm>
          <a:prstGeom prst="rect">
            <a:avLst/>
          </a:prstGeom>
          <a:noFill/>
        </p:spPr>
        <p:txBody>
          <a:bodyPr wrap="square" lIns="0" rIns="0" tIns="16763" bIns="0" anchor="t">
            <a:noAutofit/>
          </a:bodyPr>
          <a:lstStyle/>
          <a:p>
            <a:pPr algn="l">
              <a:lnSpc>
                <a:spcPts val="2420"/>
              </a:lnSpc>
              <a:spcBef>
                <a:spcPts val="0"/>
              </a:spcBef>
              <a:spcAft>
                <a:spcPts val="0"/>
              </a:spcAft>
              <a:defRPr sz="2200">
                <a:latin typeface="Arial"/>
              </a:defRPr>
            </a:pPr>
            <a:r>
              <a:rPr sz="2200" b="1">
                <a:solidFill>
                  <a:srgbClr val="17302B"/>
                </a:solidFill>
                <a:latin typeface="Arial"/>
              </a:rPr>
              <a:t>Buyer protection includes access to negative information.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Peng Jiayi</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10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Q2 / OUR VIEW</a:t>
            </a:r>
          </a:p>
        </p:txBody>
      </p:sp>
      <p:sp>
        <p:nvSpPr>
          <p:cNvPr id="7" name="slide title"/>
          <p:cNvSpPr txBox="1"/>
          <p:nvPr/>
        </p:nvSpPr>
        <p:spPr>
          <a:xfrm>
            <a:off x="658368" y="859536"/>
            <a:ext cx="10835640" cy="676656"/>
          </a:xfrm>
          <a:prstGeom prst="rect">
            <a:avLst/>
          </a:prstGeom>
          <a:noFill/>
        </p:spPr>
        <p:txBody>
          <a:bodyPr wrap="square" lIns="0" rIns="0" tIns="26670" bIns="0" anchor="t">
            <a:noAutofit/>
          </a:bodyPr>
          <a:lstStyle/>
          <a:p>
            <a:pPr algn="l">
              <a:lnSpc>
                <a:spcPts val="3745"/>
              </a:lnSpc>
              <a:spcBef>
                <a:spcPts val="0"/>
              </a:spcBef>
              <a:spcAft>
                <a:spcPts val="0"/>
              </a:spcAft>
              <a:defRPr sz="3500">
                <a:latin typeface="Arial"/>
              </a:defRPr>
            </a:pPr>
            <a:r>
              <a:rPr sz="3500" b="1">
                <a:solidFill>
                  <a:srgbClr val="17302B"/>
                </a:solidFill>
                <a:latin typeface="Arial"/>
              </a:rPr>
              <a:t>Keep short selling. Control excessive risk.</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Safeguards should reflect crowding, leverage and how hard a position is to exit.</a:t>
            </a:r>
          </a:p>
        </p:txBody>
      </p:sp>
      <p:sp>
        <p:nvSpPr>
          <p:cNvPr id="9" name="eyebrow"/>
          <p:cNvSpPr txBox="1"/>
          <p:nvPr/>
        </p:nvSpPr>
        <p:spPr>
          <a:xfrm>
            <a:off x="713232" y="2276856"/>
            <a:ext cx="33375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KEEP</a:t>
            </a:r>
          </a:p>
        </p:txBody>
      </p:sp>
      <p:sp>
        <p:nvSpPr>
          <p:cNvPr id="10" name="policy action"/>
          <p:cNvSpPr txBox="1"/>
          <p:nvPr/>
        </p:nvSpPr>
        <p:spPr>
          <a:xfrm>
            <a:off x="713232" y="2770632"/>
            <a:ext cx="3273552" cy="914400"/>
          </a:xfrm>
          <a:prstGeom prst="rect">
            <a:avLst/>
          </a:prstGeom>
          <a:noFill/>
        </p:spPr>
        <p:txBody>
          <a:bodyPr wrap="square" lIns="0" rIns="0" tIns="19050" bIns="0" anchor="t">
            <a:noAutofit/>
          </a:bodyPr>
          <a:lstStyle/>
          <a:p>
            <a:pPr algn="l">
              <a:lnSpc>
                <a:spcPts val="2849"/>
              </a:lnSpc>
              <a:spcBef>
                <a:spcPts val="0"/>
              </a:spcBef>
              <a:spcAft>
                <a:spcPts val="0"/>
              </a:spcAft>
              <a:defRPr sz="2500">
                <a:latin typeface="Arial"/>
              </a:defRPr>
            </a:pPr>
            <a:r>
              <a:rPr sz="2500" b="1">
                <a:solidFill>
                  <a:srgbClr val="17302B"/>
                </a:solidFill>
                <a:latin typeface="Arial"/>
              </a:rPr>
              <a:t>Price discovery</a:t>
            </a:r>
          </a:p>
          <a:p>
            <a:pPr algn="l">
              <a:lnSpc>
                <a:spcPts val="2849"/>
              </a:lnSpc>
              <a:spcBef>
                <a:spcPts val="0"/>
              </a:spcBef>
              <a:spcAft>
                <a:spcPts val="0"/>
              </a:spcAft>
              <a:defRPr sz="2500">
                <a:latin typeface="Arial"/>
              </a:defRPr>
            </a:pPr>
            <a:r>
              <a:rPr sz="2500" b="1">
                <a:solidFill>
                  <a:srgbClr val="17302B"/>
                </a:solidFill>
                <a:latin typeface="Arial"/>
              </a:rPr>
              <a:t>and liquidity</a:t>
            </a:r>
          </a:p>
        </p:txBody>
      </p:sp>
      <p:sp>
        <p:nvSpPr>
          <p:cNvPr id="11" name="policy explanation"/>
          <p:cNvSpPr txBox="1"/>
          <p:nvPr/>
        </p:nvSpPr>
        <p:spPr>
          <a:xfrm>
            <a:off x="713232" y="3840480"/>
            <a:ext cx="3273552" cy="102412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Investors need evidence from</a:t>
            </a:r>
          </a:p>
          <a:p>
            <a:pPr algn="l">
              <a:lnSpc>
                <a:spcPts val="2033"/>
              </a:lnSpc>
              <a:spcBef>
                <a:spcPts val="0"/>
              </a:spcBef>
              <a:spcAft>
                <a:spcPts val="0"/>
              </a:spcAft>
              <a:defRPr sz="1800">
                <a:latin typeface="Arial"/>
              </a:defRPr>
            </a:pPr>
            <a:r>
              <a:rPr sz="1800" b="0">
                <a:solidFill>
                  <a:srgbClr val="5E6B65"/>
                </a:solidFill>
                <a:latin typeface="Arial"/>
              </a:rPr>
              <a:t>both bullish and bearish views.</a:t>
            </a:r>
          </a:p>
        </p:txBody>
      </p:sp>
      <p:sp>
        <p:nvSpPr>
          <p:cNvPr id="12" name="eyebrow"/>
          <p:cNvSpPr txBox="1"/>
          <p:nvPr/>
        </p:nvSpPr>
        <p:spPr>
          <a:xfrm>
            <a:off x="4407408" y="2276856"/>
            <a:ext cx="33375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ADD</a:t>
            </a:r>
          </a:p>
        </p:txBody>
      </p:sp>
      <p:sp>
        <p:nvSpPr>
          <p:cNvPr id="13" name="policy action"/>
          <p:cNvSpPr txBox="1"/>
          <p:nvPr/>
        </p:nvSpPr>
        <p:spPr>
          <a:xfrm>
            <a:off x="4407408" y="2770632"/>
            <a:ext cx="3273552" cy="914400"/>
          </a:xfrm>
          <a:prstGeom prst="rect">
            <a:avLst/>
          </a:prstGeom>
          <a:noFill/>
        </p:spPr>
        <p:txBody>
          <a:bodyPr wrap="square" lIns="0" rIns="0" tIns="19050" bIns="0" anchor="t">
            <a:noAutofit/>
          </a:bodyPr>
          <a:lstStyle/>
          <a:p>
            <a:pPr algn="l">
              <a:lnSpc>
                <a:spcPts val="2849"/>
              </a:lnSpc>
              <a:spcBef>
                <a:spcPts val="0"/>
              </a:spcBef>
              <a:spcAft>
                <a:spcPts val="0"/>
              </a:spcAft>
              <a:defRPr sz="2500">
                <a:latin typeface="Arial"/>
              </a:defRPr>
            </a:pPr>
            <a:r>
              <a:rPr sz="2500" b="1">
                <a:solidFill>
                  <a:srgbClr val="17302B"/>
                </a:solidFill>
                <a:latin typeface="Arial"/>
              </a:rPr>
              <a:t>Disclosure and</a:t>
            </a:r>
          </a:p>
          <a:p>
            <a:pPr algn="l">
              <a:lnSpc>
                <a:spcPts val="2849"/>
              </a:lnSpc>
              <a:spcBef>
                <a:spcPts val="0"/>
              </a:spcBef>
              <a:spcAft>
                <a:spcPts val="0"/>
              </a:spcAft>
              <a:defRPr sz="2500">
                <a:latin typeface="Arial"/>
              </a:defRPr>
            </a:pPr>
            <a:r>
              <a:rPr sz="2500" b="1">
                <a:solidFill>
                  <a:srgbClr val="17302B"/>
                </a:solidFill>
                <a:latin typeface="Arial"/>
              </a:rPr>
              <a:t>risk-based limits</a:t>
            </a:r>
          </a:p>
        </p:txBody>
      </p:sp>
      <p:sp>
        <p:nvSpPr>
          <p:cNvPr id="14" name="policy explanation"/>
          <p:cNvSpPr txBox="1"/>
          <p:nvPr/>
        </p:nvSpPr>
        <p:spPr>
          <a:xfrm>
            <a:off x="4407408" y="3840480"/>
            <a:ext cx="3273552" cy="102412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Report large positions. Check</a:t>
            </a:r>
          </a:p>
          <a:p>
            <a:pPr algn="l">
              <a:lnSpc>
                <a:spcPts val="2033"/>
              </a:lnSpc>
              <a:spcBef>
                <a:spcPts val="0"/>
              </a:spcBef>
              <a:spcAft>
                <a:spcPts val="0"/>
              </a:spcAft>
              <a:defRPr sz="1800">
                <a:latin typeface="Arial"/>
              </a:defRPr>
            </a:pPr>
            <a:r>
              <a:rPr sz="1800" b="0">
                <a:solidFill>
                  <a:srgbClr val="5E6B65"/>
                </a:solidFill>
                <a:latin typeface="Arial"/>
              </a:rPr>
              <a:t>the ability to meet margin calls.</a:t>
            </a:r>
          </a:p>
        </p:txBody>
      </p:sp>
      <p:sp>
        <p:nvSpPr>
          <p:cNvPr id="15" name="eyebrow"/>
          <p:cNvSpPr txBox="1"/>
          <p:nvPr/>
        </p:nvSpPr>
        <p:spPr>
          <a:xfrm>
            <a:off x="8101583" y="2276856"/>
            <a:ext cx="33375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WATCH</a:t>
            </a:r>
          </a:p>
        </p:txBody>
      </p:sp>
      <p:sp>
        <p:nvSpPr>
          <p:cNvPr id="16" name="policy action"/>
          <p:cNvSpPr txBox="1"/>
          <p:nvPr/>
        </p:nvSpPr>
        <p:spPr>
          <a:xfrm>
            <a:off x="8101583" y="2770632"/>
            <a:ext cx="3273552" cy="914400"/>
          </a:xfrm>
          <a:prstGeom prst="rect">
            <a:avLst/>
          </a:prstGeom>
          <a:noFill/>
        </p:spPr>
        <p:txBody>
          <a:bodyPr wrap="square" lIns="0" rIns="0" tIns="19050" bIns="0" anchor="t">
            <a:noAutofit/>
          </a:bodyPr>
          <a:lstStyle/>
          <a:p>
            <a:pPr algn="l">
              <a:lnSpc>
                <a:spcPts val="2849"/>
              </a:lnSpc>
              <a:spcBef>
                <a:spcPts val="0"/>
              </a:spcBef>
              <a:spcAft>
                <a:spcPts val="0"/>
              </a:spcAft>
              <a:defRPr sz="2500">
                <a:latin typeface="Arial"/>
              </a:defRPr>
            </a:pPr>
            <a:r>
              <a:rPr sz="2500" b="1">
                <a:solidFill>
                  <a:srgbClr val="17302B"/>
                </a:solidFill>
                <a:latin typeface="Arial"/>
              </a:rPr>
              <a:t>Crowded trades</a:t>
            </a:r>
          </a:p>
          <a:p>
            <a:pPr algn="l">
              <a:lnSpc>
                <a:spcPts val="2849"/>
              </a:lnSpc>
              <a:spcBef>
                <a:spcPts val="0"/>
              </a:spcBef>
              <a:spcAft>
                <a:spcPts val="0"/>
              </a:spcAft>
              <a:defRPr sz="2500">
                <a:latin typeface="Arial"/>
              </a:defRPr>
            </a:pPr>
            <a:r>
              <a:rPr sz="2500" b="1">
                <a:solidFill>
                  <a:srgbClr val="17302B"/>
                </a:solidFill>
                <a:latin typeface="Arial"/>
              </a:rPr>
              <a:t>on both sides</a:t>
            </a:r>
          </a:p>
        </p:txBody>
      </p:sp>
      <p:sp>
        <p:nvSpPr>
          <p:cNvPr id="17" name="policy explanation"/>
          <p:cNvSpPr txBox="1"/>
          <p:nvPr/>
        </p:nvSpPr>
        <p:spPr>
          <a:xfrm>
            <a:off x="8101583" y="3840480"/>
            <a:ext cx="3273552" cy="102412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GME short interest reached</a:t>
            </a:r>
          </a:p>
          <a:p>
            <a:pPr algn="l">
              <a:lnSpc>
                <a:spcPts val="2033"/>
              </a:lnSpc>
              <a:spcBef>
                <a:spcPts val="0"/>
              </a:spcBef>
              <a:spcAft>
                <a:spcPts val="0"/>
              </a:spcAft>
              <a:defRPr sz="1800">
                <a:latin typeface="Arial"/>
              </a:defRPr>
            </a:pPr>
            <a:r>
              <a:rPr sz="1800" b="0">
                <a:solidFill>
                  <a:srgbClr val="5E6B65"/>
                </a:solidFill>
                <a:latin typeface="Arial"/>
              </a:rPr>
              <a:t>102.1% of public free float on</a:t>
            </a:r>
          </a:p>
          <a:p>
            <a:pPr algn="l">
              <a:lnSpc>
                <a:spcPts val="2033"/>
              </a:lnSpc>
              <a:spcBef>
                <a:spcPts val="0"/>
              </a:spcBef>
              <a:spcAft>
                <a:spcPts val="0"/>
              </a:spcAft>
              <a:defRPr sz="1800">
                <a:latin typeface="Arial"/>
              </a:defRPr>
            </a:pPr>
            <a:r>
              <a:rPr sz="1800" b="0">
                <a:solidFill>
                  <a:srgbClr val="5E6B65"/>
                </a:solidFill>
                <a:latin typeface="Arial"/>
              </a:rPr>
              <a:t>15 January 2021.</a:t>
            </a:r>
          </a:p>
        </p:txBody>
      </p:sp>
      <p:sp>
        <p:nvSpPr>
          <p:cNvPr id="18" name="verdict surface"/>
          <p:cNvSpPr/>
          <p:nvPr/>
        </p:nvSpPr>
        <p:spPr>
          <a:xfrm>
            <a:off x="658368" y="5120640"/>
            <a:ext cx="10881360" cy="1005840"/>
          </a:xfrm>
          <a:prstGeom prst="rect">
            <a:avLst/>
          </a:prstGeom>
          <a:solidFill>
            <a:srgbClr val="F4EDD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eyebrow"/>
          <p:cNvSpPr txBox="1"/>
          <p:nvPr/>
        </p:nvSpPr>
        <p:spPr>
          <a:xfrm>
            <a:off x="877824" y="5303520"/>
            <a:ext cx="20116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855E26"/>
                </a:solidFill>
                <a:latin typeface="Arial"/>
              </a:rPr>
              <a:t>OUR VERDICT</a:t>
            </a:r>
          </a:p>
        </p:txBody>
      </p:sp>
      <p:sp>
        <p:nvSpPr>
          <p:cNvPr id="20" name="group verdict"/>
          <p:cNvSpPr txBox="1"/>
          <p:nvPr/>
        </p:nvSpPr>
        <p:spPr>
          <a:xfrm>
            <a:off x="2953512" y="5321808"/>
            <a:ext cx="8266175" cy="685800"/>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17302B"/>
                </a:solidFill>
                <a:latin typeface="Arial"/>
              </a:rPr>
              <a:t>Controls matched to risk—not a blanket ban.</a:t>
            </a:r>
          </a:p>
          <a:p>
            <a:pPr algn="l">
              <a:lnSpc>
                <a:spcPts val="2372"/>
              </a:lnSpc>
              <a:spcBef>
                <a:spcPts val="0"/>
              </a:spcBef>
              <a:spcAft>
                <a:spcPts val="0"/>
              </a:spcAft>
              <a:defRPr sz="2100">
                <a:latin typeface="Arial"/>
              </a:defRPr>
            </a:pPr>
            <a:r>
              <a:rPr sz="2100" b="1">
                <a:solidFill>
                  <a:srgbClr val="17302B"/>
                </a:solidFill>
                <a:latin typeface="Arial"/>
              </a:rPr>
              <a:t>Tighter limits when leverage and exit difficulty increase.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Case: Yeo, Yue &amp; Lee (2023)  /  Financing: Robinhood (1 Feb 2021)</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Li Gaojie</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11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D607B"/>
                </a:solidFill>
                <a:latin typeface="Arial"/>
              </a:rPr>
              <a:t>Q3 / SUPPORTING VIEW</a:t>
            </a:r>
          </a:p>
        </p:txBody>
      </p:sp>
      <p:sp>
        <p:nvSpPr>
          <p:cNvPr id="7" name="slide title"/>
          <p:cNvSpPr txBox="1"/>
          <p:nvPr/>
        </p:nvSpPr>
        <p:spPr>
          <a:xfrm>
            <a:off x="658368" y="859536"/>
            <a:ext cx="10835640" cy="676656"/>
          </a:xfrm>
          <a:prstGeom prst="rect">
            <a:avLst/>
          </a:prstGeom>
          <a:noFill/>
        </p:spPr>
        <p:txBody>
          <a:bodyPr wrap="square" lIns="0" rIns="0" tIns="26670" bIns="0" anchor="t">
            <a:noAutofit/>
          </a:bodyPr>
          <a:lstStyle/>
          <a:p>
            <a:pPr algn="l">
              <a:lnSpc>
                <a:spcPts val="3745"/>
              </a:lnSpc>
              <a:spcBef>
                <a:spcPts val="0"/>
              </a:spcBef>
              <a:spcAft>
                <a:spcPts val="0"/>
              </a:spcAft>
              <a:defRPr sz="3500">
                <a:latin typeface="Arial"/>
              </a:defRPr>
            </a:pPr>
            <a:r>
              <a:rPr sz="3500" b="1">
                <a:solidFill>
                  <a:srgbClr val="17302B"/>
                </a:solidFill>
                <a:latin typeface="Arial"/>
              </a:rPr>
              <a:t>Robinhood faced a settlement cash squeeze</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An emergency limit had a funding rationale.</a:t>
            </a:r>
          </a:p>
        </p:txBody>
      </p:sp>
      <p:cxnSp>
        <p:nvCxnSpPr>
          <p:cNvPr id="9" name="settlement route"/>
          <p:cNvCxnSpPr/>
          <p:nvPr/>
        </p:nvCxnSpPr>
        <p:spPr>
          <a:xfrm>
            <a:off x="1033271" y="2569464"/>
            <a:ext cx="8257033" cy="0"/>
          </a:xfrm>
          <a:prstGeom prst="line">
            <a:avLst/>
          </a:prstGeom>
          <a:ln w="19050">
            <a:solidFill>
              <a:srgbClr val="B6C9D5"/>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0" name="circle"/>
          <p:cNvSpPr/>
          <p:nvPr/>
        </p:nvSpPr>
        <p:spPr>
          <a:xfrm>
            <a:off x="822960" y="2368296"/>
            <a:ext cx="420624" cy="420624"/>
          </a:xfrm>
          <a:prstGeom prst="ellipse">
            <a:avLst/>
          </a:prstGeom>
          <a:solidFill>
            <a:srgbClr val="EAF0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step number"/>
          <p:cNvSpPr txBox="1"/>
          <p:nvPr/>
        </p:nvSpPr>
        <p:spPr>
          <a:xfrm>
            <a:off x="822960" y="2427732"/>
            <a:ext cx="420624" cy="228600"/>
          </a:xfrm>
          <a:prstGeom prst="rect">
            <a:avLst/>
          </a:prstGeom>
          <a:noFill/>
        </p:spPr>
        <p:txBody>
          <a:bodyPr wrap="square" lIns="0" rIns="0" tIns="9525" bIns="0" anchor="t">
            <a:noAutofit/>
          </a:bodyPr>
          <a:lstStyle/>
          <a:p>
            <a:pPr algn="ctr">
              <a:lnSpc>
                <a:spcPts val="1412"/>
              </a:lnSpc>
              <a:spcBef>
                <a:spcPts val="0"/>
              </a:spcBef>
              <a:spcAft>
                <a:spcPts val="0"/>
              </a:spcAft>
              <a:defRPr sz="1250">
                <a:latin typeface="Arial"/>
              </a:defRPr>
            </a:pPr>
            <a:r>
              <a:rPr sz="1250" b="1">
                <a:solidFill>
                  <a:srgbClr val="2D607B"/>
                </a:solidFill>
                <a:latin typeface="Arial"/>
              </a:rPr>
              <a:t>1</a:t>
            </a:r>
          </a:p>
        </p:txBody>
      </p:sp>
      <p:sp>
        <p:nvSpPr>
          <p:cNvPr id="12" name="settlement stage"/>
          <p:cNvSpPr txBox="1"/>
          <p:nvPr/>
        </p:nvSpPr>
        <p:spPr>
          <a:xfrm>
            <a:off x="822960" y="2990088"/>
            <a:ext cx="2359152" cy="37490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Buy order</a:t>
            </a:r>
          </a:p>
        </p:txBody>
      </p:sp>
      <p:sp>
        <p:nvSpPr>
          <p:cNvPr id="13" name="settlement explanation"/>
          <p:cNvSpPr txBox="1"/>
          <p:nvPr/>
        </p:nvSpPr>
        <p:spPr>
          <a:xfrm>
            <a:off x="822960" y="3511296"/>
            <a:ext cx="2350008" cy="1170432"/>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The app confirms a</a:t>
            </a:r>
          </a:p>
          <a:p>
            <a:pPr algn="l">
              <a:lnSpc>
                <a:spcPts val="2033"/>
              </a:lnSpc>
              <a:spcBef>
                <a:spcPts val="0"/>
              </a:spcBef>
              <a:spcAft>
                <a:spcPts val="0"/>
              </a:spcAft>
              <a:defRPr sz="1800">
                <a:latin typeface="Arial"/>
              </a:defRPr>
            </a:pPr>
            <a:r>
              <a:rPr sz="1800" b="0">
                <a:solidFill>
                  <a:srgbClr val="5E6B65"/>
                </a:solidFill>
                <a:latin typeface="Arial"/>
              </a:rPr>
              <a:t>GME purchase</a:t>
            </a:r>
          </a:p>
          <a:p>
            <a:pPr algn="l">
              <a:lnSpc>
                <a:spcPts val="2033"/>
              </a:lnSpc>
              <a:spcBef>
                <a:spcPts val="0"/>
              </a:spcBef>
              <a:spcAft>
                <a:spcPts val="0"/>
              </a:spcAft>
              <a:defRPr sz="1800">
                <a:latin typeface="Arial"/>
              </a:defRPr>
            </a:pPr>
            <a:r>
              <a:rPr sz="1800" b="0">
                <a:solidFill>
                  <a:srgbClr val="5E6B65"/>
                </a:solidFill>
                <a:latin typeface="Arial"/>
              </a:rPr>
              <a:t>immediately.</a:t>
            </a:r>
          </a:p>
        </p:txBody>
      </p:sp>
      <p:sp>
        <p:nvSpPr>
          <p:cNvPr id="14" name="circle"/>
          <p:cNvSpPr/>
          <p:nvPr/>
        </p:nvSpPr>
        <p:spPr>
          <a:xfrm>
            <a:off x="3575304" y="2368296"/>
            <a:ext cx="420624" cy="420624"/>
          </a:xfrm>
          <a:prstGeom prst="ellipse">
            <a:avLst/>
          </a:prstGeom>
          <a:solidFill>
            <a:srgbClr val="EAF0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step number"/>
          <p:cNvSpPr txBox="1"/>
          <p:nvPr/>
        </p:nvSpPr>
        <p:spPr>
          <a:xfrm>
            <a:off x="3575304" y="2427732"/>
            <a:ext cx="420624" cy="228600"/>
          </a:xfrm>
          <a:prstGeom prst="rect">
            <a:avLst/>
          </a:prstGeom>
          <a:noFill/>
        </p:spPr>
        <p:txBody>
          <a:bodyPr wrap="square" lIns="0" rIns="0" tIns="9525" bIns="0" anchor="t">
            <a:noAutofit/>
          </a:bodyPr>
          <a:lstStyle/>
          <a:p>
            <a:pPr algn="ctr">
              <a:lnSpc>
                <a:spcPts val="1412"/>
              </a:lnSpc>
              <a:spcBef>
                <a:spcPts val="0"/>
              </a:spcBef>
              <a:spcAft>
                <a:spcPts val="0"/>
              </a:spcAft>
              <a:defRPr sz="1250">
                <a:latin typeface="Arial"/>
              </a:defRPr>
            </a:pPr>
            <a:r>
              <a:rPr sz="1250" b="1">
                <a:solidFill>
                  <a:srgbClr val="2D607B"/>
                </a:solidFill>
                <a:latin typeface="Arial"/>
              </a:rPr>
              <a:t>2</a:t>
            </a:r>
          </a:p>
        </p:txBody>
      </p:sp>
      <p:sp>
        <p:nvSpPr>
          <p:cNvPr id="16" name="settlement stage"/>
          <p:cNvSpPr txBox="1"/>
          <p:nvPr/>
        </p:nvSpPr>
        <p:spPr>
          <a:xfrm>
            <a:off x="3575304" y="2990088"/>
            <a:ext cx="2359152" cy="37490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Settlement</a:t>
            </a:r>
          </a:p>
        </p:txBody>
      </p:sp>
      <p:sp>
        <p:nvSpPr>
          <p:cNvPr id="17" name="settlement explanation"/>
          <p:cNvSpPr txBox="1"/>
          <p:nvPr/>
        </p:nvSpPr>
        <p:spPr>
          <a:xfrm>
            <a:off x="3575304" y="3511296"/>
            <a:ext cx="2350008" cy="1170432"/>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Cash and shares</a:t>
            </a:r>
          </a:p>
          <a:p>
            <a:pPr algn="l">
              <a:lnSpc>
                <a:spcPts val="2033"/>
              </a:lnSpc>
              <a:spcBef>
                <a:spcPts val="0"/>
              </a:spcBef>
              <a:spcAft>
                <a:spcPts val="0"/>
              </a:spcAft>
              <a:defRPr sz="1800">
                <a:latin typeface="Arial"/>
              </a:defRPr>
            </a:pPr>
            <a:r>
              <a:rPr sz="1800" b="0">
                <a:solidFill>
                  <a:srgbClr val="5E6B65"/>
                </a:solidFill>
                <a:latin typeface="Arial"/>
              </a:rPr>
              <a:t>transfer later—like</a:t>
            </a:r>
          </a:p>
          <a:p>
            <a:pPr algn="l">
              <a:lnSpc>
                <a:spcPts val="2033"/>
              </a:lnSpc>
              <a:spcBef>
                <a:spcPts val="0"/>
              </a:spcBef>
              <a:spcAft>
                <a:spcPts val="0"/>
              </a:spcAft>
              <a:defRPr sz="1800">
                <a:latin typeface="Arial"/>
              </a:defRPr>
            </a:pPr>
            <a:r>
              <a:rPr sz="1800" b="0">
                <a:solidFill>
                  <a:srgbClr val="5E6B65"/>
                </a:solidFill>
                <a:latin typeface="Arial"/>
              </a:rPr>
              <a:t>credit-card settlement.</a:t>
            </a:r>
          </a:p>
        </p:txBody>
      </p:sp>
      <p:sp>
        <p:nvSpPr>
          <p:cNvPr id="18" name="circle"/>
          <p:cNvSpPr/>
          <p:nvPr/>
        </p:nvSpPr>
        <p:spPr>
          <a:xfrm>
            <a:off x="6327648" y="2368296"/>
            <a:ext cx="420624" cy="420624"/>
          </a:xfrm>
          <a:prstGeom prst="ellipse">
            <a:avLst/>
          </a:prstGeom>
          <a:solidFill>
            <a:srgbClr val="EAF0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step number"/>
          <p:cNvSpPr txBox="1"/>
          <p:nvPr/>
        </p:nvSpPr>
        <p:spPr>
          <a:xfrm>
            <a:off x="6327648" y="2427732"/>
            <a:ext cx="420624" cy="228600"/>
          </a:xfrm>
          <a:prstGeom prst="rect">
            <a:avLst/>
          </a:prstGeom>
          <a:noFill/>
        </p:spPr>
        <p:txBody>
          <a:bodyPr wrap="square" lIns="0" rIns="0" tIns="9525" bIns="0" anchor="t">
            <a:noAutofit/>
          </a:bodyPr>
          <a:lstStyle/>
          <a:p>
            <a:pPr algn="ctr">
              <a:lnSpc>
                <a:spcPts val="1412"/>
              </a:lnSpc>
              <a:spcBef>
                <a:spcPts val="0"/>
              </a:spcBef>
              <a:spcAft>
                <a:spcPts val="0"/>
              </a:spcAft>
              <a:defRPr sz="1250">
                <a:latin typeface="Arial"/>
              </a:defRPr>
            </a:pPr>
            <a:r>
              <a:rPr sz="1250" b="1">
                <a:solidFill>
                  <a:srgbClr val="2D607B"/>
                </a:solidFill>
                <a:latin typeface="Arial"/>
              </a:rPr>
              <a:t>3</a:t>
            </a:r>
          </a:p>
        </p:txBody>
      </p:sp>
      <p:sp>
        <p:nvSpPr>
          <p:cNvPr id="20" name="settlement stage"/>
          <p:cNvSpPr txBox="1"/>
          <p:nvPr/>
        </p:nvSpPr>
        <p:spPr>
          <a:xfrm>
            <a:off x="6327648" y="2990088"/>
            <a:ext cx="2359152" cy="37490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Cash deposit</a:t>
            </a:r>
          </a:p>
        </p:txBody>
      </p:sp>
      <p:sp>
        <p:nvSpPr>
          <p:cNvPr id="21" name="settlement explanation"/>
          <p:cNvSpPr txBox="1"/>
          <p:nvPr/>
        </p:nvSpPr>
        <p:spPr>
          <a:xfrm>
            <a:off x="6327648" y="3511296"/>
            <a:ext cx="2350008" cy="1170432"/>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The clearinghouse</a:t>
            </a:r>
          </a:p>
          <a:p>
            <a:pPr algn="l">
              <a:lnSpc>
                <a:spcPts val="2033"/>
              </a:lnSpc>
              <a:spcBef>
                <a:spcPts val="0"/>
              </a:spcBef>
              <a:spcAft>
                <a:spcPts val="0"/>
              </a:spcAft>
              <a:defRPr sz="1800">
                <a:latin typeface="Arial"/>
              </a:defRPr>
            </a:pPr>
            <a:r>
              <a:rPr sz="1800" b="0">
                <a:solidFill>
                  <a:srgbClr val="5E6B65"/>
                </a:solidFill>
                <a:latin typeface="Arial"/>
              </a:rPr>
              <a:t>requires Robinhood to</a:t>
            </a:r>
          </a:p>
          <a:p>
            <a:pPr algn="l">
              <a:lnSpc>
                <a:spcPts val="2033"/>
              </a:lnSpc>
              <a:spcBef>
                <a:spcPts val="0"/>
              </a:spcBef>
              <a:spcAft>
                <a:spcPts val="0"/>
              </a:spcAft>
              <a:defRPr sz="1800">
                <a:latin typeface="Arial"/>
              </a:defRPr>
            </a:pPr>
            <a:r>
              <a:rPr sz="1800" b="0">
                <a:solidFill>
                  <a:srgbClr val="5E6B65"/>
                </a:solidFill>
                <a:latin typeface="Arial"/>
              </a:rPr>
              <a:t>post more cash.</a:t>
            </a:r>
          </a:p>
        </p:txBody>
      </p:sp>
      <p:sp>
        <p:nvSpPr>
          <p:cNvPr id="22" name="circle"/>
          <p:cNvSpPr/>
          <p:nvPr/>
        </p:nvSpPr>
        <p:spPr>
          <a:xfrm>
            <a:off x="9079992" y="2368296"/>
            <a:ext cx="420624" cy="420624"/>
          </a:xfrm>
          <a:prstGeom prst="ellipse">
            <a:avLst/>
          </a:prstGeom>
          <a:solidFill>
            <a:srgbClr val="EAF0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tep number"/>
          <p:cNvSpPr txBox="1"/>
          <p:nvPr/>
        </p:nvSpPr>
        <p:spPr>
          <a:xfrm>
            <a:off x="9079992" y="2427732"/>
            <a:ext cx="420624" cy="228600"/>
          </a:xfrm>
          <a:prstGeom prst="rect">
            <a:avLst/>
          </a:prstGeom>
          <a:noFill/>
        </p:spPr>
        <p:txBody>
          <a:bodyPr wrap="square" lIns="0" rIns="0" tIns="9525" bIns="0" anchor="t">
            <a:noAutofit/>
          </a:bodyPr>
          <a:lstStyle/>
          <a:p>
            <a:pPr algn="ctr">
              <a:lnSpc>
                <a:spcPts val="1412"/>
              </a:lnSpc>
              <a:spcBef>
                <a:spcPts val="0"/>
              </a:spcBef>
              <a:spcAft>
                <a:spcPts val="0"/>
              </a:spcAft>
              <a:defRPr sz="1250">
                <a:latin typeface="Arial"/>
              </a:defRPr>
            </a:pPr>
            <a:r>
              <a:rPr sz="1250" b="1">
                <a:solidFill>
                  <a:srgbClr val="2D607B"/>
                </a:solidFill>
                <a:latin typeface="Arial"/>
              </a:rPr>
              <a:t>4</a:t>
            </a:r>
          </a:p>
        </p:txBody>
      </p:sp>
      <p:sp>
        <p:nvSpPr>
          <p:cNvPr id="24" name="settlement stage"/>
          <p:cNvSpPr txBox="1"/>
          <p:nvPr/>
        </p:nvSpPr>
        <p:spPr>
          <a:xfrm>
            <a:off x="9079992" y="2990088"/>
            <a:ext cx="2359152" cy="37490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Temporary limit</a:t>
            </a:r>
          </a:p>
        </p:txBody>
      </p:sp>
      <p:sp>
        <p:nvSpPr>
          <p:cNvPr id="25" name="settlement explanation"/>
          <p:cNvSpPr txBox="1"/>
          <p:nvPr/>
        </p:nvSpPr>
        <p:spPr>
          <a:xfrm>
            <a:off x="9079992" y="3511296"/>
            <a:ext cx="2350008" cy="1170432"/>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Fewer new buys mean</a:t>
            </a:r>
          </a:p>
          <a:p>
            <a:pPr algn="l">
              <a:lnSpc>
                <a:spcPts val="2033"/>
              </a:lnSpc>
              <a:spcBef>
                <a:spcPts val="0"/>
              </a:spcBef>
              <a:spcAft>
                <a:spcPts val="0"/>
              </a:spcAft>
              <a:defRPr sz="1800">
                <a:latin typeface="Arial"/>
              </a:defRPr>
            </a:pPr>
            <a:r>
              <a:rPr sz="1800" b="0">
                <a:solidFill>
                  <a:srgbClr val="5E6B65"/>
                </a:solidFill>
                <a:latin typeface="Arial"/>
              </a:rPr>
              <a:t>fewer trades to</a:t>
            </a:r>
          </a:p>
          <a:p>
            <a:pPr algn="l">
              <a:lnSpc>
                <a:spcPts val="2033"/>
              </a:lnSpc>
              <a:spcBef>
                <a:spcPts val="0"/>
              </a:spcBef>
              <a:spcAft>
                <a:spcPts val="0"/>
              </a:spcAft>
              <a:defRPr sz="1800">
                <a:latin typeface="Arial"/>
              </a:defRPr>
            </a:pPr>
            <a:r>
              <a:rPr sz="1800" b="0">
                <a:solidFill>
                  <a:srgbClr val="5E6B65"/>
                </a:solidFill>
                <a:latin typeface="Arial"/>
              </a:rPr>
              <a:t>guarantee.</a:t>
            </a:r>
          </a:p>
        </p:txBody>
      </p:sp>
      <p:cxnSp>
        <p:nvCxnSpPr>
          <p:cNvPr id="26" name="connector"/>
          <p:cNvCxnSpPr/>
          <p:nvPr/>
        </p:nvCxnSpPr>
        <p:spPr>
          <a:xfrm>
            <a:off x="713232" y="4965192"/>
            <a:ext cx="10762488" cy="0"/>
          </a:xfrm>
          <a:prstGeom prst="line">
            <a:avLst/>
          </a:prstGeom>
          <a:ln w="889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7" name="funding total"/>
          <p:cNvSpPr txBox="1"/>
          <p:nvPr/>
        </p:nvSpPr>
        <p:spPr>
          <a:xfrm>
            <a:off x="713232" y="5202936"/>
            <a:ext cx="2551176" cy="548640"/>
          </a:xfrm>
          <a:prstGeom prst="rect">
            <a:avLst/>
          </a:prstGeom>
          <a:noFill/>
        </p:spPr>
        <p:txBody>
          <a:bodyPr wrap="square" lIns="0" rIns="0" tIns="25908" bIns="0" anchor="t">
            <a:noAutofit/>
          </a:bodyPr>
          <a:lstStyle/>
          <a:p>
            <a:pPr algn="l">
              <a:lnSpc>
                <a:spcPts val="3841"/>
              </a:lnSpc>
              <a:spcBef>
                <a:spcPts val="0"/>
              </a:spcBef>
              <a:spcAft>
                <a:spcPts val="0"/>
              </a:spcAft>
              <a:defRPr sz="3400">
                <a:latin typeface="Arial"/>
              </a:defRPr>
            </a:pPr>
            <a:r>
              <a:rPr sz="3400" b="1">
                <a:solidFill>
                  <a:srgbClr val="2D607B"/>
                </a:solidFill>
                <a:latin typeface="Arial"/>
              </a:rPr>
              <a:t>$3.4bn</a:t>
            </a:r>
          </a:p>
        </p:txBody>
      </p:sp>
      <p:sp>
        <p:nvSpPr>
          <p:cNvPr id="28" name="funding dates"/>
          <p:cNvSpPr txBox="1"/>
          <p:nvPr/>
        </p:nvSpPr>
        <p:spPr>
          <a:xfrm>
            <a:off x="3474720" y="5257800"/>
            <a:ext cx="3438144" cy="566928"/>
          </a:xfrm>
          <a:prstGeom prst="rect">
            <a:avLst/>
          </a:prstGeom>
          <a:noFill/>
        </p:spPr>
        <p:txBody>
          <a:bodyPr wrap="square" lIns="0" rIns="0" tIns="13716" bIns="0" anchor="t">
            <a:noAutofit/>
          </a:bodyPr>
          <a:lstStyle/>
          <a:p>
            <a:pPr algn="l">
              <a:lnSpc>
                <a:spcPts val="1980"/>
              </a:lnSpc>
              <a:spcBef>
                <a:spcPts val="0"/>
              </a:spcBef>
              <a:spcAft>
                <a:spcPts val="0"/>
              </a:spcAft>
              <a:defRPr sz="1800">
                <a:latin typeface="Arial"/>
              </a:defRPr>
            </a:pPr>
            <a:r>
              <a:rPr sz="1800" b="0">
                <a:solidFill>
                  <a:srgbClr val="5E6B65"/>
                </a:solidFill>
                <a:latin typeface="Arial"/>
              </a:rPr>
              <a:t>$1bn on Jan 29</a:t>
            </a:r>
          </a:p>
          <a:p>
            <a:pPr algn="l">
              <a:lnSpc>
                <a:spcPts val="1980"/>
              </a:lnSpc>
              <a:spcBef>
                <a:spcPts val="0"/>
              </a:spcBef>
              <a:spcAft>
                <a:spcPts val="0"/>
              </a:spcAft>
              <a:defRPr sz="1800">
                <a:latin typeface="Arial"/>
              </a:defRPr>
            </a:pPr>
            <a:r>
              <a:rPr sz="1800" b="0">
                <a:solidFill>
                  <a:srgbClr val="5E6B65"/>
                </a:solidFill>
                <a:latin typeface="Arial"/>
              </a:rPr>
              <a:t>+ $2.4bn on Feb 1</a:t>
            </a:r>
          </a:p>
        </p:txBody>
      </p:sp>
      <p:sp>
        <p:nvSpPr>
          <p:cNvPr id="29" name="funding interpretation"/>
          <p:cNvSpPr txBox="1"/>
          <p:nvPr/>
        </p:nvSpPr>
        <p:spPr>
          <a:xfrm>
            <a:off x="7406640" y="5239512"/>
            <a:ext cx="4023360" cy="64008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17302B"/>
                </a:solidFill>
                <a:latin typeface="Arial"/>
              </a:rPr>
              <a:t>Later funding supports a genuine</a:t>
            </a:r>
          </a:p>
          <a:p>
            <a:pPr algn="l">
              <a:lnSpc>
                <a:spcPts val="1920"/>
              </a:lnSpc>
              <a:spcBef>
                <a:spcPts val="0"/>
              </a:spcBef>
              <a:spcAft>
                <a:spcPts val="0"/>
              </a:spcAft>
              <a:defRPr sz="1700">
                <a:latin typeface="Arial"/>
              </a:defRPr>
            </a:pPr>
            <a:r>
              <a:rPr sz="1700" b="0">
                <a:solidFill>
                  <a:srgbClr val="17302B"/>
                </a:solidFill>
                <a:latin typeface="Arial"/>
              </a:rPr>
              <a:t>cash-pressure explanation.</a:t>
            </a:r>
          </a:p>
        </p:txBody>
      </p:sp>
      <p:sp>
        <p:nvSpPr>
          <p:cNvPr id="30" name="conclusion mark"/>
          <p:cNvSpPr/>
          <p:nvPr/>
        </p:nvSpPr>
        <p:spPr>
          <a:xfrm>
            <a:off x="658368" y="5943600"/>
            <a:ext cx="50292" cy="365760"/>
          </a:xfrm>
          <a:prstGeom prst="rect">
            <a:avLst/>
          </a:prstGeom>
          <a:solidFill>
            <a:srgbClr val="2D607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akeaway"/>
          <p:cNvSpPr txBox="1"/>
          <p:nvPr/>
        </p:nvSpPr>
        <p:spPr>
          <a:xfrm>
            <a:off x="877824" y="5916168"/>
            <a:ext cx="10561320" cy="493776"/>
          </a:xfrm>
          <a:prstGeom prst="rect">
            <a:avLst/>
          </a:prstGeom>
          <a:noFill/>
        </p:spPr>
        <p:txBody>
          <a:bodyPr wrap="square" lIns="0" rIns="0" tIns="13716" bIns="0" anchor="t">
            <a:noAutofit/>
          </a:bodyPr>
          <a:lstStyle/>
          <a:p>
            <a:pPr algn="l">
              <a:lnSpc>
                <a:spcPts val="1980"/>
              </a:lnSpc>
              <a:spcBef>
                <a:spcPts val="0"/>
              </a:spcBef>
              <a:spcAft>
                <a:spcPts val="0"/>
              </a:spcAft>
              <a:defRPr sz="1800">
                <a:latin typeface="Arial"/>
              </a:defRPr>
            </a:pPr>
            <a:r>
              <a:rPr sz="1800" b="1">
                <a:solidFill>
                  <a:srgbClr val="17302B"/>
                </a:solidFill>
                <a:latin typeface="Arial"/>
              </a:rPr>
              <a:t>Funding pressure explains the rationale; fairness is a separate question.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Zou Zhihua</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12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Q3 / OPPOSING VIEW</a:t>
            </a:r>
          </a:p>
        </p:txBody>
      </p:sp>
      <p:sp>
        <p:nvSpPr>
          <p:cNvPr id="7" name="slide title"/>
          <p:cNvSpPr txBox="1"/>
          <p:nvPr/>
        </p:nvSpPr>
        <p:spPr>
          <a:xfrm>
            <a:off x="658368" y="859536"/>
            <a:ext cx="10835640" cy="676656"/>
          </a:xfrm>
          <a:prstGeom prst="rect">
            <a:avLst/>
          </a:prstGeom>
          <a:noFill/>
        </p:spPr>
        <p:txBody>
          <a:bodyPr wrap="square" lIns="0" rIns="0" tIns="26670" bIns="0" anchor="t">
            <a:noAutofit/>
          </a:bodyPr>
          <a:lstStyle/>
          <a:p>
            <a:pPr algn="l">
              <a:lnSpc>
                <a:spcPts val="3745"/>
              </a:lnSpc>
              <a:spcBef>
                <a:spcPts val="0"/>
              </a:spcBef>
              <a:spcAft>
                <a:spcPts val="0"/>
              </a:spcAft>
              <a:defRPr sz="3500">
                <a:latin typeface="Arial"/>
              </a:defRPr>
            </a:pPr>
            <a:r>
              <a:rPr sz="3500" b="1">
                <a:solidFill>
                  <a:srgbClr val="17302B"/>
                </a:solidFill>
                <a:latin typeface="Arial"/>
              </a:rPr>
              <a:t>Follow the money: a conflict of interest</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Who pays Robinhood, and whose interests might be affected?</a:t>
            </a:r>
          </a:p>
        </p:txBody>
      </p:sp>
      <p:sp>
        <p:nvSpPr>
          <p:cNvPr id="9" name="eyebrow"/>
          <p:cNvSpPr txBox="1"/>
          <p:nvPr/>
        </p:nvSpPr>
        <p:spPr>
          <a:xfrm>
            <a:off x="713232" y="2290572"/>
            <a:ext cx="402336"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01</a:t>
            </a:r>
          </a:p>
        </p:txBody>
      </p:sp>
      <p:sp>
        <p:nvSpPr>
          <p:cNvPr id="10" name="conflict argument"/>
          <p:cNvSpPr txBox="1"/>
          <p:nvPr/>
        </p:nvSpPr>
        <p:spPr>
          <a:xfrm>
            <a:off x="1234440" y="2240280"/>
            <a:ext cx="2276856" cy="365760"/>
          </a:xfrm>
          <a:prstGeom prst="rect">
            <a:avLst/>
          </a:prstGeom>
          <a:noFill/>
        </p:spPr>
        <p:txBody>
          <a:bodyPr wrap="square" lIns="0" rIns="0" tIns="15240" bIns="0" anchor="t">
            <a:noAutofit/>
          </a:bodyPr>
          <a:lstStyle/>
          <a:p>
            <a:pPr algn="l">
              <a:lnSpc>
                <a:spcPts val="2260"/>
              </a:lnSpc>
              <a:spcBef>
                <a:spcPts val="0"/>
              </a:spcBef>
              <a:spcAft>
                <a:spcPts val="0"/>
              </a:spcAft>
              <a:defRPr sz="2000">
                <a:latin typeface="Arial"/>
              </a:defRPr>
            </a:pPr>
            <a:r>
              <a:rPr sz="2000" b="1">
                <a:solidFill>
                  <a:srgbClr val="17302B"/>
                </a:solidFill>
                <a:latin typeface="Arial"/>
              </a:rPr>
              <a:t>“Free” trading</a:t>
            </a:r>
          </a:p>
        </p:txBody>
      </p:sp>
      <p:sp>
        <p:nvSpPr>
          <p:cNvPr id="11" name="conflict explanation"/>
          <p:cNvSpPr txBox="1"/>
          <p:nvPr/>
        </p:nvSpPr>
        <p:spPr>
          <a:xfrm>
            <a:off x="713232" y="2743200"/>
            <a:ext cx="2816352" cy="694944"/>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Robinhood sells users’ orders</a:t>
            </a:r>
          </a:p>
          <a:p>
            <a:pPr algn="l">
              <a:lnSpc>
                <a:spcPts val="1807"/>
              </a:lnSpc>
              <a:spcBef>
                <a:spcPts val="0"/>
              </a:spcBef>
              <a:spcAft>
                <a:spcPts val="0"/>
              </a:spcAft>
              <a:defRPr sz="1600">
                <a:latin typeface="Arial"/>
              </a:defRPr>
            </a:pPr>
            <a:r>
              <a:rPr sz="1600" b="0">
                <a:solidFill>
                  <a:srgbClr val="5E6B65"/>
                </a:solidFill>
                <a:latin typeface="Arial"/>
              </a:rPr>
              <a:t>to Citadel Securities.</a:t>
            </a:r>
          </a:p>
        </p:txBody>
      </p:sp>
      <p:sp>
        <p:nvSpPr>
          <p:cNvPr id="12" name="eyebrow"/>
          <p:cNvSpPr txBox="1"/>
          <p:nvPr/>
        </p:nvSpPr>
        <p:spPr>
          <a:xfrm>
            <a:off x="713232" y="3543300"/>
            <a:ext cx="402336"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02</a:t>
            </a:r>
          </a:p>
        </p:txBody>
      </p:sp>
      <p:sp>
        <p:nvSpPr>
          <p:cNvPr id="13" name="conflict argument"/>
          <p:cNvSpPr txBox="1"/>
          <p:nvPr/>
        </p:nvSpPr>
        <p:spPr>
          <a:xfrm>
            <a:off x="1234440" y="3493008"/>
            <a:ext cx="2276856" cy="365760"/>
          </a:xfrm>
          <a:prstGeom prst="rect">
            <a:avLst/>
          </a:prstGeom>
          <a:noFill/>
        </p:spPr>
        <p:txBody>
          <a:bodyPr wrap="square" lIns="0" rIns="0" tIns="15240" bIns="0" anchor="t">
            <a:noAutofit/>
          </a:bodyPr>
          <a:lstStyle/>
          <a:p>
            <a:pPr algn="l">
              <a:lnSpc>
                <a:spcPts val="2260"/>
              </a:lnSpc>
              <a:spcBef>
                <a:spcPts val="0"/>
              </a:spcBef>
              <a:spcAft>
                <a:spcPts val="0"/>
              </a:spcAft>
              <a:defRPr sz="2000">
                <a:latin typeface="Arial"/>
              </a:defRPr>
            </a:pPr>
            <a:r>
              <a:rPr sz="2000" b="1">
                <a:solidFill>
                  <a:srgbClr val="17302B"/>
                </a:solidFill>
                <a:latin typeface="Arial"/>
              </a:rPr>
              <a:t>Shared leadership</a:t>
            </a:r>
          </a:p>
        </p:txBody>
      </p:sp>
      <p:sp>
        <p:nvSpPr>
          <p:cNvPr id="14" name="conflict explanation"/>
          <p:cNvSpPr txBox="1"/>
          <p:nvPr/>
        </p:nvSpPr>
        <p:spPr>
          <a:xfrm>
            <a:off x="713232" y="3995928"/>
            <a:ext cx="2816352" cy="694944"/>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Ken Griffin also leads Citadel,</a:t>
            </a:r>
          </a:p>
          <a:p>
            <a:pPr algn="l">
              <a:lnSpc>
                <a:spcPts val="1807"/>
              </a:lnSpc>
              <a:spcBef>
                <a:spcPts val="0"/>
              </a:spcBef>
              <a:spcAft>
                <a:spcPts val="0"/>
              </a:spcAft>
              <a:defRPr sz="1600">
                <a:latin typeface="Arial"/>
              </a:defRPr>
            </a:pPr>
            <a:r>
              <a:rPr sz="1600" b="0">
                <a:solidFill>
                  <a:srgbClr val="5E6B65"/>
                </a:solidFill>
                <a:latin typeface="Arial"/>
              </a:rPr>
              <a:t>which gave $2bn to Melvin.</a:t>
            </a:r>
          </a:p>
        </p:txBody>
      </p:sp>
      <p:sp>
        <p:nvSpPr>
          <p:cNvPr id="15" name="eyebrow"/>
          <p:cNvSpPr txBox="1"/>
          <p:nvPr/>
        </p:nvSpPr>
        <p:spPr>
          <a:xfrm>
            <a:off x="713232" y="4786883"/>
            <a:ext cx="402336"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03</a:t>
            </a:r>
          </a:p>
        </p:txBody>
      </p:sp>
      <p:sp>
        <p:nvSpPr>
          <p:cNvPr id="16" name="conflict argument"/>
          <p:cNvSpPr txBox="1"/>
          <p:nvPr/>
        </p:nvSpPr>
        <p:spPr>
          <a:xfrm>
            <a:off x="1234440" y="4736592"/>
            <a:ext cx="2276856" cy="365760"/>
          </a:xfrm>
          <a:prstGeom prst="rect">
            <a:avLst/>
          </a:prstGeom>
          <a:noFill/>
        </p:spPr>
        <p:txBody>
          <a:bodyPr wrap="square" lIns="0" rIns="0" tIns="15240" bIns="0" anchor="t">
            <a:noAutofit/>
          </a:bodyPr>
          <a:lstStyle/>
          <a:p>
            <a:pPr algn="l">
              <a:lnSpc>
                <a:spcPts val="2260"/>
              </a:lnSpc>
              <a:spcBef>
                <a:spcPts val="0"/>
              </a:spcBef>
              <a:spcAft>
                <a:spcPts val="0"/>
              </a:spcAft>
              <a:defRPr sz="2000">
                <a:latin typeface="Arial"/>
              </a:defRPr>
            </a:pPr>
            <a:r>
              <a:rPr sz="2000" b="1">
                <a:solidFill>
                  <a:srgbClr val="17302B"/>
                </a:solidFill>
                <a:latin typeface="Arial"/>
              </a:rPr>
              <a:t>Trust concern</a:t>
            </a:r>
          </a:p>
        </p:txBody>
      </p:sp>
      <p:sp>
        <p:nvSpPr>
          <p:cNvPr id="17" name="conflict explanation"/>
          <p:cNvSpPr txBox="1"/>
          <p:nvPr/>
        </p:nvSpPr>
        <p:spPr>
          <a:xfrm>
            <a:off x="713232" y="5239512"/>
            <a:ext cx="2816352" cy="694944"/>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These links raise concerns;</a:t>
            </a:r>
          </a:p>
          <a:p>
            <a:pPr algn="l">
              <a:lnSpc>
                <a:spcPts val="1807"/>
              </a:lnSpc>
              <a:spcBef>
                <a:spcPts val="0"/>
              </a:spcBef>
              <a:spcAft>
                <a:spcPts val="0"/>
              </a:spcAft>
              <a:defRPr sz="1600">
                <a:latin typeface="Arial"/>
              </a:defRPr>
            </a:pPr>
            <a:r>
              <a:rPr sz="1600" b="0">
                <a:solidFill>
                  <a:srgbClr val="5E6B65"/>
                </a:solidFill>
                <a:latin typeface="Arial"/>
              </a:rPr>
              <a:t>coordination is unproven.</a:t>
            </a:r>
          </a:p>
        </p:txBody>
      </p:sp>
      <p:cxnSp>
        <p:nvCxnSpPr>
          <p:cNvPr id="18" name="connector"/>
          <p:cNvCxnSpPr/>
          <p:nvPr/>
        </p:nvCxnSpPr>
        <p:spPr>
          <a:xfrm>
            <a:off x="3739896" y="2212848"/>
            <a:ext cx="0" cy="3675888"/>
          </a:xfrm>
          <a:prstGeom prst="line">
            <a:avLst/>
          </a:prstGeom>
          <a:ln w="889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19" name="diagram node"/>
          <p:cNvSpPr/>
          <p:nvPr/>
        </p:nvSpPr>
        <p:spPr>
          <a:xfrm>
            <a:off x="4133087" y="2377440"/>
            <a:ext cx="1773936" cy="832104"/>
          </a:xfrm>
          <a:prstGeom prst="roundRect">
            <a:avLst>
              <a:gd name="adj" fmla="val 12000"/>
            </a:avLst>
          </a:prstGeom>
          <a:solidFill>
            <a:srgbClr val="EA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diagram label"/>
          <p:cNvSpPr txBox="1"/>
          <p:nvPr/>
        </p:nvSpPr>
        <p:spPr>
          <a:xfrm>
            <a:off x="4251959" y="2505456"/>
            <a:ext cx="1536192" cy="612648"/>
          </a:xfrm>
          <a:prstGeom prst="rect">
            <a:avLst/>
          </a:prstGeom>
          <a:noFill/>
        </p:spPr>
        <p:txBody>
          <a:bodyPr wrap="square" lIns="0" rIns="0" tIns="12573" bIns="0" anchor="t">
            <a:noAutofit/>
          </a:bodyPr>
          <a:lstStyle/>
          <a:p>
            <a:pPr algn="ctr">
              <a:lnSpc>
                <a:spcPts val="1749"/>
              </a:lnSpc>
              <a:spcBef>
                <a:spcPts val="0"/>
              </a:spcBef>
              <a:spcAft>
                <a:spcPts val="0"/>
              </a:spcAft>
              <a:defRPr sz="1650">
                <a:latin typeface="Arial"/>
              </a:defRPr>
            </a:pPr>
            <a:r>
              <a:rPr sz="1650" b="1">
                <a:solidFill>
                  <a:srgbClr val="17302B"/>
                </a:solidFill>
                <a:latin typeface="Arial"/>
              </a:rPr>
              <a:t>Retail</a:t>
            </a:r>
          </a:p>
          <a:p>
            <a:pPr algn="ctr">
              <a:lnSpc>
                <a:spcPts val="1749"/>
              </a:lnSpc>
              <a:spcBef>
                <a:spcPts val="0"/>
              </a:spcBef>
              <a:spcAft>
                <a:spcPts val="0"/>
              </a:spcAft>
              <a:defRPr sz="1650">
                <a:latin typeface="Arial"/>
              </a:defRPr>
            </a:pPr>
            <a:r>
              <a:rPr sz="1650" b="1">
                <a:solidFill>
                  <a:srgbClr val="17302B"/>
                </a:solidFill>
                <a:latin typeface="Arial"/>
              </a:rPr>
              <a:t>investors</a:t>
            </a:r>
          </a:p>
        </p:txBody>
      </p:sp>
      <p:sp>
        <p:nvSpPr>
          <p:cNvPr id="21" name="diagram node"/>
          <p:cNvSpPr/>
          <p:nvPr/>
        </p:nvSpPr>
        <p:spPr>
          <a:xfrm>
            <a:off x="6812280" y="2377440"/>
            <a:ext cx="1773936" cy="832104"/>
          </a:xfrm>
          <a:prstGeom prst="roundRect">
            <a:avLst>
              <a:gd name="adj" fmla="val 12000"/>
            </a:avLst>
          </a:prstGeom>
          <a:solidFill>
            <a:srgbClr val="EA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diagram label"/>
          <p:cNvSpPr txBox="1"/>
          <p:nvPr/>
        </p:nvSpPr>
        <p:spPr>
          <a:xfrm>
            <a:off x="6931152" y="2505456"/>
            <a:ext cx="1536192" cy="612648"/>
          </a:xfrm>
          <a:prstGeom prst="rect">
            <a:avLst/>
          </a:prstGeom>
          <a:noFill/>
        </p:spPr>
        <p:txBody>
          <a:bodyPr wrap="square" lIns="0" rIns="0" tIns="12954" bIns="0" anchor="t">
            <a:noAutofit/>
          </a:bodyPr>
          <a:lstStyle/>
          <a:p>
            <a:pPr algn="ctr">
              <a:lnSpc>
                <a:spcPts val="1802"/>
              </a:lnSpc>
              <a:spcBef>
                <a:spcPts val="0"/>
              </a:spcBef>
              <a:spcAft>
                <a:spcPts val="0"/>
              </a:spcAft>
              <a:defRPr sz="1700">
                <a:latin typeface="Arial"/>
              </a:defRPr>
            </a:pPr>
            <a:r>
              <a:rPr sz="1700" b="1">
                <a:solidFill>
                  <a:srgbClr val="17302B"/>
                </a:solidFill>
                <a:latin typeface="Arial"/>
              </a:rPr>
              <a:t>Robinhood</a:t>
            </a:r>
          </a:p>
        </p:txBody>
      </p:sp>
      <p:sp>
        <p:nvSpPr>
          <p:cNvPr id="23" name="diagram node"/>
          <p:cNvSpPr/>
          <p:nvPr/>
        </p:nvSpPr>
        <p:spPr>
          <a:xfrm>
            <a:off x="9564624" y="2377440"/>
            <a:ext cx="1911095" cy="832104"/>
          </a:xfrm>
          <a:prstGeom prst="roundRect">
            <a:avLst>
              <a:gd name="adj" fmla="val 12000"/>
            </a:avLst>
          </a:prstGeom>
          <a:solidFill>
            <a:srgbClr val="EAF0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diagram label"/>
          <p:cNvSpPr txBox="1"/>
          <p:nvPr/>
        </p:nvSpPr>
        <p:spPr>
          <a:xfrm>
            <a:off x="9683496" y="2505456"/>
            <a:ext cx="1673351" cy="612648"/>
          </a:xfrm>
          <a:prstGeom prst="rect">
            <a:avLst/>
          </a:prstGeom>
          <a:noFill/>
        </p:spPr>
        <p:txBody>
          <a:bodyPr wrap="square" lIns="0" rIns="0" tIns="12573" bIns="0" anchor="t">
            <a:noAutofit/>
          </a:bodyPr>
          <a:lstStyle/>
          <a:p>
            <a:pPr algn="ctr">
              <a:lnSpc>
                <a:spcPts val="1749"/>
              </a:lnSpc>
              <a:spcBef>
                <a:spcPts val="0"/>
              </a:spcBef>
              <a:spcAft>
                <a:spcPts val="0"/>
              </a:spcAft>
              <a:defRPr sz="1650">
                <a:latin typeface="Arial"/>
              </a:defRPr>
            </a:pPr>
            <a:r>
              <a:rPr sz="1650" b="1">
                <a:solidFill>
                  <a:srgbClr val="17302B"/>
                </a:solidFill>
                <a:latin typeface="Arial"/>
              </a:rPr>
              <a:t>Citadel</a:t>
            </a:r>
          </a:p>
          <a:p>
            <a:pPr algn="ctr">
              <a:lnSpc>
                <a:spcPts val="1749"/>
              </a:lnSpc>
              <a:spcBef>
                <a:spcPts val="0"/>
              </a:spcBef>
              <a:spcAft>
                <a:spcPts val="0"/>
              </a:spcAft>
              <a:defRPr sz="1650">
                <a:latin typeface="Arial"/>
              </a:defRPr>
            </a:pPr>
            <a:r>
              <a:rPr sz="1650" b="1">
                <a:solidFill>
                  <a:srgbClr val="17302B"/>
                </a:solidFill>
                <a:latin typeface="Arial"/>
              </a:rPr>
              <a:t>Securities</a:t>
            </a:r>
          </a:p>
        </p:txBody>
      </p:sp>
      <p:cxnSp>
        <p:nvCxnSpPr>
          <p:cNvPr id="25" name="retail orders"/>
          <p:cNvCxnSpPr/>
          <p:nvPr/>
        </p:nvCxnSpPr>
        <p:spPr>
          <a:xfrm>
            <a:off x="5961888" y="2724912"/>
            <a:ext cx="777240" cy="0"/>
          </a:xfrm>
          <a:prstGeom prst="line">
            <a:avLst/>
          </a:prstGeom>
          <a:ln w="13970">
            <a:solidFill>
              <a:srgbClr val="17302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order flow label"/>
          <p:cNvSpPr txBox="1"/>
          <p:nvPr/>
        </p:nvSpPr>
        <p:spPr>
          <a:xfrm>
            <a:off x="5934456" y="2423160"/>
            <a:ext cx="786384" cy="219456"/>
          </a:xfrm>
          <a:prstGeom prst="rect">
            <a:avLst/>
          </a:prstGeom>
          <a:noFill/>
        </p:spPr>
        <p:txBody>
          <a:bodyPr wrap="square" lIns="0" rIns="0" tIns="8001" bIns="0" anchor="t">
            <a:noAutofit/>
          </a:bodyPr>
          <a:lstStyle/>
          <a:p>
            <a:pPr algn="ctr">
              <a:lnSpc>
                <a:spcPts val="1186"/>
              </a:lnSpc>
              <a:spcBef>
                <a:spcPts val="0"/>
              </a:spcBef>
              <a:spcAft>
                <a:spcPts val="0"/>
              </a:spcAft>
              <a:defRPr sz="1050">
                <a:latin typeface="Arial"/>
              </a:defRPr>
            </a:pPr>
            <a:r>
              <a:rPr sz="1050" b="0">
                <a:solidFill>
                  <a:srgbClr val="5E6B65"/>
                </a:solidFill>
                <a:latin typeface="Arial"/>
              </a:rPr>
              <a:t>Orders</a:t>
            </a:r>
          </a:p>
        </p:txBody>
      </p:sp>
      <p:cxnSp>
        <p:nvCxnSpPr>
          <p:cNvPr id="27" name="broker orders"/>
          <p:cNvCxnSpPr/>
          <p:nvPr/>
        </p:nvCxnSpPr>
        <p:spPr>
          <a:xfrm>
            <a:off x="8641080" y="2724912"/>
            <a:ext cx="850392" cy="0"/>
          </a:xfrm>
          <a:prstGeom prst="line">
            <a:avLst/>
          </a:prstGeom>
          <a:ln w="13970">
            <a:solidFill>
              <a:srgbClr val="17302B"/>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8" name="order flow label"/>
          <p:cNvSpPr txBox="1"/>
          <p:nvPr/>
        </p:nvSpPr>
        <p:spPr>
          <a:xfrm>
            <a:off x="8622792" y="2423160"/>
            <a:ext cx="859536" cy="219456"/>
          </a:xfrm>
          <a:prstGeom prst="rect">
            <a:avLst/>
          </a:prstGeom>
          <a:noFill/>
        </p:spPr>
        <p:txBody>
          <a:bodyPr wrap="square" lIns="0" rIns="0" tIns="8001" bIns="0" anchor="t">
            <a:noAutofit/>
          </a:bodyPr>
          <a:lstStyle/>
          <a:p>
            <a:pPr algn="ctr">
              <a:lnSpc>
                <a:spcPts val="1186"/>
              </a:lnSpc>
              <a:spcBef>
                <a:spcPts val="0"/>
              </a:spcBef>
              <a:spcAft>
                <a:spcPts val="0"/>
              </a:spcAft>
              <a:defRPr sz="1050">
                <a:latin typeface="Arial"/>
              </a:defRPr>
            </a:pPr>
            <a:r>
              <a:rPr sz="1050" b="0">
                <a:solidFill>
                  <a:srgbClr val="5E6B65"/>
                </a:solidFill>
                <a:latin typeface="Arial"/>
              </a:rPr>
              <a:t>Orders</a:t>
            </a:r>
          </a:p>
        </p:txBody>
      </p:sp>
      <p:cxnSp>
        <p:nvCxnSpPr>
          <p:cNvPr id="29" name="PFOF payment"/>
          <p:cNvCxnSpPr/>
          <p:nvPr/>
        </p:nvCxnSpPr>
        <p:spPr>
          <a:xfrm flipH="1">
            <a:off x="8641080" y="3136392"/>
            <a:ext cx="850392" cy="0"/>
          </a:xfrm>
          <a:prstGeom prst="line">
            <a:avLst/>
          </a:prstGeom>
          <a:ln w="14604">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0" name="PFOF label"/>
          <p:cNvSpPr txBox="1"/>
          <p:nvPr/>
        </p:nvSpPr>
        <p:spPr>
          <a:xfrm>
            <a:off x="8613648" y="3300984"/>
            <a:ext cx="914400" cy="384048"/>
          </a:xfrm>
          <a:prstGeom prst="rect">
            <a:avLst/>
          </a:prstGeom>
          <a:noFill/>
        </p:spPr>
        <p:txBody>
          <a:bodyPr wrap="square" lIns="0" rIns="0" tIns="8229" bIns="0" anchor="t">
            <a:noAutofit/>
          </a:bodyPr>
          <a:lstStyle/>
          <a:p>
            <a:pPr algn="ctr">
              <a:lnSpc>
                <a:spcPts val="1220"/>
              </a:lnSpc>
              <a:spcBef>
                <a:spcPts val="0"/>
              </a:spcBef>
              <a:spcAft>
                <a:spcPts val="0"/>
              </a:spcAft>
              <a:defRPr sz="1080">
                <a:latin typeface="Arial"/>
              </a:defRPr>
            </a:pPr>
            <a:r>
              <a:rPr sz="1080" b="1">
                <a:solidFill>
                  <a:srgbClr val="2F7358"/>
                </a:solidFill>
                <a:latin typeface="Arial"/>
              </a:rPr>
              <a:t>Pays</a:t>
            </a:r>
          </a:p>
          <a:p>
            <a:pPr algn="ctr">
              <a:lnSpc>
                <a:spcPts val="1220"/>
              </a:lnSpc>
              <a:spcBef>
                <a:spcPts val="0"/>
              </a:spcBef>
              <a:spcAft>
                <a:spcPts val="0"/>
              </a:spcAft>
              <a:defRPr sz="1080">
                <a:latin typeface="Arial"/>
              </a:defRPr>
            </a:pPr>
            <a:r>
              <a:rPr sz="1080" b="1">
                <a:solidFill>
                  <a:srgbClr val="2F7358"/>
                </a:solidFill>
                <a:latin typeface="Arial"/>
              </a:rPr>
              <a:t>(PFOF)</a:t>
            </a:r>
          </a:p>
        </p:txBody>
      </p:sp>
      <p:sp>
        <p:nvSpPr>
          <p:cNvPr id="31" name="diagram node"/>
          <p:cNvSpPr/>
          <p:nvPr/>
        </p:nvSpPr>
        <p:spPr>
          <a:xfrm>
            <a:off x="4133087" y="4809744"/>
            <a:ext cx="1773936" cy="822960"/>
          </a:xfrm>
          <a:prstGeom prst="roundRect">
            <a:avLst>
              <a:gd name="adj" fmla="val 12000"/>
            </a:avLst>
          </a:prstGeom>
          <a:solidFill>
            <a:srgbClr val="EA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diagram label"/>
          <p:cNvSpPr txBox="1"/>
          <p:nvPr/>
        </p:nvSpPr>
        <p:spPr>
          <a:xfrm>
            <a:off x="4251959" y="4937759"/>
            <a:ext cx="1536192" cy="603504"/>
          </a:xfrm>
          <a:prstGeom prst="rect">
            <a:avLst/>
          </a:prstGeom>
          <a:noFill/>
        </p:spPr>
        <p:txBody>
          <a:bodyPr wrap="square" lIns="0" rIns="0" tIns="12954" bIns="0" anchor="t">
            <a:noAutofit/>
          </a:bodyPr>
          <a:lstStyle/>
          <a:p>
            <a:pPr algn="ctr">
              <a:lnSpc>
                <a:spcPts val="1802"/>
              </a:lnSpc>
              <a:spcBef>
                <a:spcPts val="0"/>
              </a:spcBef>
              <a:spcAft>
                <a:spcPts val="0"/>
              </a:spcAft>
              <a:defRPr sz="1700">
                <a:latin typeface="Arial"/>
              </a:defRPr>
            </a:pPr>
            <a:r>
              <a:rPr sz="1700" b="1">
                <a:solidFill>
                  <a:srgbClr val="17302B"/>
                </a:solidFill>
                <a:latin typeface="Arial"/>
              </a:rPr>
              <a:t>GameStop</a:t>
            </a:r>
          </a:p>
        </p:txBody>
      </p:sp>
      <p:sp>
        <p:nvSpPr>
          <p:cNvPr id="33" name="diagram node"/>
          <p:cNvSpPr/>
          <p:nvPr/>
        </p:nvSpPr>
        <p:spPr>
          <a:xfrm>
            <a:off x="6812280" y="4809744"/>
            <a:ext cx="1773936" cy="822960"/>
          </a:xfrm>
          <a:prstGeom prst="roundRect">
            <a:avLst>
              <a:gd name="adj" fmla="val 12000"/>
            </a:avLst>
          </a:prstGeom>
          <a:solidFill>
            <a:srgbClr val="F7EC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diagram label"/>
          <p:cNvSpPr txBox="1"/>
          <p:nvPr/>
        </p:nvSpPr>
        <p:spPr>
          <a:xfrm>
            <a:off x="6931152" y="4937759"/>
            <a:ext cx="1536192" cy="603504"/>
          </a:xfrm>
          <a:prstGeom prst="rect">
            <a:avLst/>
          </a:prstGeom>
          <a:noFill/>
        </p:spPr>
        <p:txBody>
          <a:bodyPr wrap="square" lIns="0" rIns="0" tIns="12573" bIns="0" anchor="t">
            <a:noAutofit/>
          </a:bodyPr>
          <a:lstStyle/>
          <a:p>
            <a:pPr algn="ctr">
              <a:lnSpc>
                <a:spcPts val="1749"/>
              </a:lnSpc>
              <a:spcBef>
                <a:spcPts val="0"/>
              </a:spcBef>
              <a:spcAft>
                <a:spcPts val="0"/>
              </a:spcAft>
              <a:defRPr sz="1650">
                <a:latin typeface="Arial"/>
              </a:defRPr>
            </a:pPr>
            <a:r>
              <a:rPr sz="1650" b="1">
                <a:solidFill>
                  <a:srgbClr val="17302B"/>
                </a:solidFill>
                <a:latin typeface="Arial"/>
              </a:rPr>
              <a:t>Melvin</a:t>
            </a:r>
          </a:p>
          <a:p>
            <a:pPr algn="ctr">
              <a:lnSpc>
                <a:spcPts val="1749"/>
              </a:lnSpc>
              <a:spcBef>
                <a:spcPts val="0"/>
              </a:spcBef>
              <a:spcAft>
                <a:spcPts val="0"/>
              </a:spcAft>
              <a:defRPr sz="1650">
                <a:latin typeface="Arial"/>
              </a:defRPr>
            </a:pPr>
            <a:r>
              <a:rPr sz="1650" b="1">
                <a:solidFill>
                  <a:srgbClr val="17302B"/>
                </a:solidFill>
                <a:latin typeface="Arial"/>
              </a:rPr>
              <a:t>Capital</a:t>
            </a:r>
          </a:p>
        </p:txBody>
      </p:sp>
      <p:sp>
        <p:nvSpPr>
          <p:cNvPr id="35" name="diagram node"/>
          <p:cNvSpPr/>
          <p:nvPr/>
        </p:nvSpPr>
        <p:spPr>
          <a:xfrm>
            <a:off x="9564624" y="4809744"/>
            <a:ext cx="1911095" cy="822960"/>
          </a:xfrm>
          <a:prstGeom prst="roundRect">
            <a:avLst>
              <a:gd name="adj" fmla="val 12000"/>
            </a:avLst>
          </a:prstGeom>
          <a:solidFill>
            <a:srgbClr val="EAF0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diagram label"/>
          <p:cNvSpPr txBox="1"/>
          <p:nvPr/>
        </p:nvSpPr>
        <p:spPr>
          <a:xfrm>
            <a:off x="9683496" y="4937759"/>
            <a:ext cx="1673351" cy="603504"/>
          </a:xfrm>
          <a:prstGeom prst="rect">
            <a:avLst/>
          </a:prstGeom>
          <a:noFill/>
        </p:spPr>
        <p:txBody>
          <a:bodyPr wrap="square" lIns="0" rIns="0" tIns="12954" bIns="0" anchor="t">
            <a:noAutofit/>
          </a:bodyPr>
          <a:lstStyle/>
          <a:p>
            <a:pPr algn="ctr">
              <a:lnSpc>
                <a:spcPts val="1802"/>
              </a:lnSpc>
              <a:spcBef>
                <a:spcPts val="0"/>
              </a:spcBef>
              <a:spcAft>
                <a:spcPts val="0"/>
              </a:spcAft>
              <a:defRPr sz="1700">
                <a:latin typeface="Arial"/>
              </a:defRPr>
            </a:pPr>
            <a:r>
              <a:rPr sz="1700" b="1">
                <a:solidFill>
                  <a:srgbClr val="17302B"/>
                </a:solidFill>
                <a:latin typeface="Arial"/>
              </a:rPr>
              <a:t>Citadel</a:t>
            </a:r>
          </a:p>
        </p:txBody>
      </p:sp>
      <p:sp>
        <p:nvSpPr>
          <p:cNvPr id="37" name="diagram node"/>
          <p:cNvSpPr/>
          <p:nvPr/>
        </p:nvSpPr>
        <p:spPr>
          <a:xfrm>
            <a:off x="9564624" y="3694176"/>
            <a:ext cx="1911095" cy="530352"/>
          </a:xfrm>
          <a:prstGeom prst="roundRect">
            <a:avLst>
              <a:gd name="adj" fmla="val 12000"/>
            </a:avLst>
          </a:prstGeom>
          <a:solidFill>
            <a:srgbClr val="FCFCFA"/>
          </a:solidFill>
          <a:ln w="10160">
            <a:solidFill>
              <a:srgbClr val="D4DDD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diagram label"/>
          <p:cNvSpPr txBox="1"/>
          <p:nvPr/>
        </p:nvSpPr>
        <p:spPr>
          <a:xfrm>
            <a:off x="9683496" y="3822191"/>
            <a:ext cx="1673351" cy="310896"/>
          </a:xfrm>
          <a:prstGeom prst="rect">
            <a:avLst/>
          </a:prstGeom>
          <a:noFill/>
        </p:spPr>
        <p:txBody>
          <a:bodyPr wrap="square" lIns="0" rIns="0" tIns="11049" bIns="0" anchor="t">
            <a:noAutofit/>
          </a:bodyPr>
          <a:lstStyle/>
          <a:p>
            <a:pPr algn="ctr">
              <a:lnSpc>
                <a:spcPts val="1537"/>
              </a:lnSpc>
              <a:spcBef>
                <a:spcPts val="0"/>
              </a:spcBef>
              <a:spcAft>
                <a:spcPts val="0"/>
              </a:spcAft>
              <a:defRPr sz="1450">
                <a:latin typeface="Arial"/>
              </a:defRPr>
            </a:pPr>
            <a:r>
              <a:rPr sz="1450" b="1">
                <a:solidFill>
                  <a:srgbClr val="17302B"/>
                </a:solidFill>
                <a:latin typeface="Arial"/>
              </a:rPr>
              <a:t>Ken Griffin</a:t>
            </a:r>
          </a:p>
        </p:txBody>
      </p:sp>
      <p:cxnSp>
        <p:nvCxnSpPr>
          <p:cNvPr id="39" name="shared ownership top"/>
          <p:cNvCxnSpPr/>
          <p:nvPr/>
        </p:nvCxnSpPr>
        <p:spPr>
          <a:xfrm>
            <a:off x="10515600" y="3236976"/>
            <a:ext cx="0" cy="420624"/>
          </a:xfrm>
          <a:prstGeom prst="line">
            <a:avLst/>
          </a:prstGeom>
          <a:ln w="11430">
            <a:solidFill>
              <a:srgbClr val="5E6B65"/>
            </a:solidFill>
            <a:prstDash val="dash"/>
          </a:ln>
          <a:effectLst/>
        </p:spPr>
        <p:style>
          <a:lnRef idx="2">
            <a:schemeClr val="accent1"/>
          </a:lnRef>
          <a:fillRef idx="0">
            <a:schemeClr val="accent1"/>
          </a:fillRef>
          <a:effectRef idx="0">
            <a:schemeClr val="accent1"/>
          </a:effectRef>
          <a:fontRef idx="minor">
            <a:schemeClr val="tx1"/>
          </a:fontRef>
        </p:style>
      </p:cxnSp>
      <p:cxnSp>
        <p:nvCxnSpPr>
          <p:cNvPr id="40" name="shared ownership bottom"/>
          <p:cNvCxnSpPr/>
          <p:nvPr/>
        </p:nvCxnSpPr>
        <p:spPr>
          <a:xfrm>
            <a:off x="10515600" y="4261104"/>
            <a:ext cx="0" cy="493776"/>
          </a:xfrm>
          <a:prstGeom prst="line">
            <a:avLst/>
          </a:prstGeom>
          <a:ln w="11430">
            <a:solidFill>
              <a:srgbClr val="5E6B65"/>
            </a:solidFill>
            <a:prstDash val="dash"/>
          </a:ln>
          <a:effectLst/>
        </p:spPr>
        <p:style>
          <a:lnRef idx="2">
            <a:schemeClr val="accent1"/>
          </a:lnRef>
          <a:fillRef idx="0">
            <a:schemeClr val="accent1"/>
          </a:fillRef>
          <a:effectRef idx="0">
            <a:schemeClr val="accent1"/>
          </a:effectRef>
          <a:fontRef idx="minor">
            <a:schemeClr val="tx1"/>
          </a:fontRef>
        </p:style>
      </p:cxnSp>
      <p:sp>
        <p:nvSpPr>
          <p:cNvPr id="41" name="ownership label"/>
          <p:cNvSpPr txBox="1"/>
          <p:nvPr/>
        </p:nvSpPr>
        <p:spPr>
          <a:xfrm>
            <a:off x="10725912" y="4334256"/>
            <a:ext cx="786384" cy="384048"/>
          </a:xfrm>
          <a:prstGeom prst="rect">
            <a:avLst/>
          </a:prstGeom>
          <a:noFill/>
        </p:spPr>
        <p:txBody>
          <a:bodyPr wrap="square" lIns="0" rIns="0" tIns="7848" bIns="0" anchor="t">
            <a:noAutofit/>
          </a:bodyPr>
          <a:lstStyle/>
          <a:p>
            <a:pPr algn="l">
              <a:lnSpc>
                <a:spcPts val="1163"/>
              </a:lnSpc>
              <a:spcBef>
                <a:spcPts val="0"/>
              </a:spcBef>
              <a:spcAft>
                <a:spcPts val="0"/>
              </a:spcAft>
              <a:defRPr sz="1030">
                <a:latin typeface="Arial"/>
              </a:defRPr>
            </a:pPr>
            <a:r>
              <a:rPr sz="1030" b="0">
                <a:solidFill>
                  <a:srgbClr val="5E6B65"/>
                </a:solidFill>
                <a:latin typeface="Arial"/>
              </a:rPr>
              <a:t>Leads</a:t>
            </a:r>
          </a:p>
          <a:p>
            <a:pPr algn="l">
              <a:lnSpc>
                <a:spcPts val="1163"/>
              </a:lnSpc>
              <a:spcBef>
                <a:spcPts val="0"/>
              </a:spcBef>
              <a:spcAft>
                <a:spcPts val="0"/>
              </a:spcAft>
              <a:defRPr sz="1030">
                <a:latin typeface="Arial"/>
              </a:defRPr>
            </a:pPr>
            <a:r>
              <a:rPr sz="1030" b="0">
                <a:solidFill>
                  <a:srgbClr val="5E6B65"/>
                </a:solidFill>
                <a:latin typeface="Arial"/>
              </a:rPr>
              <a:t>both firms</a:t>
            </a:r>
          </a:p>
        </p:txBody>
      </p:sp>
      <p:cxnSp>
        <p:nvCxnSpPr>
          <p:cNvPr id="42" name="retail buying"/>
          <p:cNvCxnSpPr/>
          <p:nvPr/>
        </p:nvCxnSpPr>
        <p:spPr>
          <a:xfrm>
            <a:off x="5020056" y="3264408"/>
            <a:ext cx="0" cy="1481328"/>
          </a:xfrm>
          <a:prstGeom prst="line">
            <a:avLst/>
          </a:prstGeom>
          <a:ln w="15875">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3" name="buying label"/>
          <p:cNvSpPr txBox="1"/>
          <p:nvPr/>
        </p:nvSpPr>
        <p:spPr>
          <a:xfrm>
            <a:off x="4206240" y="3831336"/>
            <a:ext cx="713232" cy="256032"/>
          </a:xfrm>
          <a:prstGeom prst="rect">
            <a:avLst/>
          </a:prstGeom>
          <a:noFill/>
        </p:spPr>
        <p:txBody>
          <a:bodyPr wrap="square" lIns="0" rIns="0" tIns="8381" bIns="0" anchor="t">
            <a:noAutofit/>
          </a:bodyPr>
          <a:lstStyle/>
          <a:p>
            <a:pPr algn="l">
              <a:lnSpc>
                <a:spcPts val="1243"/>
              </a:lnSpc>
              <a:spcBef>
                <a:spcPts val="0"/>
              </a:spcBef>
              <a:spcAft>
                <a:spcPts val="0"/>
              </a:spcAft>
              <a:defRPr sz="1100">
                <a:latin typeface="Arial"/>
              </a:defRPr>
            </a:pPr>
            <a:r>
              <a:rPr sz="1100" b="1">
                <a:solidFill>
                  <a:srgbClr val="2F7358"/>
                </a:solidFill>
                <a:latin typeface="Arial"/>
              </a:rPr>
              <a:t>Buying</a:t>
            </a:r>
          </a:p>
        </p:txBody>
      </p:sp>
      <p:cxnSp>
        <p:nvCxnSpPr>
          <p:cNvPr id="44" name="blocked buying"/>
          <p:cNvCxnSpPr/>
          <p:nvPr/>
        </p:nvCxnSpPr>
        <p:spPr>
          <a:xfrm flipH="1">
            <a:off x="5614416" y="3264408"/>
            <a:ext cx="2093976" cy="1435608"/>
          </a:xfrm>
          <a:prstGeom prst="line">
            <a:avLst/>
          </a:prstGeom>
          <a:ln w="15240">
            <a:solidFill>
              <a:srgbClr val="B13F36"/>
            </a:solidFill>
            <a:tailEnd type="triangle" w="med" len="med"/>
            <a:prstDash val="dash"/>
          </a:ln>
          <a:effectLst/>
        </p:spPr>
        <p:style>
          <a:lnRef idx="2">
            <a:schemeClr val="accent1"/>
          </a:lnRef>
          <a:fillRef idx="0">
            <a:schemeClr val="accent1"/>
          </a:fillRef>
          <a:effectRef idx="0">
            <a:schemeClr val="accent1"/>
          </a:effectRef>
          <a:fontRef idx="minor">
            <a:schemeClr val="tx1"/>
          </a:fontRef>
        </p:style>
      </p:cxnSp>
      <p:sp>
        <p:nvSpPr>
          <p:cNvPr id="45" name="restriction label"/>
          <p:cNvSpPr txBox="1"/>
          <p:nvPr/>
        </p:nvSpPr>
        <p:spPr>
          <a:xfrm>
            <a:off x="7717536" y="3867912"/>
            <a:ext cx="1335024" cy="429768"/>
          </a:xfrm>
          <a:prstGeom prst="rect">
            <a:avLst/>
          </a:prstGeom>
          <a:noFill/>
        </p:spPr>
        <p:txBody>
          <a:bodyPr wrap="square" lIns="0" rIns="0" tIns="8763" bIns="0" anchor="t">
            <a:noAutofit/>
          </a:bodyPr>
          <a:lstStyle/>
          <a:p>
            <a:pPr algn="ctr">
              <a:lnSpc>
                <a:spcPts val="1299"/>
              </a:lnSpc>
              <a:spcBef>
                <a:spcPts val="0"/>
              </a:spcBef>
              <a:spcAft>
                <a:spcPts val="0"/>
              </a:spcAft>
              <a:defRPr sz="1150">
                <a:latin typeface="Arial"/>
              </a:defRPr>
            </a:pPr>
            <a:r>
              <a:rPr sz="1150" b="1">
                <a:solidFill>
                  <a:srgbClr val="B13F36"/>
                </a:solidFill>
                <a:latin typeface="Arial"/>
              </a:rPr>
              <a:t>Jan 28:</a:t>
            </a:r>
          </a:p>
          <a:p>
            <a:pPr algn="ctr">
              <a:lnSpc>
                <a:spcPts val="1299"/>
              </a:lnSpc>
              <a:spcBef>
                <a:spcPts val="0"/>
              </a:spcBef>
              <a:spcAft>
                <a:spcPts val="0"/>
              </a:spcAft>
              <a:defRPr sz="1150">
                <a:latin typeface="Arial"/>
              </a:defRPr>
            </a:pPr>
            <a:r>
              <a:rPr sz="1150" b="1">
                <a:solidFill>
                  <a:srgbClr val="B13F36"/>
                </a:solidFill>
                <a:latin typeface="Arial"/>
              </a:rPr>
              <a:t>buying blocked</a:t>
            </a:r>
          </a:p>
        </p:txBody>
      </p:sp>
      <p:cxnSp>
        <p:nvCxnSpPr>
          <p:cNvPr id="46" name="blocked buying cross"/>
          <p:cNvCxnSpPr/>
          <p:nvPr/>
        </p:nvCxnSpPr>
        <p:spPr>
          <a:xfrm>
            <a:off x="6748272" y="3822191"/>
            <a:ext cx="128016" cy="128017"/>
          </a:xfrm>
          <a:prstGeom prst="line">
            <a:avLst/>
          </a:prstGeom>
          <a:ln w="19050">
            <a:solidFill>
              <a:srgbClr val="B13F36"/>
            </a:solidFill>
          </a:ln>
          <a:effectLst/>
        </p:spPr>
        <p:style>
          <a:lnRef idx="2">
            <a:schemeClr val="accent1"/>
          </a:lnRef>
          <a:fillRef idx="0">
            <a:schemeClr val="accent1"/>
          </a:fillRef>
          <a:effectRef idx="0">
            <a:schemeClr val="accent1"/>
          </a:effectRef>
          <a:fontRef idx="minor">
            <a:schemeClr val="tx1"/>
          </a:fontRef>
        </p:style>
      </p:cxnSp>
      <p:cxnSp>
        <p:nvCxnSpPr>
          <p:cNvPr id="47" name="blocked buying cross"/>
          <p:cNvCxnSpPr/>
          <p:nvPr/>
        </p:nvCxnSpPr>
        <p:spPr>
          <a:xfrm flipV="1">
            <a:off x="6748272" y="3822191"/>
            <a:ext cx="128016" cy="128017"/>
          </a:xfrm>
          <a:prstGeom prst="line">
            <a:avLst/>
          </a:prstGeom>
          <a:ln w="19050">
            <a:solidFill>
              <a:srgbClr val="B13F36"/>
            </a:solidFill>
          </a:ln>
          <a:effectLst/>
        </p:spPr>
        <p:style>
          <a:lnRef idx="2">
            <a:schemeClr val="accent1"/>
          </a:lnRef>
          <a:fillRef idx="0">
            <a:schemeClr val="accent1"/>
          </a:fillRef>
          <a:effectRef idx="0">
            <a:schemeClr val="accent1"/>
          </a:effectRef>
          <a:fontRef idx="minor">
            <a:schemeClr val="tx1"/>
          </a:fontRef>
        </p:style>
      </p:cxnSp>
      <p:cxnSp>
        <p:nvCxnSpPr>
          <p:cNvPr id="48" name="Melvin shorts"/>
          <p:cNvCxnSpPr/>
          <p:nvPr/>
        </p:nvCxnSpPr>
        <p:spPr>
          <a:xfrm flipH="1">
            <a:off x="5971032" y="5221224"/>
            <a:ext cx="768096" cy="0"/>
          </a:xfrm>
          <a:prstGeom prst="line">
            <a:avLst/>
          </a:prstGeom>
          <a:ln w="14604">
            <a:solidFill>
              <a:srgbClr val="B13F36"/>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9" name="short position label"/>
          <p:cNvSpPr txBox="1"/>
          <p:nvPr/>
        </p:nvSpPr>
        <p:spPr>
          <a:xfrm>
            <a:off x="5952744" y="4828032"/>
            <a:ext cx="777240" cy="338328"/>
          </a:xfrm>
          <a:prstGeom prst="rect">
            <a:avLst/>
          </a:prstGeom>
          <a:noFill/>
        </p:spPr>
        <p:txBody>
          <a:bodyPr wrap="square" lIns="0" rIns="0" tIns="7848" bIns="0" anchor="t">
            <a:noAutofit/>
          </a:bodyPr>
          <a:lstStyle/>
          <a:p>
            <a:pPr algn="ctr">
              <a:lnSpc>
                <a:spcPts val="1163"/>
              </a:lnSpc>
              <a:spcBef>
                <a:spcPts val="0"/>
              </a:spcBef>
              <a:spcAft>
                <a:spcPts val="0"/>
              </a:spcAft>
              <a:defRPr sz="1030">
                <a:latin typeface="Arial"/>
              </a:defRPr>
            </a:pPr>
            <a:r>
              <a:rPr sz="1030" b="1">
                <a:solidFill>
                  <a:srgbClr val="B13F36"/>
                </a:solidFill>
                <a:latin typeface="Arial"/>
              </a:rPr>
              <a:t>Shorts</a:t>
            </a:r>
          </a:p>
          <a:p>
            <a:pPr algn="ctr">
              <a:lnSpc>
                <a:spcPts val="1163"/>
              </a:lnSpc>
              <a:spcBef>
                <a:spcPts val="0"/>
              </a:spcBef>
              <a:spcAft>
                <a:spcPts val="0"/>
              </a:spcAft>
              <a:defRPr sz="1030">
                <a:latin typeface="Arial"/>
              </a:defRPr>
            </a:pPr>
            <a:r>
              <a:rPr sz="1030" b="1">
                <a:solidFill>
                  <a:srgbClr val="B13F36"/>
                </a:solidFill>
                <a:latin typeface="Arial"/>
              </a:rPr>
              <a:t>GME</a:t>
            </a:r>
          </a:p>
        </p:txBody>
      </p:sp>
      <p:cxnSp>
        <p:nvCxnSpPr>
          <p:cNvPr id="50" name="Citadel rescue"/>
          <p:cNvCxnSpPr/>
          <p:nvPr/>
        </p:nvCxnSpPr>
        <p:spPr>
          <a:xfrm flipH="1">
            <a:off x="8650224" y="5221224"/>
            <a:ext cx="841248" cy="0"/>
          </a:xfrm>
          <a:prstGeom prst="line">
            <a:avLst/>
          </a:prstGeom>
          <a:ln w="14604">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rescue amount"/>
          <p:cNvSpPr txBox="1"/>
          <p:nvPr/>
        </p:nvSpPr>
        <p:spPr>
          <a:xfrm>
            <a:off x="8641080" y="4809744"/>
            <a:ext cx="859536" cy="329184"/>
          </a:xfrm>
          <a:prstGeom prst="rect">
            <a:avLst/>
          </a:prstGeom>
          <a:noFill/>
        </p:spPr>
        <p:txBody>
          <a:bodyPr wrap="square" lIns="0" rIns="0" tIns="8229" bIns="0" anchor="t">
            <a:noAutofit/>
          </a:bodyPr>
          <a:lstStyle/>
          <a:p>
            <a:pPr algn="ctr">
              <a:lnSpc>
                <a:spcPts val="1220"/>
              </a:lnSpc>
              <a:spcBef>
                <a:spcPts val="0"/>
              </a:spcBef>
              <a:spcAft>
                <a:spcPts val="0"/>
              </a:spcAft>
              <a:defRPr sz="1080">
                <a:latin typeface="Arial"/>
              </a:defRPr>
            </a:pPr>
            <a:r>
              <a:rPr sz="1080" b="1">
                <a:solidFill>
                  <a:srgbClr val="2F7358"/>
                </a:solidFill>
                <a:latin typeface="Arial"/>
              </a:rPr>
              <a:t>$2bn</a:t>
            </a:r>
          </a:p>
          <a:p>
            <a:pPr algn="ctr">
              <a:lnSpc>
                <a:spcPts val="1220"/>
              </a:lnSpc>
              <a:spcBef>
                <a:spcPts val="0"/>
              </a:spcBef>
              <a:spcAft>
                <a:spcPts val="0"/>
              </a:spcAft>
              <a:defRPr sz="1080">
                <a:latin typeface="Arial"/>
              </a:defRPr>
            </a:pPr>
            <a:r>
              <a:rPr sz="1080" b="1">
                <a:solidFill>
                  <a:srgbClr val="2F7358"/>
                </a:solidFill>
                <a:latin typeface="Arial"/>
              </a:rPr>
              <a:t>rescue</a:t>
            </a:r>
          </a:p>
        </p:txBody>
      </p:sp>
      <p:sp>
        <p:nvSpPr>
          <p:cNvPr id="52" name="conclusion mark"/>
          <p:cNvSpPr/>
          <p:nvPr/>
        </p:nvSpPr>
        <p:spPr>
          <a:xfrm>
            <a:off x="658368" y="5961888"/>
            <a:ext cx="50292" cy="365760"/>
          </a:xfrm>
          <a:prstGeom prst="rect">
            <a:avLst/>
          </a:prstGeom>
          <a:solidFill>
            <a:srgbClr val="B13F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akeaway"/>
          <p:cNvSpPr txBox="1"/>
          <p:nvPr/>
        </p:nvSpPr>
        <p:spPr>
          <a:xfrm>
            <a:off x="877824" y="5934456"/>
            <a:ext cx="10561320" cy="493776"/>
          </a:xfrm>
          <a:prstGeom prst="rect">
            <a:avLst/>
          </a:prstGeom>
          <a:noFill/>
        </p:spPr>
        <p:txBody>
          <a:bodyPr wrap="square" lIns="0" rIns="0" tIns="13716" bIns="0" anchor="t">
            <a:noAutofit/>
          </a:bodyPr>
          <a:lstStyle/>
          <a:p>
            <a:pPr algn="l">
              <a:lnSpc>
                <a:spcPts val="1980"/>
              </a:lnSpc>
              <a:spcBef>
                <a:spcPts val="0"/>
              </a:spcBef>
              <a:spcAft>
                <a:spcPts val="0"/>
              </a:spcAft>
              <a:defRPr sz="1800">
                <a:latin typeface="Arial"/>
              </a:defRPr>
            </a:pPr>
            <a:r>
              <a:rPr sz="1800" b="1">
                <a:solidFill>
                  <a:srgbClr val="17302B"/>
                </a:solidFill>
                <a:latin typeface="Arial"/>
              </a:rPr>
              <a:t>These links raise a conflict concern; they do not prove coordination.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Zou Zhihua</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13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Q3 / OPPOSING VIEW</a:t>
            </a:r>
          </a:p>
        </p:txBody>
      </p:sp>
      <p:sp>
        <p:nvSpPr>
          <p:cNvPr id="7" name="slide title"/>
          <p:cNvSpPr txBox="1"/>
          <p:nvPr/>
        </p:nvSpPr>
        <p:spPr>
          <a:xfrm>
            <a:off x="658368" y="859536"/>
            <a:ext cx="10835640" cy="676656"/>
          </a:xfrm>
          <a:prstGeom prst="rect">
            <a:avLst/>
          </a:prstGeom>
          <a:noFill/>
        </p:spPr>
        <p:txBody>
          <a:bodyPr wrap="square" lIns="0" rIns="0" tIns="25908" bIns="0" anchor="t">
            <a:noAutofit/>
          </a:bodyPr>
          <a:lstStyle/>
          <a:p>
            <a:pPr algn="l">
              <a:lnSpc>
                <a:spcPts val="3638"/>
              </a:lnSpc>
              <a:spcBef>
                <a:spcPts val="0"/>
              </a:spcBef>
              <a:spcAft>
                <a:spcPts val="0"/>
              </a:spcAft>
              <a:defRPr sz="3400">
                <a:latin typeface="Arial"/>
              </a:defRPr>
            </a:pPr>
            <a:r>
              <a:rPr sz="3400" b="1">
                <a:solidFill>
                  <a:srgbClr val="17302B"/>
                </a:solidFill>
                <a:latin typeface="Arial"/>
              </a:rPr>
              <a:t>Robinhood users bore the cost of the restriction</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The case for fair access and better contingency planning.</a:t>
            </a:r>
          </a:p>
        </p:txBody>
      </p:sp>
      <p:sp>
        <p:nvSpPr>
          <p:cNvPr id="9" name="eyebrow"/>
          <p:cNvSpPr txBox="1"/>
          <p:nvPr/>
        </p:nvSpPr>
        <p:spPr>
          <a:xfrm>
            <a:off x="713232" y="2267712"/>
            <a:ext cx="283464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02 / ONE-SIDED ACCESS</a:t>
            </a:r>
          </a:p>
        </p:txBody>
      </p:sp>
      <p:sp>
        <p:nvSpPr>
          <p:cNvPr id="10" name="fair access thesis"/>
          <p:cNvSpPr txBox="1"/>
          <p:nvPr/>
        </p:nvSpPr>
        <p:spPr>
          <a:xfrm>
            <a:off x="713232" y="2688336"/>
            <a:ext cx="2770632" cy="877824"/>
          </a:xfrm>
          <a:prstGeom prst="rect">
            <a:avLst/>
          </a:prstGeom>
          <a:noFill/>
        </p:spPr>
        <p:txBody>
          <a:bodyPr wrap="square" lIns="0" rIns="0" tIns="16763" bIns="0" anchor="t">
            <a:noAutofit/>
          </a:bodyPr>
          <a:lstStyle/>
          <a:p>
            <a:pPr algn="l">
              <a:lnSpc>
                <a:spcPts val="2464"/>
              </a:lnSpc>
              <a:spcBef>
                <a:spcPts val="0"/>
              </a:spcBef>
              <a:spcAft>
                <a:spcPts val="0"/>
              </a:spcAft>
              <a:defRPr sz="2200">
                <a:latin typeface="Arial"/>
              </a:defRPr>
            </a:pPr>
            <a:r>
              <a:rPr sz="2200" b="1">
                <a:solidFill>
                  <a:srgbClr val="17302B"/>
                </a:solidFill>
                <a:latin typeface="Arial"/>
              </a:rPr>
              <a:t>New buys blocked.</a:t>
            </a:r>
          </a:p>
          <a:p>
            <a:pPr algn="l">
              <a:lnSpc>
                <a:spcPts val="2464"/>
              </a:lnSpc>
              <a:spcBef>
                <a:spcPts val="0"/>
              </a:spcBef>
              <a:spcAft>
                <a:spcPts val="0"/>
              </a:spcAft>
              <a:defRPr sz="2200">
                <a:latin typeface="Arial"/>
              </a:defRPr>
            </a:pPr>
            <a:r>
              <a:rPr sz="2200" b="1">
                <a:solidFill>
                  <a:srgbClr val="17302B"/>
                </a:solidFill>
                <a:latin typeface="Arial"/>
              </a:rPr>
              <a:t>Selling allowed.</a:t>
            </a:r>
          </a:p>
        </p:txBody>
      </p:sp>
      <p:sp>
        <p:nvSpPr>
          <p:cNvPr id="11" name="fairness explanation"/>
          <p:cNvSpPr txBox="1"/>
          <p:nvPr/>
        </p:nvSpPr>
        <p:spPr>
          <a:xfrm>
            <a:off x="713232" y="3685032"/>
            <a:ext cx="2770632" cy="54864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A restriction on only one</a:t>
            </a:r>
          </a:p>
          <a:p>
            <a:pPr algn="l">
              <a:lnSpc>
                <a:spcPts val="1920"/>
              </a:lnSpc>
              <a:spcBef>
                <a:spcPts val="0"/>
              </a:spcBef>
              <a:spcAft>
                <a:spcPts val="0"/>
              </a:spcAft>
              <a:defRPr sz="1700">
                <a:latin typeface="Arial"/>
              </a:defRPr>
            </a:pPr>
            <a:r>
              <a:rPr sz="1700" b="0">
                <a:solidFill>
                  <a:srgbClr val="5E6B65"/>
                </a:solidFill>
                <a:latin typeface="Arial"/>
              </a:rPr>
              <a:t>side is not neutral.</a:t>
            </a:r>
          </a:p>
        </p:txBody>
      </p:sp>
      <p:sp>
        <p:nvSpPr>
          <p:cNvPr id="12" name="eyebrow"/>
          <p:cNvSpPr txBox="1"/>
          <p:nvPr/>
        </p:nvSpPr>
        <p:spPr>
          <a:xfrm>
            <a:off x="4087368" y="2267712"/>
            <a:ext cx="283464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JAN 28, 2021</a:t>
            </a:r>
          </a:p>
        </p:txBody>
      </p:sp>
      <p:sp>
        <p:nvSpPr>
          <p:cNvPr id="13" name="retail comparison title"/>
          <p:cNvSpPr txBox="1"/>
          <p:nvPr/>
        </p:nvSpPr>
        <p:spPr>
          <a:xfrm>
            <a:off x="4087368" y="2724912"/>
            <a:ext cx="2157984" cy="365760"/>
          </a:xfrm>
          <a:prstGeom prst="rect">
            <a:avLst/>
          </a:prstGeom>
          <a:noFill/>
        </p:spPr>
        <p:txBody>
          <a:bodyPr wrap="square" lIns="0" rIns="0" tIns="14477" bIns="0" anchor="t">
            <a:noAutofit/>
          </a:bodyPr>
          <a:lstStyle/>
          <a:p>
            <a:pPr algn="l">
              <a:lnSpc>
                <a:spcPts val="2147"/>
              </a:lnSpc>
              <a:spcBef>
                <a:spcPts val="0"/>
              </a:spcBef>
              <a:spcAft>
                <a:spcPts val="0"/>
              </a:spcAft>
              <a:defRPr sz="1900">
                <a:latin typeface="Arial"/>
              </a:defRPr>
            </a:pPr>
            <a:r>
              <a:rPr sz="1900" b="1">
                <a:solidFill>
                  <a:srgbClr val="17302B"/>
                </a:solidFill>
                <a:latin typeface="Arial"/>
              </a:rPr>
              <a:t>Robinhood users</a:t>
            </a:r>
          </a:p>
        </p:txBody>
      </p:sp>
      <p:sp>
        <p:nvSpPr>
          <p:cNvPr id="14" name="retail sell only"/>
          <p:cNvSpPr txBox="1"/>
          <p:nvPr/>
        </p:nvSpPr>
        <p:spPr>
          <a:xfrm>
            <a:off x="4087368" y="3227832"/>
            <a:ext cx="2103120" cy="448056"/>
          </a:xfrm>
          <a:prstGeom prst="rect">
            <a:avLst/>
          </a:prstGeom>
          <a:noFill/>
        </p:spPr>
        <p:txBody>
          <a:bodyPr wrap="square" lIns="0" rIns="0" tIns="18288" bIns="0" anchor="t">
            <a:noAutofit/>
          </a:bodyPr>
          <a:lstStyle/>
          <a:p>
            <a:pPr algn="l">
              <a:lnSpc>
                <a:spcPts val="2711"/>
              </a:lnSpc>
              <a:spcBef>
                <a:spcPts val="0"/>
              </a:spcBef>
              <a:spcAft>
                <a:spcPts val="0"/>
              </a:spcAft>
              <a:defRPr sz="2400">
                <a:latin typeface="Arial"/>
              </a:defRPr>
            </a:pPr>
            <a:r>
              <a:rPr sz="2400" b="1">
                <a:solidFill>
                  <a:srgbClr val="B13F36"/>
                </a:solidFill>
                <a:latin typeface="Arial"/>
              </a:rPr>
              <a:t>Sell only</a:t>
            </a:r>
          </a:p>
        </p:txBody>
      </p:sp>
      <p:sp>
        <p:nvSpPr>
          <p:cNvPr id="15" name="institution comparison title"/>
          <p:cNvSpPr txBox="1"/>
          <p:nvPr/>
        </p:nvSpPr>
        <p:spPr>
          <a:xfrm>
            <a:off x="6583680" y="2724912"/>
            <a:ext cx="2084831" cy="365760"/>
          </a:xfrm>
          <a:prstGeom prst="rect">
            <a:avLst/>
          </a:prstGeom>
          <a:noFill/>
        </p:spPr>
        <p:txBody>
          <a:bodyPr wrap="square" lIns="0" rIns="0" tIns="14477" bIns="0" anchor="t">
            <a:noAutofit/>
          </a:bodyPr>
          <a:lstStyle/>
          <a:p>
            <a:pPr algn="l">
              <a:lnSpc>
                <a:spcPts val="2147"/>
              </a:lnSpc>
              <a:spcBef>
                <a:spcPts val="0"/>
              </a:spcBef>
              <a:spcAft>
                <a:spcPts val="0"/>
              </a:spcAft>
              <a:defRPr sz="1900">
                <a:latin typeface="Arial"/>
              </a:defRPr>
            </a:pPr>
            <a:r>
              <a:rPr sz="1900" b="1">
                <a:solidFill>
                  <a:srgbClr val="17302B"/>
                </a:solidFill>
                <a:latin typeface="Arial"/>
              </a:rPr>
              <a:t>Institutions</a:t>
            </a:r>
          </a:p>
        </p:txBody>
      </p:sp>
      <p:sp>
        <p:nvSpPr>
          <p:cNvPr id="16" name="institution trading"/>
          <p:cNvSpPr txBox="1"/>
          <p:nvPr/>
        </p:nvSpPr>
        <p:spPr>
          <a:xfrm>
            <a:off x="6583680" y="3227832"/>
            <a:ext cx="2103120" cy="448056"/>
          </a:xfrm>
          <a:prstGeom prst="rect">
            <a:avLst/>
          </a:prstGeom>
          <a:noFill/>
        </p:spPr>
        <p:txBody>
          <a:bodyPr wrap="square" lIns="0" rIns="0" tIns="16002" bIns="0" anchor="t">
            <a:noAutofit/>
          </a:bodyPr>
          <a:lstStyle/>
          <a:p>
            <a:pPr algn="l">
              <a:lnSpc>
                <a:spcPts val="2372"/>
              </a:lnSpc>
              <a:spcBef>
                <a:spcPts val="0"/>
              </a:spcBef>
              <a:spcAft>
                <a:spcPts val="0"/>
              </a:spcAft>
              <a:defRPr sz="2100">
                <a:latin typeface="Arial"/>
              </a:defRPr>
            </a:pPr>
            <a:r>
              <a:rPr sz="2100" b="1">
                <a:solidFill>
                  <a:srgbClr val="2F7358"/>
                </a:solidFill>
                <a:latin typeface="Arial"/>
              </a:rPr>
              <a:t>Traded freely</a:t>
            </a:r>
          </a:p>
        </p:txBody>
      </p:sp>
      <p:cxnSp>
        <p:nvCxnSpPr>
          <p:cNvPr id="17" name="connector"/>
          <p:cNvCxnSpPr/>
          <p:nvPr/>
        </p:nvCxnSpPr>
        <p:spPr>
          <a:xfrm>
            <a:off x="9144000" y="2423160"/>
            <a:ext cx="0" cy="1536192"/>
          </a:xfrm>
          <a:prstGeom prst="line">
            <a:avLst/>
          </a:prstGeom>
          <a:ln w="889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18" name="GME daily drop"/>
          <p:cNvSpPr txBox="1"/>
          <p:nvPr/>
        </p:nvSpPr>
        <p:spPr>
          <a:xfrm>
            <a:off x="9500616" y="2688336"/>
            <a:ext cx="1993392" cy="777240"/>
          </a:xfrm>
          <a:prstGeom prst="rect">
            <a:avLst/>
          </a:prstGeom>
          <a:noFill/>
        </p:spPr>
        <p:txBody>
          <a:bodyPr wrap="square" lIns="0" rIns="0" tIns="33527" bIns="0" anchor="t">
            <a:noAutofit/>
          </a:bodyPr>
          <a:lstStyle/>
          <a:p>
            <a:pPr algn="l">
              <a:lnSpc>
                <a:spcPts val="4972"/>
              </a:lnSpc>
              <a:spcBef>
                <a:spcPts val="0"/>
              </a:spcBef>
              <a:spcAft>
                <a:spcPts val="0"/>
              </a:spcAft>
              <a:defRPr sz="4400">
                <a:latin typeface="Arial"/>
              </a:defRPr>
            </a:pPr>
            <a:r>
              <a:rPr sz="4400" b="1">
                <a:solidFill>
                  <a:srgbClr val="B13F36"/>
                </a:solidFill>
                <a:latin typeface="Arial"/>
              </a:rPr>
              <a:t>−44%</a:t>
            </a:r>
          </a:p>
        </p:txBody>
      </p:sp>
      <p:sp>
        <p:nvSpPr>
          <p:cNvPr id="19" name="drop interpretation"/>
          <p:cNvSpPr txBox="1"/>
          <p:nvPr/>
        </p:nvSpPr>
        <p:spPr>
          <a:xfrm>
            <a:off x="9509760" y="3547872"/>
            <a:ext cx="1929384" cy="594360"/>
          </a:xfrm>
          <a:prstGeom prst="rect">
            <a:avLst/>
          </a:prstGeom>
          <a:noFill/>
        </p:spPr>
        <p:txBody>
          <a:bodyPr wrap="square" lIns="0" rIns="0" tIns="11811" bIns="0" anchor="t">
            <a:noAutofit/>
          </a:bodyPr>
          <a:lstStyle/>
          <a:p>
            <a:pPr algn="l">
              <a:lnSpc>
                <a:spcPts val="1751"/>
              </a:lnSpc>
              <a:spcBef>
                <a:spcPts val="0"/>
              </a:spcBef>
              <a:spcAft>
                <a:spcPts val="0"/>
              </a:spcAft>
              <a:defRPr sz="1550">
                <a:latin typeface="Arial"/>
              </a:defRPr>
            </a:pPr>
            <a:r>
              <a:rPr sz="1550" b="0">
                <a:solidFill>
                  <a:srgbClr val="5E6B65"/>
                </a:solidFill>
                <a:latin typeface="Arial"/>
              </a:rPr>
              <a:t>GME that day; short</a:t>
            </a:r>
          </a:p>
          <a:p>
            <a:pPr algn="l">
              <a:lnSpc>
                <a:spcPts val="1751"/>
              </a:lnSpc>
              <a:spcBef>
                <a:spcPts val="0"/>
              </a:spcBef>
              <a:spcAft>
                <a:spcPts val="0"/>
              </a:spcAft>
              <a:defRPr sz="1550">
                <a:latin typeface="Arial"/>
              </a:defRPr>
            </a:pPr>
            <a:r>
              <a:rPr sz="1550" b="0">
                <a:solidFill>
                  <a:srgbClr val="5E6B65"/>
                </a:solidFill>
                <a:latin typeface="Arial"/>
              </a:rPr>
              <a:t>sellers benefited.</a:t>
            </a:r>
          </a:p>
        </p:txBody>
      </p:sp>
      <p:cxnSp>
        <p:nvCxnSpPr>
          <p:cNvPr id="20" name="connector"/>
          <p:cNvCxnSpPr/>
          <p:nvPr/>
        </p:nvCxnSpPr>
        <p:spPr>
          <a:xfrm>
            <a:off x="713232" y="4370832"/>
            <a:ext cx="10762488" cy="0"/>
          </a:xfrm>
          <a:prstGeom prst="line">
            <a:avLst/>
          </a:prstGeom>
          <a:ln w="889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1" name="eyebrow"/>
          <p:cNvSpPr txBox="1"/>
          <p:nvPr/>
        </p:nvSpPr>
        <p:spPr>
          <a:xfrm>
            <a:off x="713232" y="4626864"/>
            <a:ext cx="283464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03 / PREPAREDNESS</a:t>
            </a:r>
          </a:p>
        </p:txBody>
      </p:sp>
      <p:sp>
        <p:nvSpPr>
          <p:cNvPr id="22" name="funding preparedness thesis"/>
          <p:cNvSpPr txBox="1"/>
          <p:nvPr/>
        </p:nvSpPr>
        <p:spPr>
          <a:xfrm>
            <a:off x="713232" y="5001768"/>
            <a:ext cx="2834640" cy="822960"/>
          </a:xfrm>
          <a:prstGeom prst="rect">
            <a:avLst/>
          </a:prstGeom>
          <a:noFill/>
        </p:spPr>
        <p:txBody>
          <a:bodyPr wrap="square" lIns="0" rIns="0" tIns="17526" bIns="0" anchor="t">
            <a:noAutofit/>
          </a:bodyPr>
          <a:lstStyle/>
          <a:p>
            <a:pPr algn="l">
              <a:lnSpc>
                <a:spcPts val="2622"/>
              </a:lnSpc>
              <a:spcBef>
                <a:spcPts val="0"/>
              </a:spcBef>
              <a:spcAft>
                <a:spcPts val="0"/>
              </a:spcAft>
              <a:defRPr sz="2300">
                <a:latin typeface="Arial"/>
              </a:defRPr>
            </a:pPr>
            <a:r>
              <a:rPr sz="2300" b="1">
                <a:solidFill>
                  <a:srgbClr val="17302B"/>
                </a:solidFill>
                <a:latin typeface="Arial"/>
              </a:rPr>
              <a:t>Funding followed</a:t>
            </a:r>
          </a:p>
          <a:p>
            <a:pPr algn="l">
              <a:lnSpc>
                <a:spcPts val="2622"/>
              </a:lnSpc>
              <a:spcBef>
                <a:spcPts val="0"/>
              </a:spcBef>
              <a:spcAft>
                <a:spcPts val="0"/>
              </a:spcAft>
              <a:defRPr sz="2300">
                <a:latin typeface="Arial"/>
              </a:defRPr>
            </a:pPr>
            <a:r>
              <a:rPr sz="2300" b="1">
                <a:solidFill>
                  <a:srgbClr val="17302B"/>
                </a:solidFill>
                <a:latin typeface="Arial"/>
              </a:rPr>
              <a:t>the restriction.</a:t>
            </a:r>
          </a:p>
        </p:txBody>
      </p:sp>
      <p:cxnSp>
        <p:nvCxnSpPr>
          <p:cNvPr id="23" name="funding timeline"/>
          <p:cNvCxnSpPr/>
          <p:nvPr/>
        </p:nvCxnSpPr>
        <p:spPr>
          <a:xfrm>
            <a:off x="4617720" y="5056632"/>
            <a:ext cx="3099816" cy="0"/>
          </a:xfrm>
          <a:prstGeom prst="line">
            <a:avLst/>
          </a:prstGeom>
          <a:ln w="17780">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4" name="circle"/>
          <p:cNvSpPr/>
          <p:nvPr/>
        </p:nvSpPr>
        <p:spPr>
          <a:xfrm>
            <a:off x="4526280" y="4965192"/>
            <a:ext cx="182880" cy="182880"/>
          </a:xfrm>
          <a:prstGeom prst="ellipse">
            <a:avLst/>
          </a:prstGeom>
          <a:solidFill>
            <a:srgbClr val="2F73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circle"/>
          <p:cNvSpPr/>
          <p:nvPr/>
        </p:nvSpPr>
        <p:spPr>
          <a:xfrm>
            <a:off x="7626096" y="4965192"/>
            <a:ext cx="182880" cy="182880"/>
          </a:xfrm>
          <a:prstGeom prst="ellipse">
            <a:avLst/>
          </a:prstGeom>
          <a:solidFill>
            <a:srgbClr val="2F735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eyebrow"/>
          <p:cNvSpPr txBox="1"/>
          <p:nvPr/>
        </p:nvSpPr>
        <p:spPr>
          <a:xfrm>
            <a:off x="4087368" y="4590288"/>
            <a:ext cx="2322576"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JAN 28</a:t>
            </a:r>
          </a:p>
        </p:txBody>
      </p:sp>
      <p:sp>
        <p:nvSpPr>
          <p:cNvPr id="27" name="eyebrow"/>
          <p:cNvSpPr txBox="1"/>
          <p:nvPr/>
        </p:nvSpPr>
        <p:spPr>
          <a:xfrm>
            <a:off x="7278624" y="4590288"/>
            <a:ext cx="228600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JAN 29</a:t>
            </a:r>
          </a:p>
        </p:txBody>
      </p:sp>
      <p:sp>
        <p:nvSpPr>
          <p:cNvPr id="28" name="cash shortage"/>
          <p:cNvSpPr txBox="1"/>
          <p:nvPr/>
        </p:nvSpPr>
        <p:spPr>
          <a:xfrm>
            <a:off x="4087368" y="5367528"/>
            <a:ext cx="2414016" cy="603504"/>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1">
                <a:solidFill>
                  <a:srgbClr val="17302B"/>
                </a:solidFill>
                <a:latin typeface="Arial"/>
              </a:rPr>
              <a:t>“Not enough cash”</a:t>
            </a:r>
          </a:p>
        </p:txBody>
      </p:sp>
      <p:sp>
        <p:nvSpPr>
          <p:cNvPr id="29" name="next day funding"/>
          <p:cNvSpPr txBox="1"/>
          <p:nvPr/>
        </p:nvSpPr>
        <p:spPr>
          <a:xfrm>
            <a:off x="7278624" y="5367528"/>
            <a:ext cx="2240280" cy="603504"/>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2F7358"/>
                </a:solidFill>
                <a:latin typeface="Arial"/>
              </a:rPr>
              <a:t>$1bn raised</a:t>
            </a:r>
          </a:p>
        </p:txBody>
      </p:sp>
      <p:sp>
        <p:nvSpPr>
          <p:cNvPr id="30" name="contingency planning critique"/>
          <p:cNvSpPr txBox="1"/>
          <p:nvPr/>
        </p:nvSpPr>
        <p:spPr>
          <a:xfrm>
            <a:off x="9546336" y="4818888"/>
            <a:ext cx="1920240" cy="813816"/>
          </a:xfrm>
          <a:prstGeom prst="rect">
            <a:avLst/>
          </a:prstGeom>
          <a:noFill/>
        </p:spPr>
        <p:txBody>
          <a:bodyPr wrap="square" lIns="0" rIns="0" tIns="13335" bIns="0" anchor="t">
            <a:noAutofit/>
          </a:bodyPr>
          <a:lstStyle/>
          <a:p>
            <a:pPr algn="l">
              <a:lnSpc>
                <a:spcPts val="1977"/>
              </a:lnSpc>
              <a:spcBef>
                <a:spcPts val="0"/>
              </a:spcBef>
              <a:spcAft>
                <a:spcPts val="0"/>
              </a:spcAft>
              <a:defRPr sz="1750">
                <a:latin typeface="Arial"/>
              </a:defRPr>
            </a:pPr>
            <a:r>
              <a:rPr sz="1750" b="1">
                <a:solidFill>
                  <a:srgbClr val="17302B"/>
                </a:solidFill>
                <a:latin typeface="Arial"/>
              </a:rPr>
              <a:t>Our critique:</a:t>
            </a:r>
          </a:p>
          <a:p>
            <a:pPr algn="l">
              <a:lnSpc>
                <a:spcPts val="1977"/>
              </a:lnSpc>
              <a:spcBef>
                <a:spcPts val="0"/>
              </a:spcBef>
              <a:spcAft>
                <a:spcPts val="0"/>
              </a:spcAft>
              <a:defRPr sz="1750">
                <a:latin typeface="Arial"/>
              </a:defRPr>
            </a:pPr>
            <a:r>
              <a:rPr sz="1750" b="1">
                <a:solidFill>
                  <a:srgbClr val="17302B"/>
                </a:solidFill>
                <a:latin typeface="Arial"/>
              </a:rPr>
              <a:t>customers paid</a:t>
            </a:r>
          </a:p>
          <a:p>
            <a:pPr algn="l">
              <a:lnSpc>
                <a:spcPts val="1977"/>
              </a:lnSpc>
              <a:spcBef>
                <a:spcPts val="0"/>
              </a:spcBef>
              <a:spcAft>
                <a:spcPts val="0"/>
              </a:spcAft>
              <a:defRPr sz="1750">
                <a:latin typeface="Arial"/>
              </a:defRPr>
            </a:pPr>
            <a:r>
              <a:rPr sz="1750" b="1">
                <a:solidFill>
                  <a:srgbClr val="17302B"/>
                </a:solidFill>
                <a:latin typeface="Arial"/>
              </a:rPr>
              <a:t>the price.</a:t>
            </a:r>
          </a:p>
        </p:txBody>
      </p:sp>
      <p:sp>
        <p:nvSpPr>
          <p:cNvPr id="31" name="conclusion mark"/>
          <p:cNvSpPr/>
          <p:nvPr/>
        </p:nvSpPr>
        <p:spPr>
          <a:xfrm>
            <a:off x="658368" y="5980176"/>
            <a:ext cx="50292" cy="365760"/>
          </a:xfrm>
          <a:prstGeom prst="rect">
            <a:avLst/>
          </a:prstGeom>
          <a:solidFill>
            <a:srgbClr val="B13F3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akeaway"/>
          <p:cNvSpPr txBox="1"/>
          <p:nvPr/>
        </p:nvSpPr>
        <p:spPr>
          <a:xfrm>
            <a:off x="877824" y="5952744"/>
            <a:ext cx="10561320" cy="493776"/>
          </a:xfrm>
          <a:prstGeom prst="rect">
            <a:avLst/>
          </a:prstGeom>
          <a:noFill/>
        </p:spPr>
        <p:txBody>
          <a:bodyPr wrap="square" lIns="0" rIns="0" tIns="14096" bIns="0" anchor="t">
            <a:noAutofit/>
          </a:bodyPr>
          <a:lstStyle/>
          <a:p>
            <a:pPr algn="l">
              <a:lnSpc>
                <a:spcPts val="2035"/>
              </a:lnSpc>
              <a:spcBef>
                <a:spcPts val="0"/>
              </a:spcBef>
              <a:spcAft>
                <a:spcPts val="0"/>
              </a:spcAft>
              <a:defRPr sz="1850">
                <a:latin typeface="Arial"/>
              </a:defRPr>
            </a:pPr>
            <a:r>
              <a:rPr sz="1850" b="1">
                <a:solidFill>
                  <a:srgbClr val="17302B"/>
                </a:solidFill>
                <a:latin typeface="Arial"/>
              </a:rPr>
              <a:t>Our verdict: not justified from the retail investor perspective.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Guo Jing</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14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6D5A99"/>
                </a:solidFill>
                <a:latin typeface="Arial"/>
              </a:rPr>
              <a:t>Q4 / PLATFORM DESIGN</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Gamification lowered the barriers to trading</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Lower barriers expanded participation—and reduced the perceived cost of risk.</a:t>
            </a:r>
          </a:p>
        </p:txBody>
      </p:sp>
      <p:sp>
        <p:nvSpPr>
          <p:cNvPr id="9" name="illustrative phone"/>
          <p:cNvSpPr/>
          <p:nvPr/>
        </p:nvSpPr>
        <p:spPr>
          <a:xfrm>
            <a:off x="713232" y="2176272"/>
            <a:ext cx="2788920" cy="3319272"/>
          </a:xfrm>
          <a:prstGeom prst="roundRect">
            <a:avLst>
              <a:gd name="adj" fmla="val 12000"/>
            </a:avLst>
          </a:prstGeom>
          <a:solidFill>
            <a:srgbClr val="FFFFFF"/>
          </a:solidFill>
          <a:ln w="15240">
            <a:solidFill>
              <a:srgbClr val="17302B"/>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interface annotation"/>
          <p:cNvSpPr txBox="1"/>
          <p:nvPr/>
        </p:nvSpPr>
        <p:spPr>
          <a:xfrm>
            <a:off x="950976" y="1965960"/>
            <a:ext cx="2377440" cy="182880"/>
          </a:xfrm>
          <a:prstGeom prst="rect">
            <a:avLst/>
          </a:prstGeom>
          <a:noFill/>
        </p:spPr>
        <p:txBody>
          <a:bodyPr wrap="square" lIns="0" rIns="0" tIns="8001" bIns="0" anchor="t">
            <a:noAutofit/>
          </a:bodyPr>
          <a:lstStyle/>
          <a:p>
            <a:pPr algn="l">
              <a:lnSpc>
                <a:spcPts val="1186"/>
              </a:lnSpc>
              <a:spcBef>
                <a:spcPts val="0"/>
              </a:spcBef>
              <a:spcAft>
                <a:spcPts val="0"/>
              </a:spcAft>
              <a:defRPr sz="1050">
                <a:latin typeface="Arial"/>
              </a:defRPr>
            </a:pPr>
            <a:r>
              <a:rPr sz="1050" b="0">
                <a:solidFill>
                  <a:srgbClr val="5E6B65"/>
                </a:solidFill>
                <a:latin typeface="Arial"/>
              </a:rPr>
              <a:t>Illustrative mobile interface</a:t>
            </a:r>
          </a:p>
        </p:txBody>
      </p:sp>
      <p:sp>
        <p:nvSpPr>
          <p:cNvPr id="11" name="phone speaker"/>
          <p:cNvSpPr/>
          <p:nvPr/>
        </p:nvSpPr>
        <p:spPr>
          <a:xfrm>
            <a:off x="1691640" y="2295144"/>
            <a:ext cx="832104" cy="64008"/>
          </a:xfrm>
          <a:prstGeom prst="roundRect">
            <a:avLst>
              <a:gd name="adj" fmla="val 12000"/>
            </a:avLst>
          </a:prstGeom>
          <a:solidFill>
            <a:srgbClr val="17302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hone ticker"/>
          <p:cNvSpPr txBox="1"/>
          <p:nvPr/>
        </p:nvSpPr>
        <p:spPr>
          <a:xfrm>
            <a:off x="932688" y="2532888"/>
            <a:ext cx="1371600" cy="320040"/>
          </a:xfrm>
          <a:prstGeom prst="rect">
            <a:avLst/>
          </a:prstGeom>
          <a:noFill/>
        </p:spPr>
        <p:txBody>
          <a:bodyPr wrap="square" lIns="0" rIns="0" tIns="14477" bIns="0" anchor="t">
            <a:noAutofit/>
          </a:bodyPr>
          <a:lstStyle/>
          <a:p>
            <a:pPr algn="l">
              <a:lnSpc>
                <a:spcPts val="2147"/>
              </a:lnSpc>
              <a:spcBef>
                <a:spcPts val="0"/>
              </a:spcBef>
              <a:spcAft>
                <a:spcPts val="0"/>
              </a:spcAft>
              <a:defRPr sz="1900">
                <a:latin typeface="Arial"/>
              </a:defRPr>
            </a:pPr>
            <a:r>
              <a:rPr sz="1900" b="1">
                <a:solidFill>
                  <a:srgbClr val="17302B"/>
                </a:solidFill>
                <a:latin typeface="Arial"/>
              </a:rPr>
              <a:t>GME</a:t>
            </a:r>
          </a:p>
        </p:txBody>
      </p:sp>
      <p:sp>
        <p:nvSpPr>
          <p:cNvPr id="13" name="zero commission"/>
          <p:cNvSpPr txBox="1"/>
          <p:nvPr/>
        </p:nvSpPr>
        <p:spPr>
          <a:xfrm>
            <a:off x="2267712" y="2578608"/>
            <a:ext cx="1033271" cy="219456"/>
          </a:xfrm>
          <a:prstGeom prst="rect">
            <a:avLst/>
          </a:prstGeom>
          <a:noFill/>
        </p:spPr>
        <p:txBody>
          <a:bodyPr wrap="square" lIns="0" rIns="0" tIns="8381" bIns="0" anchor="t">
            <a:noAutofit/>
          </a:bodyPr>
          <a:lstStyle/>
          <a:p>
            <a:pPr algn="r">
              <a:lnSpc>
                <a:spcPts val="1243"/>
              </a:lnSpc>
              <a:spcBef>
                <a:spcPts val="0"/>
              </a:spcBef>
              <a:spcAft>
                <a:spcPts val="0"/>
              </a:spcAft>
              <a:defRPr sz="1100">
                <a:latin typeface="Arial"/>
              </a:defRPr>
            </a:pPr>
            <a:r>
              <a:rPr sz="1100" b="1">
                <a:solidFill>
                  <a:srgbClr val="6D5A99"/>
                </a:solidFill>
                <a:latin typeface="Arial"/>
              </a:rPr>
              <a:t>$0 commission</a:t>
            </a:r>
          </a:p>
        </p:txBody>
      </p:sp>
      <p:sp>
        <p:nvSpPr>
          <p:cNvPr id="14" name="illustrative chart surface"/>
          <p:cNvSpPr/>
          <p:nvPr/>
        </p:nvSpPr>
        <p:spPr>
          <a:xfrm>
            <a:off x="932688" y="3026664"/>
            <a:ext cx="2368296" cy="923544"/>
          </a:xfrm>
          <a:prstGeom prst="rect">
            <a:avLst/>
          </a:prstGeom>
          <a:solidFill>
            <a:srgbClr val="EEEA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illustrative app chart"/>
          <p:cNvCxnSpPr/>
          <p:nvPr/>
        </p:nvCxnSpPr>
        <p:spPr>
          <a:xfrm flipV="1">
            <a:off x="1088136" y="3602736"/>
            <a:ext cx="347472" cy="146303"/>
          </a:xfrm>
          <a:prstGeom prst="line">
            <a:avLst/>
          </a:prstGeom>
          <a:ln w="2540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6" name="illustrative app chart"/>
          <p:cNvCxnSpPr/>
          <p:nvPr/>
        </p:nvCxnSpPr>
        <p:spPr>
          <a:xfrm>
            <a:off x="1435608" y="3602736"/>
            <a:ext cx="338328" cy="73151"/>
          </a:xfrm>
          <a:prstGeom prst="line">
            <a:avLst/>
          </a:prstGeom>
          <a:ln w="2540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7" name="illustrative app chart"/>
          <p:cNvCxnSpPr/>
          <p:nvPr/>
        </p:nvCxnSpPr>
        <p:spPr>
          <a:xfrm flipV="1">
            <a:off x="1773936" y="3364992"/>
            <a:ext cx="329184" cy="310895"/>
          </a:xfrm>
          <a:prstGeom prst="line">
            <a:avLst/>
          </a:prstGeom>
          <a:ln w="2540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8" name="illustrative app chart"/>
          <p:cNvCxnSpPr/>
          <p:nvPr/>
        </p:nvCxnSpPr>
        <p:spPr>
          <a:xfrm>
            <a:off x="2103120" y="3364992"/>
            <a:ext cx="347472" cy="118872"/>
          </a:xfrm>
          <a:prstGeom prst="line">
            <a:avLst/>
          </a:prstGeom>
          <a:ln w="2540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9" name="illustrative app chart"/>
          <p:cNvCxnSpPr/>
          <p:nvPr/>
        </p:nvCxnSpPr>
        <p:spPr>
          <a:xfrm flipV="1">
            <a:off x="2450592" y="3218688"/>
            <a:ext cx="320040" cy="265176"/>
          </a:xfrm>
          <a:prstGeom prst="line">
            <a:avLst/>
          </a:prstGeom>
          <a:ln w="2540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20" name="illustrative app chart"/>
          <p:cNvCxnSpPr/>
          <p:nvPr/>
        </p:nvCxnSpPr>
        <p:spPr>
          <a:xfrm flipV="1">
            <a:off x="2770632" y="3127248"/>
            <a:ext cx="356616" cy="91440"/>
          </a:xfrm>
          <a:prstGeom prst="line">
            <a:avLst/>
          </a:prstGeom>
          <a:ln w="25400">
            <a:solidFill>
              <a:srgbClr val="6D5A99"/>
            </a:solidFill>
          </a:ln>
          <a:effectLst/>
        </p:spPr>
        <p:style>
          <a:lnRef idx="2">
            <a:schemeClr val="accent1"/>
          </a:lnRef>
          <a:fillRef idx="0">
            <a:schemeClr val="accent1"/>
          </a:fillRef>
          <a:effectRef idx="0">
            <a:schemeClr val="accent1"/>
          </a:effectRef>
          <a:fontRef idx="minor">
            <a:schemeClr val="tx1"/>
          </a:fontRef>
        </p:style>
      </p:cxnSp>
      <p:sp>
        <p:nvSpPr>
          <p:cNvPr id="21" name="buy button"/>
          <p:cNvSpPr/>
          <p:nvPr/>
        </p:nvSpPr>
        <p:spPr>
          <a:xfrm>
            <a:off x="932688" y="4178808"/>
            <a:ext cx="987552" cy="347472"/>
          </a:xfrm>
          <a:prstGeom prst="roundRect">
            <a:avLst>
              <a:gd name="adj" fmla="val 12000"/>
            </a:avLst>
          </a:prstGeom>
          <a:solidFill>
            <a:srgbClr val="6D5A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uy label"/>
          <p:cNvSpPr txBox="1"/>
          <p:nvPr/>
        </p:nvSpPr>
        <p:spPr>
          <a:xfrm>
            <a:off x="932688" y="4270248"/>
            <a:ext cx="987552" cy="182880"/>
          </a:xfrm>
          <a:prstGeom prst="rect">
            <a:avLst/>
          </a:prstGeom>
          <a:noFill/>
        </p:spPr>
        <p:txBody>
          <a:bodyPr wrap="square" lIns="0" rIns="0" tIns="8001" bIns="0" anchor="t">
            <a:noAutofit/>
          </a:bodyPr>
          <a:lstStyle/>
          <a:p>
            <a:pPr algn="ctr">
              <a:lnSpc>
                <a:spcPts val="1186"/>
              </a:lnSpc>
              <a:spcBef>
                <a:spcPts val="0"/>
              </a:spcBef>
              <a:spcAft>
                <a:spcPts val="0"/>
              </a:spcAft>
              <a:defRPr sz="1050">
                <a:latin typeface="Arial"/>
              </a:defRPr>
            </a:pPr>
            <a:r>
              <a:rPr sz="1050" b="1">
                <a:solidFill>
                  <a:srgbClr val="FFFFFF"/>
                </a:solidFill>
                <a:latin typeface="Arial"/>
              </a:rPr>
              <a:t>BUY</a:t>
            </a:r>
          </a:p>
        </p:txBody>
      </p:sp>
      <p:sp>
        <p:nvSpPr>
          <p:cNvPr id="23" name="options button"/>
          <p:cNvSpPr/>
          <p:nvPr/>
        </p:nvSpPr>
        <p:spPr>
          <a:xfrm>
            <a:off x="2103120" y="4178808"/>
            <a:ext cx="1197864" cy="347472"/>
          </a:xfrm>
          <a:prstGeom prst="roundRect">
            <a:avLst>
              <a:gd name="adj" fmla="val 12000"/>
            </a:avLst>
          </a:prstGeom>
          <a:solidFill>
            <a:srgbClr val="EAF2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options label"/>
          <p:cNvSpPr txBox="1"/>
          <p:nvPr/>
        </p:nvSpPr>
        <p:spPr>
          <a:xfrm>
            <a:off x="2103120" y="4270248"/>
            <a:ext cx="1197864" cy="182880"/>
          </a:xfrm>
          <a:prstGeom prst="rect">
            <a:avLst/>
          </a:prstGeom>
          <a:noFill/>
        </p:spPr>
        <p:txBody>
          <a:bodyPr wrap="square" lIns="0" rIns="0" tIns="8001" bIns="0" anchor="t">
            <a:noAutofit/>
          </a:bodyPr>
          <a:lstStyle/>
          <a:p>
            <a:pPr algn="ctr">
              <a:lnSpc>
                <a:spcPts val="1186"/>
              </a:lnSpc>
              <a:spcBef>
                <a:spcPts val="0"/>
              </a:spcBef>
              <a:spcAft>
                <a:spcPts val="0"/>
              </a:spcAft>
              <a:defRPr sz="1050">
                <a:latin typeface="Arial"/>
              </a:defRPr>
            </a:pPr>
            <a:r>
              <a:rPr sz="1050" b="1">
                <a:solidFill>
                  <a:srgbClr val="2F7358"/>
                </a:solidFill>
                <a:latin typeface="Arial"/>
              </a:rPr>
              <a:t>OPTIONS</a:t>
            </a:r>
          </a:p>
        </p:txBody>
      </p:sp>
      <p:sp>
        <p:nvSpPr>
          <p:cNvPr id="25" name="app features"/>
          <p:cNvSpPr txBox="1"/>
          <p:nvPr/>
        </p:nvSpPr>
        <p:spPr>
          <a:xfrm>
            <a:off x="932688" y="4754880"/>
            <a:ext cx="2350008" cy="640080"/>
          </a:xfrm>
          <a:prstGeom prst="rect">
            <a:avLst/>
          </a:prstGeom>
          <a:noFill/>
        </p:spPr>
        <p:txBody>
          <a:bodyPr wrap="square" lIns="0" rIns="0" tIns="10287" bIns="0" anchor="t">
            <a:noAutofit/>
          </a:bodyPr>
          <a:lstStyle/>
          <a:p>
            <a:pPr algn="l">
              <a:lnSpc>
                <a:spcPts val="1579"/>
              </a:lnSpc>
              <a:spcBef>
                <a:spcPts val="0"/>
              </a:spcBef>
              <a:spcAft>
                <a:spcPts val="0"/>
              </a:spcAft>
              <a:defRPr sz="1350">
                <a:latin typeface="Arial"/>
              </a:defRPr>
            </a:pPr>
            <a:r>
              <a:rPr sz="1350" b="0">
                <a:solidFill>
                  <a:srgbClr val="5E6B65"/>
                </a:solidFill>
                <a:latin typeface="Arial"/>
              </a:rPr>
              <a:t>Instant alerts</a:t>
            </a:r>
          </a:p>
          <a:p>
            <a:pPr algn="l">
              <a:lnSpc>
                <a:spcPts val="1579"/>
              </a:lnSpc>
              <a:spcBef>
                <a:spcPts val="0"/>
              </a:spcBef>
              <a:spcAft>
                <a:spcPts val="0"/>
              </a:spcAft>
              <a:defRPr sz="1350">
                <a:latin typeface="Arial"/>
              </a:defRPr>
            </a:pPr>
            <a:r>
              <a:rPr sz="1350" b="0">
                <a:solidFill>
                  <a:srgbClr val="5E6B65"/>
                </a:solidFill>
                <a:latin typeface="Arial"/>
              </a:rPr>
              <a:t>One-tap trades · simple</a:t>
            </a:r>
          </a:p>
          <a:p>
            <a:pPr algn="l">
              <a:lnSpc>
                <a:spcPts val="1579"/>
              </a:lnSpc>
              <a:spcBef>
                <a:spcPts val="0"/>
              </a:spcBef>
              <a:spcAft>
                <a:spcPts val="0"/>
              </a:spcAft>
              <a:defRPr sz="1350">
                <a:latin typeface="Arial"/>
              </a:defRPr>
            </a:pPr>
            <a:r>
              <a:rPr sz="1350" b="0">
                <a:solidFill>
                  <a:srgbClr val="5E6B65"/>
                </a:solidFill>
                <a:latin typeface="Arial"/>
              </a:rPr>
              <a:t>mobile UI</a:t>
            </a:r>
          </a:p>
        </p:txBody>
      </p:sp>
      <p:sp>
        <p:nvSpPr>
          <p:cNvPr id="26" name="circle"/>
          <p:cNvSpPr/>
          <p:nvPr/>
        </p:nvSpPr>
        <p:spPr>
          <a:xfrm>
            <a:off x="4242816" y="2377440"/>
            <a:ext cx="402336" cy="402336"/>
          </a:xfrm>
          <a:prstGeom prst="ellipse">
            <a:avLst/>
          </a:prstGeom>
          <a:noFill/>
          <a:ln w="12700">
            <a:solidFill>
              <a:srgbClr val="6D5A9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p:cNvCxnSpPr/>
          <p:nvPr/>
        </p:nvCxnSpPr>
        <p:spPr>
          <a:xfrm flipV="1">
            <a:off x="4288536" y="2414016"/>
            <a:ext cx="310895" cy="329184"/>
          </a:xfrm>
          <a:prstGeom prst="line">
            <a:avLst/>
          </a:prstGeom>
          <a:ln w="17780">
            <a:solidFill>
              <a:srgbClr val="6D5A99"/>
            </a:solidFill>
          </a:ln>
          <a:effectLst/>
        </p:spPr>
        <p:style>
          <a:lnRef idx="2">
            <a:schemeClr val="accent1"/>
          </a:lnRef>
          <a:fillRef idx="0">
            <a:schemeClr val="accent1"/>
          </a:fillRef>
          <a:effectRef idx="0">
            <a:schemeClr val="accent1"/>
          </a:effectRef>
          <a:fontRef idx="minor">
            <a:schemeClr val="tx1"/>
          </a:fontRef>
        </p:style>
      </p:cxnSp>
      <p:sp>
        <p:nvSpPr>
          <p:cNvPr id="28" name="low friction feature"/>
          <p:cNvSpPr txBox="1"/>
          <p:nvPr/>
        </p:nvSpPr>
        <p:spPr>
          <a:xfrm>
            <a:off x="4818888" y="2340864"/>
            <a:ext cx="1554480" cy="658368"/>
          </a:xfrm>
          <a:prstGeom prst="rect">
            <a:avLst/>
          </a:prstGeom>
          <a:noFill/>
        </p:spPr>
        <p:txBody>
          <a:bodyPr wrap="square" lIns="0" rIns="0" tIns="14096" bIns="0" anchor="t">
            <a:noAutofit/>
          </a:bodyPr>
          <a:lstStyle/>
          <a:p>
            <a:pPr algn="l">
              <a:lnSpc>
                <a:spcPts val="2127"/>
              </a:lnSpc>
              <a:spcBef>
                <a:spcPts val="0"/>
              </a:spcBef>
              <a:spcAft>
                <a:spcPts val="0"/>
              </a:spcAft>
              <a:defRPr sz="1850">
                <a:latin typeface="Arial"/>
              </a:defRPr>
            </a:pPr>
            <a:r>
              <a:rPr sz="1850" b="1">
                <a:solidFill>
                  <a:srgbClr val="17302B"/>
                </a:solidFill>
                <a:latin typeface="Arial"/>
              </a:rPr>
              <a:t>Zero</a:t>
            </a:r>
          </a:p>
          <a:p>
            <a:pPr algn="l">
              <a:lnSpc>
                <a:spcPts val="2127"/>
              </a:lnSpc>
              <a:spcBef>
                <a:spcPts val="0"/>
              </a:spcBef>
              <a:spcAft>
                <a:spcPts val="0"/>
              </a:spcAft>
              <a:defRPr sz="1850">
                <a:latin typeface="Arial"/>
              </a:defRPr>
            </a:pPr>
            <a:r>
              <a:rPr sz="1850" b="1">
                <a:solidFill>
                  <a:srgbClr val="17302B"/>
                </a:solidFill>
                <a:latin typeface="Arial"/>
              </a:rPr>
              <a:t>commission</a:t>
            </a:r>
          </a:p>
        </p:txBody>
      </p:sp>
      <p:cxnSp>
        <p:nvCxnSpPr>
          <p:cNvPr id="29" name="connector"/>
          <p:cNvCxnSpPr/>
          <p:nvPr/>
        </p:nvCxnSpPr>
        <p:spPr>
          <a:xfrm>
            <a:off x="5239512" y="3118104"/>
            <a:ext cx="0" cy="329184"/>
          </a:xfrm>
          <a:prstGeom prst="line">
            <a:avLst/>
          </a:prstGeom>
          <a:ln w="12700">
            <a:solidFill>
              <a:srgbClr val="C0B3D3"/>
            </a:solidFill>
          </a:ln>
          <a:effectLst/>
        </p:spPr>
        <p:style>
          <a:lnRef idx="2">
            <a:schemeClr val="accent1"/>
          </a:lnRef>
          <a:fillRef idx="0">
            <a:schemeClr val="accent1"/>
          </a:fillRef>
          <a:effectRef idx="0">
            <a:schemeClr val="accent1"/>
          </a:effectRef>
          <a:fontRef idx="minor">
            <a:schemeClr val="tx1"/>
          </a:fontRef>
        </p:style>
      </p:cxnSp>
      <p:sp>
        <p:nvSpPr>
          <p:cNvPr id="30" name="surface"/>
          <p:cNvSpPr/>
          <p:nvPr/>
        </p:nvSpPr>
        <p:spPr>
          <a:xfrm>
            <a:off x="6867144" y="2377440"/>
            <a:ext cx="274320" cy="438912"/>
          </a:xfrm>
          <a:prstGeom prst="roundRect">
            <a:avLst>
              <a:gd name="adj" fmla="val 12000"/>
            </a:avLst>
          </a:prstGeom>
          <a:noFill/>
          <a:ln w="10160">
            <a:solidFill>
              <a:srgbClr val="6D5A9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1" name="connector"/>
          <p:cNvCxnSpPr/>
          <p:nvPr/>
        </p:nvCxnSpPr>
        <p:spPr>
          <a:xfrm>
            <a:off x="6940296" y="2734056"/>
            <a:ext cx="128016" cy="0"/>
          </a:xfrm>
          <a:prstGeom prst="line">
            <a:avLst/>
          </a:prstGeom>
          <a:ln w="12700">
            <a:solidFill>
              <a:srgbClr val="6D5A99"/>
            </a:solidFill>
          </a:ln>
          <a:effectLst/>
        </p:spPr>
        <p:style>
          <a:lnRef idx="2">
            <a:schemeClr val="accent1"/>
          </a:lnRef>
          <a:fillRef idx="0">
            <a:schemeClr val="accent1"/>
          </a:fillRef>
          <a:effectRef idx="0">
            <a:schemeClr val="accent1"/>
          </a:effectRef>
          <a:fontRef idx="minor">
            <a:schemeClr val="tx1"/>
          </a:fontRef>
        </p:style>
      </p:cxnSp>
      <p:sp>
        <p:nvSpPr>
          <p:cNvPr id="32" name="low friction feature"/>
          <p:cNvSpPr txBox="1"/>
          <p:nvPr/>
        </p:nvSpPr>
        <p:spPr>
          <a:xfrm>
            <a:off x="7379208" y="2340864"/>
            <a:ext cx="1554480" cy="658368"/>
          </a:xfrm>
          <a:prstGeom prst="rect">
            <a:avLst/>
          </a:prstGeom>
          <a:noFill/>
        </p:spPr>
        <p:txBody>
          <a:bodyPr wrap="square" lIns="0" rIns="0" tIns="14096" bIns="0" anchor="t">
            <a:noAutofit/>
          </a:bodyPr>
          <a:lstStyle/>
          <a:p>
            <a:pPr algn="l">
              <a:lnSpc>
                <a:spcPts val="2127"/>
              </a:lnSpc>
              <a:spcBef>
                <a:spcPts val="0"/>
              </a:spcBef>
              <a:spcAft>
                <a:spcPts val="0"/>
              </a:spcAft>
              <a:defRPr sz="1850">
                <a:latin typeface="Arial"/>
              </a:defRPr>
            </a:pPr>
            <a:r>
              <a:rPr sz="1850" b="1">
                <a:solidFill>
                  <a:srgbClr val="17302B"/>
                </a:solidFill>
                <a:latin typeface="Arial"/>
              </a:rPr>
              <a:t>Simple</a:t>
            </a:r>
          </a:p>
          <a:p>
            <a:pPr algn="l">
              <a:lnSpc>
                <a:spcPts val="2127"/>
              </a:lnSpc>
              <a:spcBef>
                <a:spcPts val="0"/>
              </a:spcBef>
              <a:spcAft>
                <a:spcPts val="0"/>
              </a:spcAft>
              <a:defRPr sz="1850">
                <a:latin typeface="Arial"/>
              </a:defRPr>
            </a:pPr>
            <a:r>
              <a:rPr sz="1850" b="1">
                <a:solidFill>
                  <a:srgbClr val="17302B"/>
                </a:solidFill>
                <a:latin typeface="Arial"/>
              </a:rPr>
              <a:t>mobile UI</a:t>
            </a:r>
          </a:p>
        </p:txBody>
      </p:sp>
      <p:cxnSp>
        <p:nvCxnSpPr>
          <p:cNvPr id="33" name="connector"/>
          <p:cNvCxnSpPr/>
          <p:nvPr/>
        </p:nvCxnSpPr>
        <p:spPr>
          <a:xfrm>
            <a:off x="7799832" y="3118104"/>
            <a:ext cx="0" cy="329184"/>
          </a:xfrm>
          <a:prstGeom prst="line">
            <a:avLst/>
          </a:prstGeom>
          <a:ln w="12700">
            <a:solidFill>
              <a:srgbClr val="C0B3D3"/>
            </a:solidFill>
          </a:ln>
          <a:effectLst/>
        </p:spPr>
        <p:style>
          <a:lnRef idx="2">
            <a:schemeClr val="accent1"/>
          </a:lnRef>
          <a:fillRef idx="0">
            <a:schemeClr val="accent1"/>
          </a:fillRef>
          <a:effectRef idx="0">
            <a:schemeClr val="accent1"/>
          </a:effectRef>
          <a:fontRef idx="minor">
            <a:schemeClr val="tx1"/>
          </a:fontRef>
        </p:style>
      </p:cxnSp>
      <p:cxnSp>
        <p:nvCxnSpPr>
          <p:cNvPr id="34" name="path"/>
          <p:cNvCxnSpPr/>
          <p:nvPr/>
        </p:nvCxnSpPr>
        <p:spPr>
          <a:xfrm flipV="1">
            <a:off x="9409176" y="2487168"/>
            <a:ext cx="45720" cy="219456"/>
          </a:xfrm>
          <a:prstGeom prst="line">
            <a:avLst/>
          </a:prstGeom>
          <a:ln w="1778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35" name="path"/>
          <p:cNvCxnSpPr/>
          <p:nvPr/>
        </p:nvCxnSpPr>
        <p:spPr>
          <a:xfrm flipV="1">
            <a:off x="9454896" y="2432304"/>
            <a:ext cx="91440" cy="54864"/>
          </a:xfrm>
          <a:prstGeom prst="line">
            <a:avLst/>
          </a:prstGeom>
          <a:ln w="1778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36" name="path"/>
          <p:cNvCxnSpPr/>
          <p:nvPr/>
        </p:nvCxnSpPr>
        <p:spPr>
          <a:xfrm>
            <a:off x="9546336" y="2432304"/>
            <a:ext cx="91440" cy="54864"/>
          </a:xfrm>
          <a:prstGeom prst="line">
            <a:avLst/>
          </a:prstGeom>
          <a:ln w="1778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37" name="path"/>
          <p:cNvCxnSpPr/>
          <p:nvPr/>
        </p:nvCxnSpPr>
        <p:spPr>
          <a:xfrm>
            <a:off x="9637776" y="2487168"/>
            <a:ext cx="45720" cy="219456"/>
          </a:xfrm>
          <a:prstGeom prst="line">
            <a:avLst/>
          </a:prstGeom>
          <a:ln w="1778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38" name="path"/>
          <p:cNvCxnSpPr/>
          <p:nvPr/>
        </p:nvCxnSpPr>
        <p:spPr>
          <a:xfrm flipH="1">
            <a:off x="9409176" y="2706624"/>
            <a:ext cx="274320" cy="0"/>
          </a:xfrm>
          <a:prstGeom prst="line">
            <a:avLst/>
          </a:prstGeom>
          <a:ln w="17780">
            <a:solidFill>
              <a:srgbClr val="6D5A99"/>
            </a:solidFill>
          </a:ln>
          <a:effectLst/>
        </p:spPr>
        <p:style>
          <a:lnRef idx="2">
            <a:schemeClr val="accent1"/>
          </a:lnRef>
          <a:fillRef idx="0">
            <a:schemeClr val="accent1"/>
          </a:fillRef>
          <a:effectRef idx="0">
            <a:schemeClr val="accent1"/>
          </a:effectRef>
          <a:fontRef idx="minor">
            <a:schemeClr val="tx1"/>
          </a:fontRef>
        </p:style>
      </p:cxnSp>
      <p:sp>
        <p:nvSpPr>
          <p:cNvPr id="39" name="circle"/>
          <p:cNvSpPr/>
          <p:nvPr/>
        </p:nvSpPr>
        <p:spPr>
          <a:xfrm>
            <a:off x="9509760" y="2743200"/>
            <a:ext cx="82296" cy="64008"/>
          </a:xfrm>
          <a:prstGeom prst="ellipse">
            <a:avLst/>
          </a:prstGeom>
          <a:solidFill>
            <a:srgbClr val="6D5A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low friction feature"/>
          <p:cNvSpPr txBox="1"/>
          <p:nvPr/>
        </p:nvSpPr>
        <p:spPr>
          <a:xfrm>
            <a:off x="9921240" y="2340864"/>
            <a:ext cx="1554480" cy="658368"/>
          </a:xfrm>
          <a:prstGeom prst="rect">
            <a:avLst/>
          </a:prstGeom>
          <a:noFill/>
        </p:spPr>
        <p:txBody>
          <a:bodyPr wrap="square" lIns="0" rIns="0" tIns="14096" bIns="0" anchor="t">
            <a:noAutofit/>
          </a:bodyPr>
          <a:lstStyle/>
          <a:p>
            <a:pPr algn="l">
              <a:lnSpc>
                <a:spcPts val="2127"/>
              </a:lnSpc>
              <a:spcBef>
                <a:spcPts val="0"/>
              </a:spcBef>
              <a:spcAft>
                <a:spcPts val="0"/>
              </a:spcAft>
              <a:defRPr sz="1850">
                <a:latin typeface="Arial"/>
              </a:defRPr>
            </a:pPr>
            <a:r>
              <a:rPr sz="1850" b="1">
                <a:solidFill>
                  <a:srgbClr val="17302B"/>
                </a:solidFill>
                <a:latin typeface="Arial"/>
              </a:rPr>
              <a:t>Instant</a:t>
            </a:r>
          </a:p>
          <a:p>
            <a:pPr algn="l">
              <a:lnSpc>
                <a:spcPts val="2127"/>
              </a:lnSpc>
              <a:spcBef>
                <a:spcPts val="0"/>
              </a:spcBef>
              <a:spcAft>
                <a:spcPts val="0"/>
              </a:spcAft>
              <a:defRPr sz="1850">
                <a:latin typeface="Arial"/>
              </a:defRPr>
            </a:pPr>
            <a:r>
              <a:rPr sz="1850" b="1">
                <a:solidFill>
                  <a:srgbClr val="17302B"/>
                </a:solidFill>
                <a:latin typeface="Arial"/>
              </a:rPr>
              <a:t>feedback</a:t>
            </a:r>
          </a:p>
        </p:txBody>
      </p:sp>
      <p:cxnSp>
        <p:nvCxnSpPr>
          <p:cNvPr id="41" name="connector"/>
          <p:cNvCxnSpPr/>
          <p:nvPr/>
        </p:nvCxnSpPr>
        <p:spPr>
          <a:xfrm>
            <a:off x="10341864" y="3118104"/>
            <a:ext cx="0" cy="329184"/>
          </a:xfrm>
          <a:prstGeom prst="line">
            <a:avLst/>
          </a:prstGeom>
          <a:ln w="12700">
            <a:solidFill>
              <a:srgbClr val="C0B3D3"/>
            </a:solidFill>
          </a:ln>
          <a:effectLst/>
        </p:spPr>
        <p:style>
          <a:lnRef idx="2">
            <a:schemeClr val="accent1"/>
          </a:lnRef>
          <a:fillRef idx="0">
            <a:schemeClr val="accent1"/>
          </a:fillRef>
          <a:effectRef idx="0">
            <a:schemeClr val="accent1"/>
          </a:effectRef>
          <a:fontRef idx="minor">
            <a:schemeClr val="tx1"/>
          </a:fontRef>
        </p:style>
      </p:cxnSp>
      <p:cxnSp>
        <p:nvCxnSpPr>
          <p:cNvPr id="42" name="connector"/>
          <p:cNvCxnSpPr/>
          <p:nvPr/>
        </p:nvCxnSpPr>
        <p:spPr>
          <a:xfrm>
            <a:off x="5239512" y="3447288"/>
            <a:ext cx="5102352" cy="0"/>
          </a:xfrm>
          <a:prstGeom prst="line">
            <a:avLst/>
          </a:prstGeom>
          <a:ln w="12700">
            <a:solidFill>
              <a:srgbClr val="C0B3D3"/>
            </a:solidFill>
          </a:ln>
          <a:effectLst/>
        </p:spPr>
        <p:style>
          <a:lnRef idx="2">
            <a:schemeClr val="accent1"/>
          </a:lnRef>
          <a:fillRef idx="0">
            <a:schemeClr val="accent1"/>
          </a:fillRef>
          <a:effectRef idx="0">
            <a:schemeClr val="accent1"/>
          </a:effectRef>
          <a:fontRef idx="minor">
            <a:schemeClr val="tx1"/>
          </a:fontRef>
        </p:style>
      </p:cxnSp>
      <p:cxnSp>
        <p:nvCxnSpPr>
          <p:cNvPr id="43" name="friction convergence"/>
          <p:cNvCxnSpPr/>
          <p:nvPr/>
        </p:nvCxnSpPr>
        <p:spPr>
          <a:xfrm>
            <a:off x="7790688" y="3447288"/>
            <a:ext cx="0" cy="228599"/>
          </a:xfrm>
          <a:prstGeom prst="line">
            <a:avLst/>
          </a:prstGeom>
          <a:ln w="15240">
            <a:solidFill>
              <a:srgbClr val="6D5A99"/>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4" name="friction mechanism"/>
          <p:cNvSpPr txBox="1"/>
          <p:nvPr/>
        </p:nvSpPr>
        <p:spPr>
          <a:xfrm>
            <a:off x="4261104" y="3803904"/>
            <a:ext cx="7223760" cy="484632"/>
          </a:xfrm>
          <a:prstGeom prst="rect">
            <a:avLst/>
          </a:prstGeom>
          <a:noFill/>
        </p:spPr>
        <p:txBody>
          <a:bodyPr wrap="square" lIns="0" rIns="0" tIns="21336" bIns="0" anchor="t">
            <a:noAutofit/>
          </a:bodyPr>
          <a:lstStyle/>
          <a:p>
            <a:pPr algn="ctr">
              <a:lnSpc>
                <a:spcPts val="3163"/>
              </a:lnSpc>
              <a:spcBef>
                <a:spcPts val="0"/>
              </a:spcBef>
              <a:spcAft>
                <a:spcPts val="0"/>
              </a:spcAft>
              <a:defRPr sz="2800">
                <a:latin typeface="Arial"/>
              </a:defRPr>
            </a:pPr>
            <a:r>
              <a:rPr sz="2800" b="1">
                <a:solidFill>
                  <a:srgbClr val="6D5A99"/>
                </a:solidFill>
                <a:latin typeface="Arial"/>
              </a:rPr>
              <a:t>Lower trading friction</a:t>
            </a:r>
          </a:p>
        </p:txBody>
      </p:sp>
      <p:cxnSp>
        <p:nvCxnSpPr>
          <p:cNvPr id="45" name="friction benefit branch"/>
          <p:cNvCxnSpPr/>
          <p:nvPr/>
        </p:nvCxnSpPr>
        <p:spPr>
          <a:xfrm>
            <a:off x="7790688" y="4434840"/>
            <a:ext cx="0" cy="137160"/>
          </a:xfrm>
          <a:prstGeom prst="line">
            <a:avLst/>
          </a:prstGeom>
          <a:ln w="14604">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46" name="friction benefit branch"/>
          <p:cNvCxnSpPr/>
          <p:nvPr/>
        </p:nvCxnSpPr>
        <p:spPr>
          <a:xfrm flipH="1">
            <a:off x="5614416" y="4572000"/>
            <a:ext cx="2176272" cy="0"/>
          </a:xfrm>
          <a:prstGeom prst="line">
            <a:avLst/>
          </a:prstGeom>
          <a:ln w="14604">
            <a:solidFill>
              <a:srgbClr val="2F7358"/>
            </a:solidFill>
          </a:ln>
          <a:effectLst/>
        </p:spPr>
        <p:style>
          <a:lnRef idx="2">
            <a:schemeClr val="accent1"/>
          </a:lnRef>
          <a:fillRef idx="0">
            <a:schemeClr val="accent1"/>
          </a:fillRef>
          <a:effectRef idx="0">
            <a:schemeClr val="accent1"/>
          </a:effectRef>
          <a:fontRef idx="minor">
            <a:schemeClr val="tx1"/>
          </a:fontRef>
        </p:style>
      </p:cxnSp>
      <p:cxnSp>
        <p:nvCxnSpPr>
          <p:cNvPr id="47" name="friction benefit branch"/>
          <p:cNvCxnSpPr/>
          <p:nvPr/>
        </p:nvCxnSpPr>
        <p:spPr>
          <a:xfrm>
            <a:off x="5614416" y="4572000"/>
            <a:ext cx="0" cy="210312"/>
          </a:xfrm>
          <a:prstGeom prst="line">
            <a:avLst/>
          </a:prstGeom>
          <a:ln w="14604">
            <a:solidFill>
              <a:srgbClr val="2F7358"/>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8" name="friction risk branch"/>
          <p:cNvCxnSpPr/>
          <p:nvPr/>
        </p:nvCxnSpPr>
        <p:spPr>
          <a:xfrm>
            <a:off x="7790688" y="4434840"/>
            <a:ext cx="0" cy="137160"/>
          </a:xfrm>
          <a:prstGeom prst="line">
            <a:avLst/>
          </a:prstGeom>
          <a:ln w="14604">
            <a:solidFill>
              <a:srgbClr val="B13F36"/>
            </a:solidFill>
          </a:ln>
          <a:effectLst/>
        </p:spPr>
        <p:style>
          <a:lnRef idx="2">
            <a:schemeClr val="accent1"/>
          </a:lnRef>
          <a:fillRef idx="0">
            <a:schemeClr val="accent1"/>
          </a:fillRef>
          <a:effectRef idx="0">
            <a:schemeClr val="accent1"/>
          </a:effectRef>
          <a:fontRef idx="minor">
            <a:schemeClr val="tx1"/>
          </a:fontRef>
        </p:style>
      </p:cxnSp>
      <p:cxnSp>
        <p:nvCxnSpPr>
          <p:cNvPr id="49" name="friction risk branch"/>
          <p:cNvCxnSpPr/>
          <p:nvPr/>
        </p:nvCxnSpPr>
        <p:spPr>
          <a:xfrm>
            <a:off x="7790688" y="4572000"/>
            <a:ext cx="1920240" cy="0"/>
          </a:xfrm>
          <a:prstGeom prst="line">
            <a:avLst/>
          </a:prstGeom>
          <a:ln w="14604">
            <a:solidFill>
              <a:srgbClr val="B13F36"/>
            </a:solidFill>
          </a:ln>
          <a:effectLst/>
        </p:spPr>
        <p:style>
          <a:lnRef idx="2">
            <a:schemeClr val="accent1"/>
          </a:lnRef>
          <a:fillRef idx="0">
            <a:schemeClr val="accent1"/>
          </a:fillRef>
          <a:effectRef idx="0">
            <a:schemeClr val="accent1"/>
          </a:effectRef>
          <a:fontRef idx="minor">
            <a:schemeClr val="tx1"/>
          </a:fontRef>
        </p:style>
      </p:cxnSp>
      <p:cxnSp>
        <p:nvCxnSpPr>
          <p:cNvPr id="50" name="friction risk branch"/>
          <p:cNvCxnSpPr/>
          <p:nvPr/>
        </p:nvCxnSpPr>
        <p:spPr>
          <a:xfrm>
            <a:off x="9710928" y="4572000"/>
            <a:ext cx="0" cy="210312"/>
          </a:xfrm>
          <a:prstGeom prst="line">
            <a:avLst/>
          </a:prstGeom>
          <a:ln w="14604">
            <a:solidFill>
              <a:srgbClr val="B13F36"/>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eyebrow"/>
          <p:cNvSpPr txBox="1"/>
          <p:nvPr/>
        </p:nvSpPr>
        <p:spPr>
          <a:xfrm>
            <a:off x="4233672" y="4956048"/>
            <a:ext cx="3145536"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BENEFIT</a:t>
            </a:r>
          </a:p>
        </p:txBody>
      </p:sp>
      <p:sp>
        <p:nvSpPr>
          <p:cNvPr id="52" name="gamification benefit"/>
          <p:cNvSpPr txBox="1"/>
          <p:nvPr/>
        </p:nvSpPr>
        <p:spPr>
          <a:xfrm>
            <a:off x="4233672" y="5303520"/>
            <a:ext cx="3227832" cy="667512"/>
          </a:xfrm>
          <a:prstGeom prst="rect">
            <a:avLst/>
          </a:prstGeom>
          <a:noFill/>
        </p:spPr>
        <p:txBody>
          <a:bodyPr wrap="square" lIns="0" rIns="0" tIns="16763" bIns="0" anchor="t">
            <a:noAutofit/>
          </a:bodyPr>
          <a:lstStyle/>
          <a:p>
            <a:pPr algn="l">
              <a:lnSpc>
                <a:spcPts val="2420"/>
              </a:lnSpc>
              <a:spcBef>
                <a:spcPts val="0"/>
              </a:spcBef>
              <a:spcAft>
                <a:spcPts val="0"/>
              </a:spcAft>
              <a:defRPr sz="2200">
                <a:latin typeface="Arial"/>
              </a:defRPr>
            </a:pPr>
            <a:r>
              <a:rPr sz="2200" b="1">
                <a:solidFill>
                  <a:srgbClr val="17302B"/>
                </a:solidFill>
                <a:latin typeface="Arial"/>
              </a:rPr>
              <a:t>More retail</a:t>
            </a:r>
          </a:p>
          <a:p>
            <a:pPr algn="l">
              <a:lnSpc>
                <a:spcPts val="2420"/>
              </a:lnSpc>
              <a:spcBef>
                <a:spcPts val="0"/>
              </a:spcBef>
              <a:spcAft>
                <a:spcPts val="0"/>
              </a:spcAft>
              <a:defRPr sz="2200">
                <a:latin typeface="Arial"/>
              </a:defRPr>
            </a:pPr>
            <a:r>
              <a:rPr sz="2200" b="1">
                <a:solidFill>
                  <a:srgbClr val="17302B"/>
                </a:solidFill>
                <a:latin typeface="Arial"/>
              </a:rPr>
              <a:t>participation</a:t>
            </a:r>
          </a:p>
        </p:txBody>
      </p:sp>
      <p:sp>
        <p:nvSpPr>
          <p:cNvPr id="53" name="eyebrow"/>
          <p:cNvSpPr txBox="1"/>
          <p:nvPr/>
        </p:nvSpPr>
        <p:spPr>
          <a:xfrm>
            <a:off x="8266175" y="4956048"/>
            <a:ext cx="31089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RISK</a:t>
            </a:r>
          </a:p>
        </p:txBody>
      </p:sp>
      <p:sp>
        <p:nvSpPr>
          <p:cNvPr id="54" name="gamification risk"/>
          <p:cNvSpPr txBox="1"/>
          <p:nvPr/>
        </p:nvSpPr>
        <p:spPr>
          <a:xfrm>
            <a:off x="8266175" y="5303520"/>
            <a:ext cx="3218688" cy="667512"/>
          </a:xfrm>
          <a:prstGeom prst="rect">
            <a:avLst/>
          </a:prstGeom>
          <a:noFill/>
        </p:spPr>
        <p:txBody>
          <a:bodyPr wrap="square" lIns="0" rIns="0" tIns="16763" bIns="0" anchor="t">
            <a:noAutofit/>
          </a:bodyPr>
          <a:lstStyle/>
          <a:p>
            <a:pPr algn="l">
              <a:lnSpc>
                <a:spcPts val="2420"/>
              </a:lnSpc>
              <a:spcBef>
                <a:spcPts val="0"/>
              </a:spcBef>
              <a:spcAft>
                <a:spcPts val="0"/>
              </a:spcAft>
              <a:defRPr sz="2200">
                <a:latin typeface="Arial"/>
              </a:defRPr>
            </a:pPr>
            <a:r>
              <a:rPr sz="2200" b="1">
                <a:solidFill>
                  <a:srgbClr val="17302B"/>
                </a:solidFill>
                <a:latin typeface="Arial"/>
              </a:rPr>
              <a:t>More frequent or</a:t>
            </a:r>
          </a:p>
          <a:p>
            <a:pPr algn="l">
              <a:lnSpc>
                <a:spcPts val="2420"/>
              </a:lnSpc>
              <a:spcBef>
                <a:spcPts val="0"/>
              </a:spcBef>
              <a:spcAft>
                <a:spcPts val="0"/>
              </a:spcAft>
              <a:defRPr sz="2200">
                <a:latin typeface="Arial"/>
              </a:defRPr>
            </a:pPr>
            <a:r>
              <a:rPr sz="2200" b="1">
                <a:solidFill>
                  <a:srgbClr val="17302B"/>
                </a:solidFill>
                <a:latin typeface="Arial"/>
              </a:rPr>
              <a:t>impulsive trading</a:t>
            </a:r>
          </a:p>
        </p:txBody>
      </p:sp>
      <p:sp>
        <p:nvSpPr>
          <p:cNvPr id="55" name="first time user percentage"/>
          <p:cNvSpPr txBox="1"/>
          <p:nvPr/>
        </p:nvSpPr>
        <p:spPr>
          <a:xfrm>
            <a:off x="713232" y="5660136"/>
            <a:ext cx="1216152" cy="594360"/>
          </a:xfrm>
          <a:prstGeom prst="rect">
            <a:avLst/>
          </a:prstGeom>
          <a:noFill/>
        </p:spPr>
        <p:txBody>
          <a:bodyPr wrap="square" lIns="0" rIns="0" tIns="23622" bIns="0" anchor="t">
            <a:noAutofit/>
          </a:bodyPr>
          <a:lstStyle/>
          <a:p>
            <a:pPr algn="l">
              <a:lnSpc>
                <a:spcPts val="3502"/>
              </a:lnSpc>
              <a:spcBef>
                <a:spcPts val="0"/>
              </a:spcBef>
              <a:spcAft>
                <a:spcPts val="0"/>
              </a:spcAft>
              <a:defRPr sz="3100">
                <a:latin typeface="Arial"/>
              </a:defRPr>
            </a:pPr>
            <a:r>
              <a:rPr sz="3100" b="1">
                <a:solidFill>
                  <a:srgbClr val="6D5A99"/>
                </a:solidFill>
                <a:latin typeface="Arial"/>
              </a:rPr>
              <a:t>~50%</a:t>
            </a:r>
          </a:p>
        </p:txBody>
      </p:sp>
      <p:sp>
        <p:nvSpPr>
          <p:cNvPr id="56" name="first time user basis"/>
          <p:cNvSpPr txBox="1"/>
          <p:nvPr/>
        </p:nvSpPr>
        <p:spPr>
          <a:xfrm>
            <a:off x="1993392" y="5660136"/>
            <a:ext cx="1572768" cy="603504"/>
          </a:xfrm>
          <a:prstGeom prst="rect">
            <a:avLst/>
          </a:prstGeom>
          <a:noFill/>
        </p:spPr>
        <p:txBody>
          <a:bodyPr wrap="square" lIns="0" rIns="0" tIns="9144" bIns="0" anchor="t">
            <a:noAutofit/>
          </a:bodyPr>
          <a:lstStyle/>
          <a:p>
            <a:pPr algn="l">
              <a:lnSpc>
                <a:spcPts val="1355"/>
              </a:lnSpc>
              <a:spcBef>
                <a:spcPts val="0"/>
              </a:spcBef>
              <a:spcAft>
                <a:spcPts val="0"/>
              </a:spcAft>
              <a:defRPr sz="1200">
                <a:latin typeface="Arial"/>
              </a:defRPr>
            </a:pPr>
            <a:r>
              <a:rPr sz="1200" b="0">
                <a:solidFill>
                  <a:srgbClr val="5E6B65"/>
                </a:solidFill>
                <a:latin typeface="Arial"/>
              </a:rPr>
              <a:t>of Robinhood’s new</a:t>
            </a:r>
          </a:p>
          <a:p>
            <a:pPr algn="l">
              <a:lnSpc>
                <a:spcPts val="1355"/>
              </a:lnSpc>
              <a:spcBef>
                <a:spcPts val="0"/>
              </a:spcBef>
              <a:spcAft>
                <a:spcPts val="0"/>
              </a:spcAft>
              <a:defRPr sz="1200">
                <a:latin typeface="Arial"/>
              </a:defRPr>
            </a:pPr>
            <a:r>
              <a:rPr sz="1200" b="0">
                <a:solidFill>
                  <a:srgbClr val="5E6B65"/>
                </a:solidFill>
                <a:latin typeface="Arial"/>
              </a:rPr>
              <a:t>2020 users were</a:t>
            </a:r>
          </a:p>
          <a:p>
            <a:pPr algn="l">
              <a:lnSpc>
                <a:spcPts val="1355"/>
              </a:lnSpc>
              <a:spcBef>
                <a:spcPts val="0"/>
              </a:spcBef>
              <a:spcAft>
                <a:spcPts val="0"/>
              </a:spcAft>
              <a:defRPr sz="1200">
                <a:latin typeface="Arial"/>
              </a:defRPr>
            </a:pPr>
            <a:r>
              <a:rPr sz="1200" b="0">
                <a:solidFill>
                  <a:srgbClr val="5E6B65"/>
                </a:solidFill>
                <a:latin typeface="Arial"/>
              </a:rPr>
              <a:t>first-timers</a:t>
            </a:r>
          </a:p>
        </p:txBody>
      </p:sp>
      <p:sp>
        <p:nvSpPr>
          <p:cNvPr id="57" name="psychological friction takeaway"/>
          <p:cNvSpPr txBox="1"/>
          <p:nvPr/>
        </p:nvSpPr>
        <p:spPr>
          <a:xfrm>
            <a:off x="4233672" y="6062472"/>
            <a:ext cx="7269480" cy="246888"/>
          </a:xfrm>
          <a:prstGeom prst="rect">
            <a:avLst/>
          </a:prstGeom>
          <a:noFill/>
        </p:spPr>
        <p:txBody>
          <a:bodyPr wrap="square" lIns="0" rIns="0" tIns="11049" bIns="0" anchor="t">
            <a:noAutofit/>
          </a:bodyPr>
          <a:lstStyle/>
          <a:p>
            <a:pPr algn="l">
              <a:lnSpc>
                <a:spcPts val="1638"/>
              </a:lnSpc>
              <a:spcBef>
                <a:spcPts val="0"/>
              </a:spcBef>
              <a:spcAft>
                <a:spcPts val="0"/>
              </a:spcAft>
              <a:defRPr sz="1450">
                <a:latin typeface="Arial"/>
              </a:defRPr>
            </a:pPr>
            <a:r>
              <a:rPr sz="1450" b="1">
                <a:solidFill>
                  <a:srgbClr val="6D5A99"/>
                </a:solidFill>
                <a:latin typeface="Arial"/>
              </a:rPr>
              <a:t>Lower transaction friction also lowered psychological friction.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Guo Jing</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15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6D5A99"/>
                </a:solidFill>
                <a:latin typeface="Arial"/>
              </a:rPr>
              <a:t>Q4 / SOCIAL AMPLIFICATION</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Social media turned individuals into a crowd</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Reddit amplified information sharing, group identity, FOMO and price momentum.</a:t>
            </a:r>
          </a:p>
        </p:txBody>
      </p:sp>
      <p:sp>
        <p:nvSpPr>
          <p:cNvPr id="9" name="WSB growth"/>
          <p:cNvSpPr txBox="1"/>
          <p:nvPr/>
        </p:nvSpPr>
        <p:spPr>
          <a:xfrm>
            <a:off x="713232" y="2304288"/>
            <a:ext cx="2313432" cy="621792"/>
          </a:xfrm>
          <a:prstGeom prst="rect">
            <a:avLst/>
          </a:prstGeom>
          <a:noFill/>
        </p:spPr>
        <p:txBody>
          <a:bodyPr wrap="square" lIns="0" rIns="0" tIns="22859" bIns="0" anchor="t">
            <a:noAutofit/>
          </a:bodyPr>
          <a:lstStyle/>
          <a:p>
            <a:pPr algn="l">
              <a:lnSpc>
                <a:spcPts val="3390"/>
              </a:lnSpc>
              <a:spcBef>
                <a:spcPts val="0"/>
              </a:spcBef>
              <a:spcAft>
                <a:spcPts val="0"/>
              </a:spcAft>
              <a:defRPr sz="3000">
                <a:latin typeface="Arial"/>
              </a:defRPr>
            </a:pPr>
            <a:r>
              <a:rPr sz="3000" b="1">
                <a:solidFill>
                  <a:srgbClr val="6D5A99"/>
                </a:solidFill>
                <a:latin typeface="Arial"/>
              </a:rPr>
              <a:t>+1.1 million</a:t>
            </a:r>
          </a:p>
        </p:txBody>
      </p:sp>
      <p:sp>
        <p:nvSpPr>
          <p:cNvPr id="10" name="WSB growth basis"/>
          <p:cNvSpPr txBox="1"/>
          <p:nvPr/>
        </p:nvSpPr>
        <p:spPr>
          <a:xfrm>
            <a:off x="713232" y="2971800"/>
            <a:ext cx="2066543" cy="594360"/>
          </a:xfrm>
          <a:prstGeom prst="rect">
            <a:avLst/>
          </a:prstGeom>
          <a:noFill/>
        </p:spPr>
        <p:txBody>
          <a:bodyPr wrap="square" lIns="0" rIns="0" tIns="12192" bIns="0" anchor="t">
            <a:noAutofit/>
          </a:bodyPr>
          <a:lstStyle/>
          <a:p>
            <a:pPr algn="l">
              <a:lnSpc>
                <a:spcPts val="1807"/>
              </a:lnSpc>
              <a:spcBef>
                <a:spcPts val="0"/>
              </a:spcBef>
              <a:spcAft>
                <a:spcPts val="0"/>
              </a:spcAft>
              <a:defRPr sz="1600">
                <a:latin typeface="Arial"/>
              </a:defRPr>
            </a:pPr>
            <a:r>
              <a:rPr sz="1600" b="0">
                <a:solidFill>
                  <a:srgbClr val="5E6B65"/>
                </a:solidFill>
                <a:latin typeface="Arial"/>
              </a:rPr>
              <a:t>new WSB members</a:t>
            </a:r>
          </a:p>
          <a:p>
            <a:pPr algn="l">
              <a:lnSpc>
                <a:spcPts val="1807"/>
              </a:lnSpc>
              <a:spcBef>
                <a:spcPts val="0"/>
              </a:spcBef>
              <a:spcAft>
                <a:spcPts val="0"/>
              </a:spcAft>
              <a:defRPr sz="1600">
                <a:latin typeface="Arial"/>
              </a:defRPr>
            </a:pPr>
            <a:r>
              <a:rPr sz="1600" b="0">
                <a:solidFill>
                  <a:srgbClr val="5E6B65"/>
                </a:solidFill>
                <a:latin typeface="Arial"/>
              </a:rPr>
              <a:t>in one day</a:t>
            </a:r>
          </a:p>
        </p:txBody>
      </p:sp>
      <p:cxnSp>
        <p:nvCxnSpPr>
          <p:cNvPr id="11" name="reddit to memes"/>
          <p:cNvCxnSpPr/>
          <p:nvPr/>
        </p:nvCxnSpPr>
        <p:spPr>
          <a:xfrm>
            <a:off x="5760720" y="2962656"/>
            <a:ext cx="1234440" cy="347472"/>
          </a:xfrm>
          <a:prstGeom prst="line">
            <a:avLst/>
          </a:prstGeom>
          <a:ln w="20320">
            <a:solidFill>
              <a:srgbClr val="6D5A99"/>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2" name="memes to FOMO"/>
          <p:cNvCxnSpPr/>
          <p:nvPr/>
        </p:nvCxnSpPr>
        <p:spPr>
          <a:xfrm flipH="1">
            <a:off x="7333488" y="4215384"/>
            <a:ext cx="384048" cy="438912"/>
          </a:xfrm>
          <a:prstGeom prst="line">
            <a:avLst/>
          </a:prstGeom>
          <a:ln w="20320">
            <a:solidFill>
              <a:srgbClr val="6D5A99"/>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3" name="FOMO to price"/>
          <p:cNvCxnSpPr/>
          <p:nvPr/>
        </p:nvCxnSpPr>
        <p:spPr>
          <a:xfrm flipH="1">
            <a:off x="5294376" y="5138928"/>
            <a:ext cx="932688" cy="0"/>
          </a:xfrm>
          <a:prstGeom prst="line">
            <a:avLst/>
          </a:prstGeom>
          <a:ln w="20320">
            <a:solidFill>
              <a:srgbClr val="6D5A99"/>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 name="price to attention"/>
          <p:cNvCxnSpPr/>
          <p:nvPr/>
        </p:nvCxnSpPr>
        <p:spPr>
          <a:xfrm flipH="1" flipV="1">
            <a:off x="3264408" y="3995928"/>
            <a:ext cx="493776" cy="658368"/>
          </a:xfrm>
          <a:prstGeom prst="line">
            <a:avLst/>
          </a:prstGeom>
          <a:ln w="20320">
            <a:solidFill>
              <a:srgbClr val="6D5A99"/>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5" name="attention to reddit"/>
          <p:cNvCxnSpPr/>
          <p:nvPr/>
        </p:nvCxnSpPr>
        <p:spPr>
          <a:xfrm flipV="1">
            <a:off x="3767328" y="2962656"/>
            <a:ext cx="667512" cy="347472"/>
          </a:xfrm>
          <a:prstGeom prst="line">
            <a:avLst/>
          </a:prstGeom>
          <a:ln w="20320">
            <a:solidFill>
              <a:srgbClr val="6D5A99"/>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diagram node"/>
          <p:cNvSpPr/>
          <p:nvPr/>
        </p:nvSpPr>
        <p:spPr>
          <a:xfrm>
            <a:off x="3822191" y="2331720"/>
            <a:ext cx="2743200" cy="576072"/>
          </a:xfrm>
          <a:prstGeom prst="roundRect">
            <a:avLst>
              <a:gd name="adj" fmla="val 12000"/>
            </a:avLst>
          </a:prstGeom>
          <a:solidFill>
            <a:srgbClr val="EEEA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diagram label"/>
          <p:cNvSpPr txBox="1"/>
          <p:nvPr/>
        </p:nvSpPr>
        <p:spPr>
          <a:xfrm>
            <a:off x="3941063" y="2459736"/>
            <a:ext cx="2505456" cy="356616"/>
          </a:xfrm>
          <a:prstGeom prst="rect">
            <a:avLst/>
          </a:prstGeom>
          <a:noFill/>
        </p:spPr>
        <p:txBody>
          <a:bodyPr wrap="square" lIns="0" rIns="0" tIns="12573" bIns="0" anchor="t">
            <a:noAutofit/>
          </a:bodyPr>
          <a:lstStyle/>
          <a:p>
            <a:pPr algn="ctr">
              <a:lnSpc>
                <a:spcPts val="1749"/>
              </a:lnSpc>
              <a:spcBef>
                <a:spcPts val="0"/>
              </a:spcBef>
              <a:spcAft>
                <a:spcPts val="0"/>
              </a:spcAft>
              <a:defRPr sz="1650">
                <a:latin typeface="Arial"/>
              </a:defRPr>
            </a:pPr>
            <a:r>
              <a:rPr sz="1650" b="1">
                <a:solidFill>
                  <a:srgbClr val="17302B"/>
                </a:solidFill>
                <a:latin typeface="Arial"/>
              </a:rPr>
              <a:t>Reddit / WallStreetBets</a:t>
            </a:r>
          </a:p>
        </p:txBody>
      </p:sp>
      <p:sp>
        <p:nvSpPr>
          <p:cNvPr id="18" name="diagram node"/>
          <p:cNvSpPr/>
          <p:nvPr/>
        </p:nvSpPr>
        <p:spPr>
          <a:xfrm>
            <a:off x="6629400" y="3364992"/>
            <a:ext cx="1865376" cy="795528"/>
          </a:xfrm>
          <a:prstGeom prst="roundRect">
            <a:avLst>
              <a:gd name="adj" fmla="val 12000"/>
            </a:avLst>
          </a:prstGeom>
          <a:solidFill>
            <a:srgbClr val="EEEA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diagram label"/>
          <p:cNvSpPr txBox="1"/>
          <p:nvPr/>
        </p:nvSpPr>
        <p:spPr>
          <a:xfrm>
            <a:off x="6748272" y="3493008"/>
            <a:ext cx="1627632" cy="576072"/>
          </a:xfrm>
          <a:prstGeom prst="rect">
            <a:avLst/>
          </a:prstGeom>
          <a:noFill/>
        </p:spPr>
        <p:txBody>
          <a:bodyPr wrap="square" lIns="0" rIns="0" tIns="11811" bIns="0" anchor="t">
            <a:noAutofit/>
          </a:bodyPr>
          <a:lstStyle/>
          <a:p>
            <a:pPr algn="ctr">
              <a:lnSpc>
                <a:spcPts val="1643"/>
              </a:lnSpc>
              <a:spcBef>
                <a:spcPts val="0"/>
              </a:spcBef>
              <a:spcAft>
                <a:spcPts val="0"/>
              </a:spcAft>
              <a:defRPr sz="1550">
                <a:latin typeface="Arial"/>
              </a:defRPr>
            </a:pPr>
            <a:r>
              <a:rPr sz="1550" b="1">
                <a:solidFill>
                  <a:srgbClr val="17302B"/>
                </a:solidFill>
                <a:latin typeface="Arial"/>
              </a:rPr>
              <a:t>Memes &amp;</a:t>
            </a:r>
          </a:p>
          <a:p>
            <a:pPr algn="ctr">
              <a:lnSpc>
                <a:spcPts val="1643"/>
              </a:lnSpc>
              <a:spcBef>
                <a:spcPts val="0"/>
              </a:spcBef>
              <a:spcAft>
                <a:spcPts val="0"/>
              </a:spcAft>
              <a:defRPr sz="1550">
                <a:latin typeface="Arial"/>
              </a:defRPr>
            </a:pPr>
            <a:r>
              <a:rPr sz="1550" b="1">
                <a:solidFill>
                  <a:srgbClr val="17302B"/>
                </a:solidFill>
                <a:latin typeface="Arial"/>
              </a:rPr>
              <a:t>screenshots</a:t>
            </a:r>
          </a:p>
        </p:txBody>
      </p:sp>
      <p:sp>
        <p:nvSpPr>
          <p:cNvPr id="20" name="diagram node"/>
          <p:cNvSpPr/>
          <p:nvPr/>
        </p:nvSpPr>
        <p:spPr>
          <a:xfrm>
            <a:off x="6281928" y="4709160"/>
            <a:ext cx="2130552" cy="841248"/>
          </a:xfrm>
          <a:prstGeom prst="roundRect">
            <a:avLst>
              <a:gd name="adj" fmla="val 12000"/>
            </a:avLst>
          </a:prstGeom>
          <a:solidFill>
            <a:srgbClr val="F7EC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diagram label"/>
          <p:cNvSpPr txBox="1"/>
          <p:nvPr/>
        </p:nvSpPr>
        <p:spPr>
          <a:xfrm>
            <a:off x="6400800" y="4837176"/>
            <a:ext cx="1892808" cy="621792"/>
          </a:xfrm>
          <a:prstGeom prst="rect">
            <a:avLst/>
          </a:prstGeom>
          <a:noFill/>
        </p:spPr>
        <p:txBody>
          <a:bodyPr wrap="square" lIns="0" rIns="0" tIns="12954" bIns="0" anchor="t">
            <a:noAutofit/>
          </a:bodyPr>
          <a:lstStyle/>
          <a:p>
            <a:pPr algn="ctr">
              <a:lnSpc>
                <a:spcPts val="1802"/>
              </a:lnSpc>
              <a:spcBef>
                <a:spcPts val="0"/>
              </a:spcBef>
              <a:spcAft>
                <a:spcPts val="0"/>
              </a:spcAft>
              <a:defRPr sz="1700">
                <a:latin typeface="Arial"/>
              </a:defRPr>
            </a:pPr>
            <a:r>
              <a:rPr sz="1700" b="1">
                <a:solidFill>
                  <a:srgbClr val="17302B"/>
                </a:solidFill>
                <a:latin typeface="Arial"/>
              </a:rPr>
              <a:t>FOMO &amp;</a:t>
            </a:r>
          </a:p>
          <a:p>
            <a:pPr algn="ctr">
              <a:lnSpc>
                <a:spcPts val="1802"/>
              </a:lnSpc>
              <a:spcBef>
                <a:spcPts val="0"/>
              </a:spcBef>
              <a:spcAft>
                <a:spcPts val="0"/>
              </a:spcAft>
              <a:defRPr sz="1700">
                <a:latin typeface="Arial"/>
              </a:defRPr>
            </a:pPr>
            <a:r>
              <a:rPr sz="1700" b="1">
                <a:solidFill>
                  <a:srgbClr val="17302B"/>
                </a:solidFill>
                <a:latin typeface="Arial"/>
              </a:rPr>
              <a:t>herd buying</a:t>
            </a:r>
          </a:p>
        </p:txBody>
      </p:sp>
      <p:sp>
        <p:nvSpPr>
          <p:cNvPr id="22" name="diagram node"/>
          <p:cNvSpPr/>
          <p:nvPr/>
        </p:nvSpPr>
        <p:spPr>
          <a:xfrm>
            <a:off x="3081528" y="4709160"/>
            <a:ext cx="2157984" cy="841248"/>
          </a:xfrm>
          <a:prstGeom prst="roundRect">
            <a:avLst>
              <a:gd name="adj" fmla="val 12000"/>
            </a:avLst>
          </a:prstGeom>
          <a:solidFill>
            <a:srgbClr val="EEEA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diagram label"/>
          <p:cNvSpPr txBox="1"/>
          <p:nvPr/>
        </p:nvSpPr>
        <p:spPr>
          <a:xfrm>
            <a:off x="3200400" y="4837176"/>
            <a:ext cx="1920239" cy="621792"/>
          </a:xfrm>
          <a:prstGeom prst="rect">
            <a:avLst/>
          </a:prstGeom>
          <a:noFill/>
        </p:spPr>
        <p:txBody>
          <a:bodyPr wrap="square" lIns="0" rIns="0" tIns="12954" bIns="0" anchor="t">
            <a:noAutofit/>
          </a:bodyPr>
          <a:lstStyle/>
          <a:p>
            <a:pPr algn="ctr">
              <a:lnSpc>
                <a:spcPts val="1802"/>
              </a:lnSpc>
              <a:spcBef>
                <a:spcPts val="0"/>
              </a:spcBef>
              <a:spcAft>
                <a:spcPts val="0"/>
              </a:spcAft>
              <a:defRPr sz="1700">
                <a:latin typeface="Arial"/>
              </a:defRPr>
            </a:pPr>
            <a:r>
              <a:rPr sz="1700" b="1">
                <a:solidFill>
                  <a:srgbClr val="17302B"/>
                </a:solidFill>
                <a:latin typeface="Arial"/>
              </a:rPr>
              <a:t>GME</a:t>
            </a:r>
          </a:p>
          <a:p>
            <a:pPr algn="ctr">
              <a:lnSpc>
                <a:spcPts val="1802"/>
              </a:lnSpc>
              <a:spcBef>
                <a:spcPts val="0"/>
              </a:spcBef>
              <a:spcAft>
                <a:spcPts val="0"/>
              </a:spcAft>
              <a:defRPr sz="1700">
                <a:latin typeface="Arial"/>
              </a:defRPr>
            </a:pPr>
            <a:r>
              <a:rPr sz="1700" b="1">
                <a:solidFill>
                  <a:srgbClr val="17302B"/>
                </a:solidFill>
                <a:latin typeface="Arial"/>
              </a:rPr>
              <a:t>price rises</a:t>
            </a:r>
          </a:p>
        </p:txBody>
      </p:sp>
      <p:sp>
        <p:nvSpPr>
          <p:cNvPr id="24" name="diagram node"/>
          <p:cNvSpPr/>
          <p:nvPr/>
        </p:nvSpPr>
        <p:spPr>
          <a:xfrm>
            <a:off x="2496312" y="3364992"/>
            <a:ext cx="2020824" cy="576072"/>
          </a:xfrm>
          <a:prstGeom prst="roundRect">
            <a:avLst>
              <a:gd name="adj" fmla="val 12000"/>
            </a:avLst>
          </a:prstGeom>
          <a:solidFill>
            <a:srgbClr val="EEEAF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diagram label"/>
          <p:cNvSpPr txBox="1"/>
          <p:nvPr/>
        </p:nvSpPr>
        <p:spPr>
          <a:xfrm>
            <a:off x="2615184" y="3493008"/>
            <a:ext cx="1783080" cy="356616"/>
          </a:xfrm>
          <a:prstGeom prst="rect">
            <a:avLst/>
          </a:prstGeom>
          <a:noFill/>
        </p:spPr>
        <p:txBody>
          <a:bodyPr wrap="square" lIns="0" rIns="0" tIns="12954" bIns="0" anchor="t">
            <a:noAutofit/>
          </a:bodyPr>
          <a:lstStyle/>
          <a:p>
            <a:pPr algn="ctr">
              <a:lnSpc>
                <a:spcPts val="1802"/>
              </a:lnSpc>
              <a:spcBef>
                <a:spcPts val="0"/>
              </a:spcBef>
              <a:spcAft>
                <a:spcPts val="0"/>
              </a:spcAft>
              <a:defRPr sz="1700">
                <a:latin typeface="Arial"/>
              </a:defRPr>
            </a:pPr>
            <a:r>
              <a:rPr sz="1700" b="1">
                <a:solidFill>
                  <a:srgbClr val="17302B"/>
                </a:solidFill>
                <a:latin typeface="Arial"/>
              </a:rPr>
              <a:t>More attention</a:t>
            </a:r>
          </a:p>
        </p:txBody>
      </p:sp>
      <p:sp>
        <p:nvSpPr>
          <p:cNvPr id="26" name="feedback cycle center"/>
          <p:cNvSpPr txBox="1"/>
          <p:nvPr/>
        </p:nvSpPr>
        <p:spPr>
          <a:xfrm>
            <a:off x="4700016" y="3602736"/>
            <a:ext cx="1691640" cy="914400"/>
          </a:xfrm>
          <a:prstGeom prst="rect">
            <a:avLst/>
          </a:prstGeom>
          <a:noFill/>
        </p:spPr>
        <p:txBody>
          <a:bodyPr wrap="square" lIns="0" rIns="0" tIns="13716" bIns="0" anchor="t">
            <a:noAutofit/>
          </a:bodyPr>
          <a:lstStyle/>
          <a:p>
            <a:pPr algn="ctr">
              <a:lnSpc>
                <a:spcPts val="2088"/>
              </a:lnSpc>
              <a:spcBef>
                <a:spcPts val="0"/>
              </a:spcBef>
              <a:spcAft>
                <a:spcPts val="0"/>
              </a:spcAft>
              <a:defRPr sz="1800">
                <a:latin typeface="Arial"/>
              </a:defRPr>
            </a:pPr>
            <a:r>
              <a:rPr sz="1800" b="1">
                <a:solidFill>
                  <a:srgbClr val="17302B"/>
                </a:solidFill>
                <a:latin typeface="Arial"/>
              </a:rPr>
              <a:t>Self-reinforcing</a:t>
            </a:r>
          </a:p>
          <a:p>
            <a:pPr algn="ctr">
              <a:lnSpc>
                <a:spcPts val="2088"/>
              </a:lnSpc>
              <a:spcBef>
                <a:spcPts val="0"/>
              </a:spcBef>
              <a:spcAft>
                <a:spcPts val="0"/>
              </a:spcAft>
              <a:defRPr sz="1800">
                <a:latin typeface="Arial"/>
              </a:defRPr>
            </a:pPr>
            <a:r>
              <a:rPr sz="1800" b="1">
                <a:solidFill>
                  <a:srgbClr val="17302B"/>
                </a:solidFill>
                <a:latin typeface="Arial"/>
              </a:rPr>
              <a:t>feedback loop</a:t>
            </a:r>
          </a:p>
        </p:txBody>
      </p:sp>
      <p:cxnSp>
        <p:nvCxnSpPr>
          <p:cNvPr id="27" name="connector"/>
          <p:cNvCxnSpPr/>
          <p:nvPr/>
        </p:nvCxnSpPr>
        <p:spPr>
          <a:xfrm>
            <a:off x="8887968" y="2267712"/>
            <a:ext cx="0" cy="3310128"/>
          </a:xfrm>
          <a:prstGeom prst="line">
            <a:avLst/>
          </a:prstGeom>
          <a:ln w="889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28" name="eyebrow"/>
          <p:cNvSpPr txBox="1"/>
          <p:nvPr/>
        </p:nvSpPr>
        <p:spPr>
          <a:xfrm>
            <a:off x="9308592" y="2404872"/>
            <a:ext cx="214884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BENEFITS</a:t>
            </a:r>
          </a:p>
        </p:txBody>
      </p:sp>
      <p:sp>
        <p:nvSpPr>
          <p:cNvPr id="29" name="social media benefits"/>
          <p:cNvSpPr txBox="1"/>
          <p:nvPr/>
        </p:nvSpPr>
        <p:spPr>
          <a:xfrm>
            <a:off x="9308592" y="2834640"/>
            <a:ext cx="2157984" cy="932688"/>
          </a:xfrm>
          <a:prstGeom prst="rect">
            <a:avLst/>
          </a:prstGeom>
          <a:noFill/>
        </p:spPr>
        <p:txBody>
          <a:bodyPr wrap="square" lIns="0" rIns="0" tIns="12192" bIns="0" anchor="t">
            <a:noAutofit/>
          </a:bodyPr>
          <a:lstStyle/>
          <a:p>
            <a:pPr algn="l">
              <a:lnSpc>
                <a:spcPts val="2048"/>
              </a:lnSpc>
              <a:spcBef>
                <a:spcPts val="0"/>
              </a:spcBef>
              <a:spcAft>
                <a:spcPts val="0"/>
              </a:spcAft>
              <a:defRPr sz="1600">
                <a:latin typeface="Arial"/>
              </a:defRPr>
            </a:pPr>
            <a:r>
              <a:rPr sz="1600" b="0">
                <a:solidFill>
                  <a:srgbClr val="17302B"/>
                </a:solidFill>
                <a:latin typeface="Arial"/>
              </a:rPr>
              <a:t>Faster information</a:t>
            </a:r>
          </a:p>
          <a:p>
            <a:pPr algn="l">
              <a:lnSpc>
                <a:spcPts val="2048"/>
              </a:lnSpc>
              <a:spcBef>
                <a:spcPts val="0"/>
              </a:spcBef>
              <a:spcAft>
                <a:spcPts val="0"/>
              </a:spcAft>
              <a:defRPr sz="1600">
                <a:latin typeface="Arial"/>
              </a:defRPr>
            </a:pPr>
            <a:r>
              <a:rPr sz="1600" b="0">
                <a:solidFill>
                  <a:srgbClr val="17302B"/>
                </a:solidFill>
                <a:latin typeface="Arial"/>
              </a:rPr>
              <a:t>Wider participation</a:t>
            </a:r>
          </a:p>
          <a:p>
            <a:pPr algn="l">
              <a:lnSpc>
                <a:spcPts val="2048"/>
              </a:lnSpc>
              <a:spcBef>
                <a:spcPts val="0"/>
              </a:spcBef>
              <a:spcAft>
                <a:spcPts val="0"/>
              </a:spcAft>
              <a:defRPr sz="1600">
                <a:latin typeface="Arial"/>
              </a:defRPr>
            </a:pPr>
            <a:r>
              <a:rPr sz="1600" b="0">
                <a:solidFill>
                  <a:srgbClr val="17302B"/>
                </a:solidFill>
                <a:latin typeface="Arial"/>
              </a:rPr>
              <a:t>Retail investor voice</a:t>
            </a:r>
          </a:p>
        </p:txBody>
      </p:sp>
      <p:sp>
        <p:nvSpPr>
          <p:cNvPr id="30" name="eyebrow"/>
          <p:cNvSpPr txBox="1"/>
          <p:nvPr/>
        </p:nvSpPr>
        <p:spPr>
          <a:xfrm>
            <a:off x="9308592" y="4279392"/>
            <a:ext cx="214884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B13F36"/>
                </a:solidFill>
                <a:latin typeface="Arial"/>
              </a:rPr>
              <a:t>RISKS</a:t>
            </a:r>
          </a:p>
        </p:txBody>
      </p:sp>
      <p:sp>
        <p:nvSpPr>
          <p:cNvPr id="31" name="social media risks"/>
          <p:cNvSpPr txBox="1"/>
          <p:nvPr/>
        </p:nvSpPr>
        <p:spPr>
          <a:xfrm>
            <a:off x="9308592" y="4709160"/>
            <a:ext cx="2157984" cy="841248"/>
          </a:xfrm>
          <a:prstGeom prst="rect">
            <a:avLst/>
          </a:prstGeom>
          <a:noFill/>
        </p:spPr>
        <p:txBody>
          <a:bodyPr wrap="square" lIns="0" rIns="0" tIns="12192" bIns="0" anchor="t">
            <a:noAutofit/>
          </a:bodyPr>
          <a:lstStyle/>
          <a:p>
            <a:pPr algn="l">
              <a:lnSpc>
                <a:spcPts val="2000"/>
              </a:lnSpc>
              <a:spcBef>
                <a:spcPts val="0"/>
              </a:spcBef>
              <a:spcAft>
                <a:spcPts val="0"/>
              </a:spcAft>
              <a:defRPr sz="1600">
                <a:latin typeface="Arial"/>
              </a:defRPr>
            </a:pPr>
            <a:r>
              <a:rPr sz="1600" b="0">
                <a:solidFill>
                  <a:srgbClr val="17302B"/>
                </a:solidFill>
                <a:latin typeface="Arial"/>
              </a:rPr>
              <a:t>FOMO</a:t>
            </a:r>
          </a:p>
          <a:p>
            <a:pPr algn="l">
              <a:lnSpc>
                <a:spcPts val="2000"/>
              </a:lnSpc>
              <a:spcBef>
                <a:spcPts val="0"/>
              </a:spcBef>
              <a:spcAft>
                <a:spcPts val="0"/>
              </a:spcAft>
              <a:defRPr sz="1600">
                <a:latin typeface="Arial"/>
              </a:defRPr>
            </a:pPr>
            <a:r>
              <a:rPr sz="1600" b="0">
                <a:solidFill>
                  <a:srgbClr val="17302B"/>
                </a:solidFill>
                <a:latin typeface="Arial"/>
              </a:rPr>
              <a:t>Herd behavior</a:t>
            </a:r>
          </a:p>
          <a:p>
            <a:pPr algn="l">
              <a:lnSpc>
                <a:spcPts val="2000"/>
              </a:lnSpc>
              <a:spcBef>
                <a:spcPts val="0"/>
              </a:spcBef>
              <a:spcAft>
                <a:spcPts val="0"/>
              </a:spcAft>
              <a:defRPr sz="1600">
                <a:latin typeface="Arial"/>
              </a:defRPr>
            </a:pPr>
            <a:r>
              <a:rPr sz="1600" b="0">
                <a:solidFill>
                  <a:srgbClr val="17302B"/>
                </a:solidFill>
                <a:latin typeface="Arial"/>
              </a:rPr>
              <a:t>Speculative momentum</a:t>
            </a:r>
          </a:p>
        </p:txBody>
      </p:sp>
      <p:sp>
        <p:nvSpPr>
          <p:cNvPr id="32" name="manipulation boundary"/>
          <p:cNvSpPr txBox="1"/>
          <p:nvPr/>
        </p:nvSpPr>
        <p:spPr>
          <a:xfrm>
            <a:off x="713232" y="5916168"/>
            <a:ext cx="10735056" cy="384048"/>
          </a:xfrm>
          <a:prstGeom prst="rect">
            <a:avLst/>
          </a:prstGeom>
          <a:noFill/>
        </p:spPr>
        <p:txBody>
          <a:bodyPr wrap="square" lIns="0" rIns="0" tIns="16763" bIns="0" anchor="t">
            <a:noAutofit/>
          </a:bodyPr>
          <a:lstStyle/>
          <a:p>
            <a:pPr algn="l">
              <a:lnSpc>
                <a:spcPts val="2486"/>
              </a:lnSpc>
              <a:spcBef>
                <a:spcPts val="0"/>
              </a:spcBef>
              <a:spcAft>
                <a:spcPts val="0"/>
              </a:spcAft>
              <a:defRPr sz="2200">
                <a:latin typeface="Arial"/>
              </a:defRPr>
            </a:pPr>
            <a:r>
              <a:rPr sz="2200" b="1">
                <a:solidFill>
                  <a:srgbClr val="17302B"/>
                </a:solidFill>
                <a:latin typeface="Arial"/>
              </a:rPr>
              <a:t>Collective enthusiasm is not proof of manipulation.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Lu Junyu</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16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6D5A99"/>
                </a:solidFill>
                <a:latin typeface="Arial"/>
              </a:rPr>
              <a:t>Q4 / INDUSTRY RESPONSE</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Manage market risks—not the retail crowd</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Education, safer products and targeted oversight protect access and investor choice.</a:t>
            </a:r>
          </a:p>
        </p:txBody>
      </p:sp>
      <p:cxnSp>
        <p:nvCxnSpPr>
          <p:cNvPr id="9" name="path"/>
          <p:cNvCxnSpPr/>
          <p:nvPr/>
        </p:nvCxnSpPr>
        <p:spPr>
          <a:xfrm flipH="1" flipV="1">
            <a:off x="768096" y="2322576"/>
            <a:ext cx="201168" cy="73152"/>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0" name="path"/>
          <p:cNvCxnSpPr/>
          <p:nvPr/>
        </p:nvCxnSpPr>
        <p:spPr>
          <a:xfrm>
            <a:off x="768096" y="2322576"/>
            <a:ext cx="0" cy="338328"/>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1" name="path"/>
          <p:cNvCxnSpPr/>
          <p:nvPr/>
        </p:nvCxnSpPr>
        <p:spPr>
          <a:xfrm>
            <a:off x="768096" y="2660904"/>
            <a:ext cx="201168" cy="64008"/>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2" name="path"/>
          <p:cNvCxnSpPr/>
          <p:nvPr/>
        </p:nvCxnSpPr>
        <p:spPr>
          <a:xfrm flipV="1">
            <a:off x="969264" y="2660904"/>
            <a:ext cx="201168" cy="64008"/>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3" name="path"/>
          <p:cNvCxnSpPr/>
          <p:nvPr/>
        </p:nvCxnSpPr>
        <p:spPr>
          <a:xfrm flipV="1">
            <a:off x="1170432" y="2322576"/>
            <a:ext cx="0" cy="338328"/>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4" name="path"/>
          <p:cNvCxnSpPr/>
          <p:nvPr/>
        </p:nvCxnSpPr>
        <p:spPr>
          <a:xfrm flipH="1">
            <a:off x="969264" y="2322576"/>
            <a:ext cx="201168" cy="73152"/>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15" name="path"/>
          <p:cNvCxnSpPr/>
          <p:nvPr/>
        </p:nvCxnSpPr>
        <p:spPr>
          <a:xfrm>
            <a:off x="969264" y="2395728"/>
            <a:ext cx="0" cy="329184"/>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sp>
        <p:nvSpPr>
          <p:cNvPr id="16" name="industry action"/>
          <p:cNvSpPr txBox="1"/>
          <p:nvPr/>
        </p:nvSpPr>
        <p:spPr>
          <a:xfrm>
            <a:off x="1481328" y="2212848"/>
            <a:ext cx="6035040" cy="365760"/>
          </a:xfrm>
          <a:prstGeom prst="rect">
            <a:avLst/>
          </a:prstGeom>
          <a:noFill/>
        </p:spPr>
        <p:txBody>
          <a:bodyPr wrap="square" lIns="0" rIns="0" tIns="17526" bIns="0" anchor="t">
            <a:noAutofit/>
          </a:bodyPr>
          <a:lstStyle/>
          <a:p>
            <a:pPr algn="l">
              <a:lnSpc>
                <a:spcPts val="2599"/>
              </a:lnSpc>
              <a:spcBef>
                <a:spcPts val="0"/>
              </a:spcBef>
              <a:spcAft>
                <a:spcPts val="0"/>
              </a:spcAft>
              <a:defRPr sz="2300">
                <a:latin typeface="Arial"/>
              </a:defRPr>
            </a:pPr>
            <a:r>
              <a:rPr sz="2300" b="1">
                <a:solidFill>
                  <a:srgbClr val="17302B"/>
                </a:solidFill>
                <a:latin typeface="Arial"/>
              </a:rPr>
              <a:t>Investor education</a:t>
            </a:r>
          </a:p>
        </p:txBody>
      </p:sp>
      <p:sp>
        <p:nvSpPr>
          <p:cNvPr id="17" name="industry action detail"/>
          <p:cNvSpPr txBox="1"/>
          <p:nvPr/>
        </p:nvSpPr>
        <p:spPr>
          <a:xfrm>
            <a:off x="1481328" y="2734056"/>
            <a:ext cx="5815584" cy="594360"/>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Explain volatility, short squeezes and potential losses in</a:t>
            </a:r>
          </a:p>
          <a:p>
            <a:pPr algn="l">
              <a:lnSpc>
                <a:spcPts val="2033"/>
              </a:lnSpc>
              <a:spcBef>
                <a:spcPts val="0"/>
              </a:spcBef>
              <a:spcAft>
                <a:spcPts val="0"/>
              </a:spcAft>
              <a:defRPr sz="1800">
                <a:latin typeface="Arial"/>
              </a:defRPr>
            </a:pPr>
            <a:r>
              <a:rPr sz="1800" b="0">
                <a:solidFill>
                  <a:srgbClr val="5E6B65"/>
                </a:solidFill>
                <a:latin typeface="Arial"/>
              </a:rPr>
              <a:t>plain language.</a:t>
            </a:r>
          </a:p>
        </p:txBody>
      </p:sp>
      <p:sp>
        <p:nvSpPr>
          <p:cNvPr id="18" name="eyebrow"/>
          <p:cNvSpPr txBox="1"/>
          <p:nvPr/>
        </p:nvSpPr>
        <p:spPr>
          <a:xfrm>
            <a:off x="8330183" y="2231136"/>
            <a:ext cx="29260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6D5A99"/>
                </a:solidFill>
                <a:latin typeface="Arial"/>
              </a:rPr>
              <a:t>BEFORE TRADING</a:t>
            </a:r>
          </a:p>
        </p:txBody>
      </p:sp>
      <p:sp>
        <p:nvSpPr>
          <p:cNvPr id="19" name="action purpose"/>
          <p:cNvSpPr txBox="1"/>
          <p:nvPr/>
        </p:nvSpPr>
        <p:spPr>
          <a:xfrm>
            <a:off x="8330183" y="2615184"/>
            <a:ext cx="2889504" cy="65836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1">
                <a:solidFill>
                  <a:srgbClr val="17302B"/>
                </a:solidFill>
                <a:latin typeface="Arial"/>
              </a:rPr>
              <a:t>Inform first-time investors</a:t>
            </a:r>
          </a:p>
        </p:txBody>
      </p:sp>
      <p:cxnSp>
        <p:nvCxnSpPr>
          <p:cNvPr id="20" name="connector"/>
          <p:cNvCxnSpPr/>
          <p:nvPr/>
        </p:nvCxnSpPr>
        <p:spPr>
          <a:xfrm>
            <a:off x="768096" y="3282696"/>
            <a:ext cx="10707624"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cxnSp>
        <p:nvCxnSpPr>
          <p:cNvPr id="21" name="path"/>
          <p:cNvCxnSpPr/>
          <p:nvPr/>
        </p:nvCxnSpPr>
        <p:spPr>
          <a:xfrm>
            <a:off x="969264" y="3529584"/>
            <a:ext cx="201168" cy="82296"/>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22" name="path"/>
          <p:cNvCxnSpPr/>
          <p:nvPr/>
        </p:nvCxnSpPr>
        <p:spPr>
          <a:xfrm flipH="1">
            <a:off x="1152144" y="3611880"/>
            <a:ext cx="18288" cy="219456"/>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23" name="path"/>
          <p:cNvCxnSpPr/>
          <p:nvPr/>
        </p:nvCxnSpPr>
        <p:spPr>
          <a:xfrm flipH="1">
            <a:off x="969264" y="3831336"/>
            <a:ext cx="182880" cy="137160"/>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24" name="path"/>
          <p:cNvCxnSpPr/>
          <p:nvPr/>
        </p:nvCxnSpPr>
        <p:spPr>
          <a:xfrm flipH="1" flipV="1">
            <a:off x="786384" y="3831336"/>
            <a:ext cx="182880" cy="137160"/>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25" name="path"/>
          <p:cNvCxnSpPr/>
          <p:nvPr/>
        </p:nvCxnSpPr>
        <p:spPr>
          <a:xfrm flipH="1" flipV="1">
            <a:off x="768096" y="3611880"/>
            <a:ext cx="18288" cy="219456"/>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26" name="path"/>
          <p:cNvCxnSpPr/>
          <p:nvPr/>
        </p:nvCxnSpPr>
        <p:spPr>
          <a:xfrm flipV="1">
            <a:off x="768096" y="3529584"/>
            <a:ext cx="201168" cy="82296"/>
          </a:xfrm>
          <a:prstGeom prst="line">
            <a:avLst/>
          </a:prstGeom>
          <a:ln w="1651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27" name="path"/>
          <p:cNvCxnSpPr/>
          <p:nvPr/>
        </p:nvCxnSpPr>
        <p:spPr>
          <a:xfrm>
            <a:off x="859536" y="3730752"/>
            <a:ext cx="91440" cy="91440"/>
          </a:xfrm>
          <a:prstGeom prst="line">
            <a:avLst/>
          </a:prstGeom>
          <a:ln w="17780">
            <a:solidFill>
              <a:srgbClr val="6D5A99"/>
            </a:solidFill>
          </a:ln>
          <a:effectLst/>
        </p:spPr>
        <p:style>
          <a:lnRef idx="2">
            <a:schemeClr val="accent1"/>
          </a:lnRef>
          <a:fillRef idx="0">
            <a:schemeClr val="accent1"/>
          </a:fillRef>
          <a:effectRef idx="0">
            <a:schemeClr val="accent1"/>
          </a:effectRef>
          <a:fontRef idx="minor">
            <a:schemeClr val="tx1"/>
          </a:fontRef>
        </p:style>
      </p:cxnSp>
      <p:cxnSp>
        <p:nvCxnSpPr>
          <p:cNvPr id="28" name="path"/>
          <p:cNvCxnSpPr/>
          <p:nvPr/>
        </p:nvCxnSpPr>
        <p:spPr>
          <a:xfrm flipV="1">
            <a:off x="950976" y="3675888"/>
            <a:ext cx="128016" cy="146304"/>
          </a:xfrm>
          <a:prstGeom prst="line">
            <a:avLst/>
          </a:prstGeom>
          <a:ln w="17780">
            <a:solidFill>
              <a:srgbClr val="6D5A99"/>
            </a:solidFill>
          </a:ln>
          <a:effectLst/>
        </p:spPr>
        <p:style>
          <a:lnRef idx="2">
            <a:schemeClr val="accent1"/>
          </a:lnRef>
          <a:fillRef idx="0">
            <a:schemeClr val="accent1"/>
          </a:fillRef>
          <a:effectRef idx="0">
            <a:schemeClr val="accent1"/>
          </a:effectRef>
          <a:fontRef idx="minor">
            <a:schemeClr val="tx1"/>
          </a:fontRef>
        </p:style>
      </p:cxnSp>
      <p:sp>
        <p:nvSpPr>
          <p:cNvPr id="29" name="industry action"/>
          <p:cNvSpPr txBox="1"/>
          <p:nvPr/>
        </p:nvSpPr>
        <p:spPr>
          <a:xfrm>
            <a:off x="1481328" y="3419856"/>
            <a:ext cx="6035040" cy="365760"/>
          </a:xfrm>
          <a:prstGeom prst="rect">
            <a:avLst/>
          </a:prstGeom>
          <a:noFill/>
        </p:spPr>
        <p:txBody>
          <a:bodyPr wrap="square" lIns="0" rIns="0" tIns="17526" bIns="0" anchor="t">
            <a:noAutofit/>
          </a:bodyPr>
          <a:lstStyle/>
          <a:p>
            <a:pPr algn="l">
              <a:lnSpc>
                <a:spcPts val="2599"/>
              </a:lnSpc>
              <a:spcBef>
                <a:spcPts val="0"/>
              </a:spcBef>
              <a:spcAft>
                <a:spcPts val="0"/>
              </a:spcAft>
              <a:defRPr sz="2300">
                <a:latin typeface="Arial"/>
              </a:defRPr>
            </a:pPr>
            <a:r>
              <a:rPr sz="2300" b="1">
                <a:solidFill>
                  <a:srgbClr val="17302B"/>
                </a:solidFill>
                <a:latin typeface="Arial"/>
              </a:rPr>
              <a:t>Platform safeguards</a:t>
            </a:r>
          </a:p>
        </p:txBody>
      </p:sp>
      <p:sp>
        <p:nvSpPr>
          <p:cNvPr id="30" name="industry action detail"/>
          <p:cNvSpPr txBox="1"/>
          <p:nvPr/>
        </p:nvSpPr>
        <p:spPr>
          <a:xfrm>
            <a:off x="1481328" y="3941064"/>
            <a:ext cx="5815584" cy="594360"/>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Use options eligibility checks and prominent risk</a:t>
            </a:r>
          </a:p>
          <a:p>
            <a:pPr algn="l">
              <a:lnSpc>
                <a:spcPts val="2033"/>
              </a:lnSpc>
              <a:spcBef>
                <a:spcPts val="0"/>
              </a:spcBef>
              <a:spcAft>
                <a:spcPts val="0"/>
              </a:spcAft>
              <a:defRPr sz="1800">
                <a:latin typeface="Arial"/>
              </a:defRPr>
            </a:pPr>
            <a:r>
              <a:rPr sz="1800" b="0">
                <a:solidFill>
                  <a:srgbClr val="5E6B65"/>
                </a:solidFill>
                <a:latin typeface="Arial"/>
              </a:rPr>
              <a:t>warnings.</a:t>
            </a:r>
          </a:p>
        </p:txBody>
      </p:sp>
      <p:sp>
        <p:nvSpPr>
          <p:cNvPr id="31" name="eyebrow"/>
          <p:cNvSpPr txBox="1"/>
          <p:nvPr/>
        </p:nvSpPr>
        <p:spPr>
          <a:xfrm>
            <a:off x="8330183" y="3438144"/>
            <a:ext cx="29260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6D5A99"/>
                </a:solidFill>
                <a:latin typeface="Arial"/>
              </a:rPr>
              <a:t>COMPLEX PRODUCTS</a:t>
            </a:r>
          </a:p>
        </p:txBody>
      </p:sp>
      <p:sp>
        <p:nvSpPr>
          <p:cNvPr id="32" name="action purpose"/>
          <p:cNvSpPr txBox="1"/>
          <p:nvPr/>
        </p:nvSpPr>
        <p:spPr>
          <a:xfrm>
            <a:off x="8330183" y="3822192"/>
            <a:ext cx="2889504" cy="65836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1">
                <a:solidFill>
                  <a:srgbClr val="17302B"/>
                </a:solidFill>
                <a:latin typeface="Arial"/>
              </a:rPr>
              <a:t>Protect without blocking</a:t>
            </a:r>
          </a:p>
          <a:p>
            <a:pPr algn="l">
              <a:lnSpc>
                <a:spcPts val="2033"/>
              </a:lnSpc>
              <a:spcBef>
                <a:spcPts val="0"/>
              </a:spcBef>
              <a:spcAft>
                <a:spcPts val="0"/>
              </a:spcAft>
              <a:defRPr sz="1800">
                <a:latin typeface="Arial"/>
              </a:defRPr>
            </a:pPr>
            <a:r>
              <a:rPr sz="1800" b="1">
                <a:solidFill>
                  <a:srgbClr val="17302B"/>
                </a:solidFill>
                <a:latin typeface="Arial"/>
              </a:rPr>
              <a:t>ordinary trades</a:t>
            </a:r>
          </a:p>
        </p:txBody>
      </p:sp>
      <p:cxnSp>
        <p:nvCxnSpPr>
          <p:cNvPr id="33" name="connector"/>
          <p:cNvCxnSpPr/>
          <p:nvPr/>
        </p:nvCxnSpPr>
        <p:spPr>
          <a:xfrm>
            <a:off x="768096" y="4489704"/>
            <a:ext cx="10707624" cy="0"/>
          </a:xfrm>
          <a:prstGeom prst="line">
            <a:avLst/>
          </a:prstGeom>
          <a:ln w="8255">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4" name="circle"/>
          <p:cNvSpPr/>
          <p:nvPr/>
        </p:nvSpPr>
        <p:spPr>
          <a:xfrm>
            <a:off x="768096" y="4736592"/>
            <a:ext cx="292608" cy="292608"/>
          </a:xfrm>
          <a:prstGeom prst="ellipse">
            <a:avLst/>
          </a:prstGeom>
          <a:noFill/>
          <a:ln w="12700">
            <a:solidFill>
              <a:srgbClr val="6D5A9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5" name="connector"/>
          <p:cNvCxnSpPr/>
          <p:nvPr/>
        </p:nvCxnSpPr>
        <p:spPr>
          <a:xfrm>
            <a:off x="1014983" y="4983480"/>
            <a:ext cx="173737" cy="182880"/>
          </a:xfrm>
          <a:prstGeom prst="line">
            <a:avLst/>
          </a:prstGeom>
          <a:ln w="22860">
            <a:solidFill>
              <a:srgbClr val="6D5A99"/>
            </a:solidFill>
          </a:ln>
          <a:effectLst/>
        </p:spPr>
        <p:style>
          <a:lnRef idx="2">
            <a:schemeClr val="accent1"/>
          </a:lnRef>
          <a:fillRef idx="0">
            <a:schemeClr val="accent1"/>
          </a:fillRef>
          <a:effectRef idx="0">
            <a:schemeClr val="accent1"/>
          </a:effectRef>
          <a:fontRef idx="minor">
            <a:schemeClr val="tx1"/>
          </a:fontRef>
        </p:style>
      </p:cxnSp>
      <p:sp>
        <p:nvSpPr>
          <p:cNvPr id="36" name="industry action"/>
          <p:cNvSpPr txBox="1"/>
          <p:nvPr/>
        </p:nvSpPr>
        <p:spPr>
          <a:xfrm>
            <a:off x="1481328" y="4626864"/>
            <a:ext cx="6035040" cy="365760"/>
          </a:xfrm>
          <a:prstGeom prst="rect">
            <a:avLst/>
          </a:prstGeom>
          <a:noFill/>
        </p:spPr>
        <p:txBody>
          <a:bodyPr wrap="square" lIns="0" rIns="0" tIns="17526" bIns="0" anchor="t">
            <a:noAutofit/>
          </a:bodyPr>
          <a:lstStyle/>
          <a:p>
            <a:pPr algn="l">
              <a:lnSpc>
                <a:spcPts val="2599"/>
              </a:lnSpc>
              <a:spcBef>
                <a:spcPts val="0"/>
              </a:spcBef>
              <a:spcAft>
                <a:spcPts val="0"/>
              </a:spcAft>
              <a:defRPr sz="2300">
                <a:latin typeface="Arial"/>
              </a:defRPr>
            </a:pPr>
            <a:r>
              <a:rPr sz="2300" b="1">
                <a:solidFill>
                  <a:srgbClr val="17302B"/>
                </a:solidFill>
                <a:latin typeface="Arial"/>
              </a:rPr>
              <a:t>Regulatory oversight</a:t>
            </a:r>
          </a:p>
        </p:txBody>
      </p:sp>
      <p:sp>
        <p:nvSpPr>
          <p:cNvPr id="37" name="industry action detail"/>
          <p:cNvSpPr txBox="1"/>
          <p:nvPr/>
        </p:nvSpPr>
        <p:spPr>
          <a:xfrm>
            <a:off x="1481328" y="5148072"/>
            <a:ext cx="5815584" cy="594360"/>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0">
                <a:solidFill>
                  <a:srgbClr val="5E6B65"/>
                </a:solidFill>
                <a:latin typeface="Arial"/>
              </a:rPr>
              <a:t>Investigate coordinated deception and suspicious</a:t>
            </a:r>
          </a:p>
          <a:p>
            <a:pPr algn="l">
              <a:lnSpc>
                <a:spcPts val="2033"/>
              </a:lnSpc>
              <a:spcBef>
                <a:spcPts val="0"/>
              </a:spcBef>
              <a:spcAft>
                <a:spcPts val="0"/>
              </a:spcAft>
              <a:defRPr sz="1800">
                <a:latin typeface="Arial"/>
              </a:defRPr>
            </a:pPr>
            <a:r>
              <a:rPr sz="1800" b="0">
                <a:solidFill>
                  <a:srgbClr val="5E6B65"/>
                </a:solidFill>
                <a:latin typeface="Arial"/>
              </a:rPr>
              <a:t>trading.</a:t>
            </a:r>
          </a:p>
        </p:txBody>
      </p:sp>
      <p:sp>
        <p:nvSpPr>
          <p:cNvPr id="38" name="eyebrow"/>
          <p:cNvSpPr txBox="1"/>
          <p:nvPr/>
        </p:nvSpPr>
        <p:spPr>
          <a:xfrm>
            <a:off x="8330183" y="4645152"/>
            <a:ext cx="29260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6D5A99"/>
                </a:solidFill>
                <a:latin typeface="Arial"/>
              </a:rPr>
              <a:t>MARKET CONDUCT</a:t>
            </a:r>
          </a:p>
        </p:txBody>
      </p:sp>
      <p:sp>
        <p:nvSpPr>
          <p:cNvPr id="39" name="action purpose"/>
          <p:cNvSpPr txBox="1"/>
          <p:nvPr/>
        </p:nvSpPr>
        <p:spPr>
          <a:xfrm>
            <a:off x="8330183" y="5029200"/>
            <a:ext cx="2889504" cy="658368"/>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1">
                <a:solidFill>
                  <a:srgbClr val="17302B"/>
                </a:solidFill>
                <a:latin typeface="Arial"/>
              </a:rPr>
              <a:t>Distinguish discussion</a:t>
            </a:r>
          </a:p>
          <a:p>
            <a:pPr algn="l">
              <a:lnSpc>
                <a:spcPts val="2033"/>
              </a:lnSpc>
              <a:spcBef>
                <a:spcPts val="0"/>
              </a:spcBef>
              <a:spcAft>
                <a:spcPts val="0"/>
              </a:spcAft>
              <a:defRPr sz="1800">
                <a:latin typeface="Arial"/>
              </a:defRPr>
            </a:pPr>
            <a:r>
              <a:rPr sz="1800" b="1">
                <a:solidFill>
                  <a:srgbClr val="17302B"/>
                </a:solidFill>
                <a:latin typeface="Arial"/>
              </a:rPr>
              <a:t>from manipulation</a:t>
            </a:r>
          </a:p>
        </p:txBody>
      </p:sp>
      <p:sp>
        <p:nvSpPr>
          <p:cNvPr id="40" name="conclusion mark"/>
          <p:cNvSpPr/>
          <p:nvPr/>
        </p:nvSpPr>
        <p:spPr>
          <a:xfrm>
            <a:off x="658368" y="5952744"/>
            <a:ext cx="50292" cy="365760"/>
          </a:xfrm>
          <a:prstGeom prst="rect">
            <a:avLst/>
          </a:prstGeom>
          <a:solidFill>
            <a:srgbClr val="6D5A9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akeaway"/>
          <p:cNvSpPr txBox="1"/>
          <p:nvPr/>
        </p:nvSpPr>
        <p:spPr>
          <a:xfrm>
            <a:off x="877824" y="5925312"/>
            <a:ext cx="10561320" cy="493776"/>
          </a:xfrm>
          <a:prstGeom prst="rect">
            <a:avLst/>
          </a:prstGeom>
          <a:noFill/>
        </p:spPr>
        <p:txBody>
          <a:bodyPr wrap="square" lIns="0" rIns="0" tIns="13716" bIns="0" anchor="t">
            <a:noAutofit/>
          </a:bodyPr>
          <a:lstStyle/>
          <a:p>
            <a:pPr algn="l">
              <a:lnSpc>
                <a:spcPts val="1980"/>
              </a:lnSpc>
              <a:spcBef>
                <a:spcPts val="0"/>
              </a:spcBef>
              <a:spcAft>
                <a:spcPts val="0"/>
              </a:spcAft>
              <a:defRPr sz="1800">
                <a:latin typeface="Arial"/>
              </a:defRPr>
            </a:pPr>
            <a:r>
              <a:rPr sz="1800" b="1">
                <a:solidFill>
                  <a:srgbClr val="17302B"/>
                </a:solidFill>
                <a:latin typeface="Arial"/>
              </a:rPr>
              <a:t>Design safer platforms and enforce fair rules—without silencing retail investors.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speaker footer"/>
          <p:cNvSpPr txBox="1"/>
          <p:nvPr/>
        </p:nvSpPr>
        <p:spPr>
          <a:xfrm>
            <a:off x="7223760" y="6473952"/>
            <a:ext cx="3474720" cy="182880"/>
          </a:xfrm>
          <a:prstGeom prst="rect">
            <a:avLst/>
          </a:prstGeom>
          <a:noFill/>
        </p:spPr>
        <p:txBody>
          <a:bodyPr wrap="square" lIns="0" rIns="0" tIns="7238" bIns="0" anchor="t">
            <a:noAutofit/>
          </a:bodyPr>
          <a:lstStyle/>
          <a:p>
            <a:pPr algn="r">
              <a:lnSpc>
                <a:spcPts val="1073"/>
              </a:lnSpc>
              <a:spcBef>
                <a:spcPts val="0"/>
              </a:spcBef>
              <a:spcAft>
                <a:spcPts val="0"/>
              </a:spcAft>
              <a:defRPr sz="950">
                <a:latin typeface="Arial"/>
              </a:defRPr>
            </a:pPr>
            <a:r>
              <a:rPr sz="950" b="0">
                <a:solidFill>
                  <a:srgbClr val="5E6B65"/>
                </a:solidFill>
                <a:latin typeface="Arial"/>
              </a:rPr>
              <a:t>Lu Junyu</a:t>
            </a:r>
          </a:p>
        </p:txBody>
      </p:sp>
      <p:sp>
        <p:nvSpPr>
          <p:cNvPr id="5"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17 / 18</a:t>
            </a:r>
          </a:p>
        </p:txBody>
      </p:sp>
      <p:sp>
        <p:nvSpPr>
          <p:cNvPr id="6" name="eyebrow"/>
          <p:cNvSpPr txBox="1"/>
          <p:nvPr/>
        </p:nvSpPr>
        <p:spPr>
          <a:xfrm>
            <a:off x="658368" y="39319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6D5A99"/>
                </a:solidFill>
                <a:latin typeface="Arial"/>
              </a:rPr>
              <a:t>Q4 / THE FINAL LESSON</a:t>
            </a:r>
          </a:p>
        </p:txBody>
      </p:sp>
      <p:sp>
        <p:nvSpPr>
          <p:cNvPr id="7" name="slide title"/>
          <p:cNvSpPr txBox="1"/>
          <p:nvPr/>
        </p:nvSpPr>
        <p:spPr>
          <a:xfrm>
            <a:off x="658368" y="859536"/>
            <a:ext cx="10835640" cy="676656"/>
          </a:xfrm>
          <a:prstGeom prst="rect">
            <a:avLst/>
          </a:prstGeom>
          <a:noFill/>
        </p:spPr>
        <p:txBody>
          <a:bodyPr wrap="square" lIns="0" rIns="0" tIns="25146" bIns="0" anchor="t">
            <a:noAutofit/>
          </a:bodyPr>
          <a:lstStyle/>
          <a:p>
            <a:pPr algn="l">
              <a:lnSpc>
                <a:spcPts val="3531"/>
              </a:lnSpc>
              <a:spcBef>
                <a:spcPts val="0"/>
              </a:spcBef>
              <a:spcAft>
                <a:spcPts val="0"/>
              </a:spcAft>
              <a:defRPr sz="3300">
                <a:latin typeface="Arial"/>
              </a:defRPr>
            </a:pPr>
            <a:r>
              <a:rPr sz="3300" b="1">
                <a:solidFill>
                  <a:srgbClr val="17302B"/>
                </a:solidFill>
                <a:latin typeface="Arial"/>
              </a:rPr>
              <a:t>GameStop exposed a market-wide trust problem</a:t>
            </a:r>
          </a:p>
        </p:txBody>
      </p:sp>
      <p:sp>
        <p:nvSpPr>
          <p:cNvPr id="8" name="slide subtitle"/>
          <p:cNvSpPr txBox="1"/>
          <p:nvPr/>
        </p:nvSpPr>
        <p:spPr>
          <a:xfrm>
            <a:off x="658368" y="1527048"/>
            <a:ext cx="10607040" cy="429768"/>
          </a:xfrm>
          <a:prstGeom prst="rect">
            <a:avLst/>
          </a:prstGeom>
          <a:noFill/>
        </p:spPr>
        <p:txBody>
          <a:bodyPr wrap="square" lIns="0" rIns="0" tIns="12954" bIns="0" anchor="t">
            <a:noAutofit/>
          </a:bodyPr>
          <a:lstStyle/>
          <a:p>
            <a:pPr algn="l">
              <a:lnSpc>
                <a:spcPts val="1938"/>
              </a:lnSpc>
              <a:spcBef>
                <a:spcPts val="0"/>
              </a:spcBef>
              <a:spcAft>
                <a:spcPts val="0"/>
              </a:spcAft>
              <a:defRPr sz="1700">
                <a:latin typeface="Arial"/>
              </a:defRPr>
            </a:pPr>
            <a:r>
              <a:rPr sz="1700" b="0">
                <a:solidFill>
                  <a:srgbClr val="5E6B65"/>
                </a:solidFill>
                <a:latin typeface="Arial"/>
              </a:rPr>
              <a:t>The hearing raised questions beyond any one trading app.</a:t>
            </a:r>
          </a:p>
        </p:txBody>
      </p:sp>
      <p:sp>
        <p:nvSpPr>
          <p:cNvPr id="9" name="eyebrow"/>
          <p:cNvSpPr txBox="1"/>
          <p:nvPr/>
        </p:nvSpPr>
        <p:spPr>
          <a:xfrm>
            <a:off x="713232" y="2258568"/>
            <a:ext cx="347472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U.S. HOUSE HEARING</a:t>
            </a:r>
          </a:p>
        </p:txBody>
      </p:sp>
      <p:sp>
        <p:nvSpPr>
          <p:cNvPr id="10" name="hearing date"/>
          <p:cNvSpPr txBox="1"/>
          <p:nvPr/>
        </p:nvSpPr>
        <p:spPr>
          <a:xfrm>
            <a:off x="713232" y="2642616"/>
            <a:ext cx="3090672" cy="932688"/>
          </a:xfrm>
          <a:prstGeom prst="rect">
            <a:avLst/>
          </a:prstGeom>
          <a:noFill/>
        </p:spPr>
        <p:txBody>
          <a:bodyPr wrap="square" lIns="0" rIns="0" tIns="24384" bIns="0" anchor="t">
            <a:noAutofit/>
          </a:bodyPr>
          <a:lstStyle/>
          <a:p>
            <a:pPr algn="l">
              <a:lnSpc>
                <a:spcPts val="3360"/>
              </a:lnSpc>
              <a:spcBef>
                <a:spcPts val="0"/>
              </a:spcBef>
              <a:spcAft>
                <a:spcPts val="0"/>
              </a:spcAft>
              <a:defRPr sz="3200">
                <a:latin typeface="Arial"/>
              </a:defRPr>
            </a:pPr>
            <a:r>
              <a:rPr sz="3200" b="1">
                <a:solidFill>
                  <a:srgbClr val="855E26"/>
                </a:solidFill>
                <a:latin typeface="Arial"/>
              </a:rPr>
              <a:t>18 FEB</a:t>
            </a:r>
          </a:p>
          <a:p>
            <a:pPr algn="l">
              <a:lnSpc>
                <a:spcPts val="3360"/>
              </a:lnSpc>
              <a:spcBef>
                <a:spcPts val="0"/>
              </a:spcBef>
              <a:spcAft>
                <a:spcPts val="0"/>
              </a:spcAft>
              <a:defRPr sz="3200">
                <a:latin typeface="Arial"/>
              </a:defRPr>
            </a:pPr>
            <a:r>
              <a:rPr sz="3200" b="1">
                <a:solidFill>
                  <a:srgbClr val="855E26"/>
                </a:solidFill>
                <a:latin typeface="Arial"/>
              </a:rPr>
              <a:t>2021</a:t>
            </a:r>
          </a:p>
        </p:txBody>
      </p:sp>
      <p:sp>
        <p:nvSpPr>
          <p:cNvPr id="11" name="hearing committee"/>
          <p:cNvSpPr txBox="1"/>
          <p:nvPr/>
        </p:nvSpPr>
        <p:spPr>
          <a:xfrm>
            <a:off x="713232" y="3739896"/>
            <a:ext cx="3044952" cy="685800"/>
          </a:xfrm>
          <a:prstGeom prst="rect">
            <a:avLst/>
          </a:prstGeom>
          <a:noFill/>
        </p:spPr>
        <p:txBody>
          <a:bodyPr wrap="square" lIns="0" rIns="0" tIns="15240" bIns="0" anchor="t">
            <a:noAutofit/>
          </a:bodyPr>
          <a:lstStyle/>
          <a:p>
            <a:pPr algn="l">
              <a:lnSpc>
                <a:spcPts val="2260"/>
              </a:lnSpc>
              <a:spcBef>
                <a:spcPts val="0"/>
              </a:spcBef>
              <a:spcAft>
                <a:spcPts val="0"/>
              </a:spcAft>
              <a:defRPr sz="2000">
                <a:latin typeface="Arial"/>
              </a:defRPr>
            </a:pPr>
            <a:r>
              <a:rPr sz="2000" b="1">
                <a:solidFill>
                  <a:srgbClr val="17302B"/>
                </a:solidFill>
                <a:latin typeface="Arial"/>
              </a:rPr>
              <a:t>Financial Services</a:t>
            </a:r>
          </a:p>
          <a:p>
            <a:pPr algn="l">
              <a:lnSpc>
                <a:spcPts val="2260"/>
              </a:lnSpc>
              <a:spcBef>
                <a:spcPts val="0"/>
              </a:spcBef>
              <a:spcAft>
                <a:spcPts val="0"/>
              </a:spcAft>
              <a:defRPr sz="2000">
                <a:latin typeface="Arial"/>
              </a:defRPr>
            </a:pPr>
            <a:r>
              <a:rPr sz="2000" b="1">
                <a:solidFill>
                  <a:srgbClr val="17302B"/>
                </a:solidFill>
                <a:latin typeface="Arial"/>
              </a:rPr>
              <a:t>Committee</a:t>
            </a:r>
          </a:p>
        </p:txBody>
      </p:sp>
      <p:sp>
        <p:nvSpPr>
          <p:cNvPr id="12" name="eyebrow"/>
          <p:cNvSpPr txBox="1"/>
          <p:nvPr/>
        </p:nvSpPr>
        <p:spPr>
          <a:xfrm>
            <a:off x="713232" y="4654296"/>
            <a:ext cx="310896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5E6B65"/>
                </a:solidFill>
                <a:latin typeface="Arial"/>
              </a:rPr>
              <a:t>KEY VOICES</a:t>
            </a:r>
          </a:p>
        </p:txBody>
      </p:sp>
      <p:sp>
        <p:nvSpPr>
          <p:cNvPr id="13" name="hearing speakers"/>
          <p:cNvSpPr txBox="1"/>
          <p:nvPr/>
        </p:nvSpPr>
        <p:spPr>
          <a:xfrm>
            <a:off x="713232" y="5001768"/>
            <a:ext cx="3163824" cy="905256"/>
          </a:xfrm>
          <a:prstGeom prst="rect">
            <a:avLst/>
          </a:prstGeom>
          <a:noFill/>
        </p:spPr>
        <p:txBody>
          <a:bodyPr wrap="square" lIns="0" rIns="0" tIns="12954" bIns="0" anchor="t">
            <a:noAutofit/>
          </a:bodyPr>
          <a:lstStyle/>
          <a:p>
            <a:pPr algn="l">
              <a:lnSpc>
                <a:spcPts val="2039"/>
              </a:lnSpc>
              <a:spcBef>
                <a:spcPts val="0"/>
              </a:spcBef>
              <a:spcAft>
                <a:spcPts val="0"/>
              </a:spcAft>
              <a:defRPr sz="1700">
                <a:latin typeface="Arial"/>
              </a:defRPr>
            </a:pPr>
            <a:r>
              <a:rPr sz="1700" b="0">
                <a:solidFill>
                  <a:srgbClr val="5E6B65"/>
                </a:solidFill>
                <a:latin typeface="Arial"/>
              </a:rPr>
              <a:t>Vlad Tenev · Keith Gill</a:t>
            </a:r>
          </a:p>
          <a:p>
            <a:pPr algn="l">
              <a:lnSpc>
                <a:spcPts val="2039"/>
              </a:lnSpc>
              <a:spcBef>
                <a:spcPts val="0"/>
              </a:spcBef>
              <a:spcAft>
                <a:spcPts val="0"/>
              </a:spcAft>
              <a:defRPr sz="1700">
                <a:latin typeface="Arial"/>
              </a:defRPr>
            </a:pPr>
            <a:r>
              <a:rPr sz="1700" b="0">
                <a:solidFill>
                  <a:srgbClr val="5E6B65"/>
                </a:solidFill>
                <a:latin typeface="Arial"/>
              </a:rPr>
              <a:t>Melvin’s Gabe Plotkin</a:t>
            </a:r>
          </a:p>
        </p:txBody>
      </p:sp>
      <p:cxnSp>
        <p:nvCxnSpPr>
          <p:cNvPr id="14" name="connector"/>
          <p:cNvCxnSpPr/>
          <p:nvPr/>
        </p:nvCxnSpPr>
        <p:spPr>
          <a:xfrm>
            <a:off x="4215384" y="2258568"/>
            <a:ext cx="0" cy="3621024"/>
          </a:xfrm>
          <a:prstGeom prst="line">
            <a:avLst/>
          </a:prstGeom>
          <a:ln w="889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15" name="answer question"/>
          <p:cNvSpPr txBox="1"/>
          <p:nvPr/>
        </p:nvSpPr>
        <p:spPr>
          <a:xfrm>
            <a:off x="4700016" y="2267712"/>
            <a:ext cx="585216" cy="36576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1">
                <a:solidFill>
                  <a:srgbClr val="855E26"/>
                </a:solidFill>
                <a:latin typeface="Arial"/>
              </a:rPr>
              <a:t>Q2</a:t>
            </a:r>
          </a:p>
        </p:txBody>
      </p:sp>
      <p:sp>
        <p:nvSpPr>
          <p:cNvPr id="16" name="final answer"/>
          <p:cNvSpPr txBox="1"/>
          <p:nvPr/>
        </p:nvSpPr>
        <p:spPr>
          <a:xfrm>
            <a:off x="5486400" y="2240280"/>
            <a:ext cx="5815584" cy="420624"/>
          </a:xfrm>
          <a:prstGeom prst="rect">
            <a:avLst/>
          </a:prstGeom>
          <a:noFill/>
        </p:spPr>
        <p:txBody>
          <a:bodyPr wrap="square" lIns="0" rIns="0" tIns="19050" bIns="0" anchor="t">
            <a:noAutofit/>
          </a:bodyPr>
          <a:lstStyle/>
          <a:p>
            <a:pPr algn="l">
              <a:lnSpc>
                <a:spcPts val="2824"/>
              </a:lnSpc>
              <a:spcBef>
                <a:spcPts val="0"/>
              </a:spcBef>
              <a:spcAft>
                <a:spcPts val="0"/>
              </a:spcAft>
              <a:defRPr sz="2500">
                <a:latin typeface="Arial"/>
              </a:defRPr>
            </a:pPr>
            <a:r>
              <a:rPr sz="2500" b="1">
                <a:solidFill>
                  <a:srgbClr val="17302B"/>
                </a:solidFill>
                <a:latin typeface="Arial"/>
              </a:rPr>
              <a:t>Keep short selling</a:t>
            </a:r>
          </a:p>
        </p:txBody>
      </p:sp>
      <p:sp>
        <p:nvSpPr>
          <p:cNvPr id="17" name="answer explanation"/>
          <p:cNvSpPr txBox="1"/>
          <p:nvPr/>
        </p:nvSpPr>
        <p:spPr>
          <a:xfrm>
            <a:off x="5486400" y="2788920"/>
            <a:ext cx="5751576" cy="603504"/>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Preserve information and liquidity; control excessive risk.</a:t>
            </a:r>
          </a:p>
        </p:txBody>
      </p:sp>
      <p:sp>
        <p:nvSpPr>
          <p:cNvPr id="18" name="answer question"/>
          <p:cNvSpPr txBox="1"/>
          <p:nvPr/>
        </p:nvSpPr>
        <p:spPr>
          <a:xfrm>
            <a:off x="4700016" y="3456432"/>
            <a:ext cx="585216" cy="36576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1">
                <a:solidFill>
                  <a:srgbClr val="B13F36"/>
                </a:solidFill>
                <a:latin typeface="Arial"/>
              </a:rPr>
              <a:t>Q3</a:t>
            </a:r>
          </a:p>
        </p:txBody>
      </p:sp>
      <p:sp>
        <p:nvSpPr>
          <p:cNvPr id="19" name="final answer"/>
          <p:cNvSpPr txBox="1"/>
          <p:nvPr/>
        </p:nvSpPr>
        <p:spPr>
          <a:xfrm>
            <a:off x="5486400" y="3429000"/>
            <a:ext cx="5815584" cy="420624"/>
          </a:xfrm>
          <a:prstGeom prst="rect">
            <a:avLst/>
          </a:prstGeom>
          <a:noFill/>
        </p:spPr>
        <p:txBody>
          <a:bodyPr wrap="square" lIns="0" rIns="0" tIns="19050" bIns="0" anchor="t">
            <a:noAutofit/>
          </a:bodyPr>
          <a:lstStyle/>
          <a:p>
            <a:pPr algn="l">
              <a:lnSpc>
                <a:spcPts val="2824"/>
              </a:lnSpc>
              <a:spcBef>
                <a:spcPts val="0"/>
              </a:spcBef>
              <a:spcAft>
                <a:spcPts val="0"/>
              </a:spcAft>
              <a:defRPr sz="2500">
                <a:latin typeface="Arial"/>
              </a:defRPr>
            </a:pPr>
            <a:r>
              <a:rPr sz="2500" b="1">
                <a:solidFill>
                  <a:srgbClr val="17302B"/>
                </a:solidFill>
                <a:latin typeface="Arial"/>
              </a:rPr>
              <a:t>Reject unfair buy limits</a:t>
            </a:r>
          </a:p>
        </p:txBody>
      </p:sp>
      <p:sp>
        <p:nvSpPr>
          <p:cNvPr id="20" name="answer explanation"/>
          <p:cNvSpPr txBox="1"/>
          <p:nvPr/>
        </p:nvSpPr>
        <p:spPr>
          <a:xfrm>
            <a:off x="5486400" y="3977639"/>
            <a:ext cx="5751576" cy="603504"/>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Brokers need transparent funding plans and fair access.</a:t>
            </a:r>
          </a:p>
        </p:txBody>
      </p:sp>
      <p:sp>
        <p:nvSpPr>
          <p:cNvPr id="21" name="answer question"/>
          <p:cNvSpPr txBox="1"/>
          <p:nvPr/>
        </p:nvSpPr>
        <p:spPr>
          <a:xfrm>
            <a:off x="4700016" y="4645152"/>
            <a:ext cx="585216" cy="365760"/>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1">
                <a:solidFill>
                  <a:srgbClr val="6D5A99"/>
                </a:solidFill>
                <a:latin typeface="Arial"/>
              </a:rPr>
              <a:t>Q4</a:t>
            </a:r>
          </a:p>
        </p:txBody>
      </p:sp>
      <p:sp>
        <p:nvSpPr>
          <p:cNvPr id="22" name="final answer"/>
          <p:cNvSpPr txBox="1"/>
          <p:nvPr/>
        </p:nvSpPr>
        <p:spPr>
          <a:xfrm>
            <a:off x="5486400" y="4617720"/>
            <a:ext cx="5815584" cy="420624"/>
          </a:xfrm>
          <a:prstGeom prst="rect">
            <a:avLst/>
          </a:prstGeom>
          <a:noFill/>
        </p:spPr>
        <p:txBody>
          <a:bodyPr wrap="square" lIns="0" rIns="0" tIns="19050" bIns="0" anchor="t">
            <a:noAutofit/>
          </a:bodyPr>
          <a:lstStyle/>
          <a:p>
            <a:pPr algn="l">
              <a:lnSpc>
                <a:spcPts val="2824"/>
              </a:lnSpc>
              <a:spcBef>
                <a:spcPts val="0"/>
              </a:spcBef>
              <a:spcAft>
                <a:spcPts val="0"/>
              </a:spcAft>
              <a:defRPr sz="2500">
                <a:latin typeface="Arial"/>
              </a:defRPr>
            </a:pPr>
            <a:r>
              <a:rPr sz="2500" b="1">
                <a:solidFill>
                  <a:srgbClr val="17302B"/>
                </a:solidFill>
                <a:latin typeface="Arial"/>
              </a:rPr>
              <a:t>Manage herd risk fairly</a:t>
            </a:r>
          </a:p>
        </p:txBody>
      </p:sp>
      <p:sp>
        <p:nvSpPr>
          <p:cNvPr id="23" name="answer explanation"/>
          <p:cNvSpPr txBox="1"/>
          <p:nvPr/>
        </p:nvSpPr>
        <p:spPr>
          <a:xfrm>
            <a:off x="5486400" y="5166360"/>
            <a:ext cx="5751576" cy="603504"/>
          </a:xfrm>
          <a:prstGeom prst="rect">
            <a:avLst/>
          </a:prstGeom>
          <a:noFill/>
        </p:spPr>
        <p:txBody>
          <a:bodyPr wrap="square" lIns="0" rIns="0" tIns="12954" bIns="0" anchor="t">
            <a:noAutofit/>
          </a:bodyPr>
          <a:lstStyle/>
          <a:p>
            <a:pPr algn="l">
              <a:lnSpc>
                <a:spcPts val="1920"/>
              </a:lnSpc>
              <a:spcBef>
                <a:spcPts val="0"/>
              </a:spcBef>
              <a:spcAft>
                <a:spcPts val="0"/>
              </a:spcAft>
              <a:defRPr sz="1700">
                <a:latin typeface="Arial"/>
              </a:defRPr>
            </a:pPr>
            <a:r>
              <a:rPr sz="1700" b="0">
                <a:solidFill>
                  <a:srgbClr val="5E6B65"/>
                </a:solidFill>
                <a:latin typeface="Arial"/>
              </a:rPr>
              <a:t>Education, responsible platform design and targeted</a:t>
            </a:r>
          </a:p>
          <a:p>
            <a:pPr algn="l">
              <a:lnSpc>
                <a:spcPts val="1920"/>
              </a:lnSpc>
              <a:spcBef>
                <a:spcPts val="0"/>
              </a:spcBef>
              <a:spcAft>
                <a:spcPts val="0"/>
              </a:spcAft>
              <a:defRPr sz="1700">
                <a:latin typeface="Arial"/>
              </a:defRPr>
            </a:pPr>
            <a:r>
              <a:rPr sz="1700" b="0">
                <a:solidFill>
                  <a:srgbClr val="5E6B65"/>
                </a:solidFill>
                <a:latin typeface="Arial"/>
              </a:rPr>
              <a:t>oversight.</a:t>
            </a:r>
          </a:p>
        </p:txBody>
      </p:sp>
      <p:sp>
        <p:nvSpPr>
          <p:cNvPr id="24" name="trust lesson"/>
          <p:cNvSpPr txBox="1"/>
          <p:nvPr/>
        </p:nvSpPr>
        <p:spPr>
          <a:xfrm>
            <a:off x="4700016" y="5888736"/>
            <a:ext cx="6720840" cy="329184"/>
          </a:xfrm>
          <a:prstGeom prst="rect">
            <a:avLst/>
          </a:prstGeom>
          <a:noFill/>
        </p:spPr>
        <p:txBody>
          <a:bodyPr wrap="square" lIns="0" rIns="0" tIns="13716" bIns="0" anchor="t">
            <a:noAutofit/>
          </a:bodyPr>
          <a:lstStyle/>
          <a:p>
            <a:pPr algn="l">
              <a:lnSpc>
                <a:spcPts val="2033"/>
              </a:lnSpc>
              <a:spcBef>
                <a:spcPts val="0"/>
              </a:spcBef>
              <a:spcAft>
                <a:spcPts val="0"/>
              </a:spcAft>
              <a:defRPr sz="1800">
                <a:latin typeface="Arial"/>
              </a:defRPr>
            </a:pPr>
            <a:r>
              <a:rPr sz="1800" b="1">
                <a:solidFill>
                  <a:srgbClr val="17302B"/>
                </a:solidFill>
                <a:latin typeface="Arial"/>
              </a:rPr>
              <a:t>Open access requires transparent, accountable markets.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A"/>
        </a:solidFill>
        <a:effectLst/>
      </p:bgPr>
    </p:bg>
    <p:spTree>
      <p:nvGrpSpPr>
        <p:cNvPr id="1" name=""/>
        <p:cNvGrpSpPr/>
        <p:nvPr/>
      </p:nvGrpSpPr>
      <p:grpSpPr/>
      <p:cxnSp>
        <p:nvCxnSpPr>
          <p:cNvPr id="2" name="footer rule"/>
          <p:cNvCxnSpPr/>
          <p:nvPr/>
        </p:nvCxnSpPr>
        <p:spPr>
          <a:xfrm>
            <a:off x="658368" y="6373368"/>
            <a:ext cx="10872216" cy="0"/>
          </a:xfrm>
          <a:prstGeom prst="line">
            <a:avLst/>
          </a:prstGeom>
          <a:ln w="762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3" name="footer"/>
          <p:cNvSpPr txBox="1"/>
          <p:nvPr/>
        </p:nvSpPr>
        <p:spPr>
          <a:xfrm>
            <a:off x="658368" y="6473952"/>
            <a:ext cx="5943600" cy="182880"/>
          </a:xfrm>
          <a:prstGeom prst="rect">
            <a:avLst/>
          </a:prstGeom>
          <a:noFill/>
        </p:spPr>
        <p:txBody>
          <a:bodyPr wrap="square" lIns="0" rIns="0" tIns="7238" bIns="0" anchor="t">
            <a:noAutofit/>
          </a:bodyPr>
          <a:lstStyle/>
          <a:p>
            <a:pPr algn="l">
              <a:lnSpc>
                <a:spcPts val="1073"/>
              </a:lnSpc>
              <a:spcBef>
                <a:spcPts val="0"/>
              </a:spcBef>
              <a:spcAft>
                <a:spcPts val="0"/>
              </a:spcAft>
              <a:defRPr sz="950">
                <a:latin typeface="Arial"/>
              </a:defRPr>
            </a:pPr>
            <a:r>
              <a:rPr sz="950" b="0">
                <a:solidFill>
                  <a:srgbClr val="5E6B65"/>
                </a:solidFill>
                <a:latin typeface="Arial"/>
              </a:rPr>
              <a:t>BMF5355 · GameStop case  /  Yeo, Yue &amp; Lee (2023)</a:t>
            </a:r>
          </a:p>
        </p:txBody>
      </p:sp>
      <p:sp>
        <p:nvSpPr>
          <p:cNvPr id="4" name="page number"/>
          <p:cNvSpPr txBox="1"/>
          <p:nvPr/>
        </p:nvSpPr>
        <p:spPr>
          <a:xfrm>
            <a:off x="10844784" y="6455664"/>
            <a:ext cx="676656" cy="210312"/>
          </a:xfrm>
          <a:prstGeom prst="rect">
            <a:avLst/>
          </a:prstGeom>
          <a:noFill/>
        </p:spPr>
        <p:txBody>
          <a:bodyPr wrap="square" lIns="0" rIns="0" tIns="7620" bIns="0" anchor="t">
            <a:noAutofit/>
          </a:bodyPr>
          <a:lstStyle/>
          <a:p>
            <a:pPr algn="r">
              <a:lnSpc>
                <a:spcPts val="1130"/>
              </a:lnSpc>
              <a:spcBef>
                <a:spcPts val="0"/>
              </a:spcBef>
              <a:spcAft>
                <a:spcPts val="0"/>
              </a:spcAft>
              <a:defRPr sz="1000">
                <a:latin typeface="Arial"/>
              </a:defRPr>
            </a:pPr>
            <a:r>
              <a:rPr sz="1000" b="0">
                <a:solidFill>
                  <a:srgbClr val="5E6B65"/>
                </a:solidFill>
                <a:latin typeface="Arial"/>
              </a:rPr>
              <a:t>18 / 18</a:t>
            </a:r>
          </a:p>
        </p:txBody>
      </p:sp>
      <p:sp>
        <p:nvSpPr>
          <p:cNvPr id="5" name="eyebrow"/>
          <p:cNvSpPr txBox="1"/>
          <p:nvPr/>
        </p:nvSpPr>
        <p:spPr>
          <a:xfrm>
            <a:off x="713232" y="530352"/>
            <a:ext cx="10698480" cy="246888"/>
          </a:xfrm>
          <a:prstGeom prst="rect">
            <a:avLst/>
          </a:prstGeom>
          <a:noFill/>
        </p:spPr>
        <p:txBody>
          <a:bodyPr wrap="square" lIns="0" rIns="0" tIns="8763" bIns="0" anchor="t">
            <a:noAutofit/>
          </a:bodyPr>
          <a:lstStyle/>
          <a:p>
            <a:pPr algn="l">
              <a:lnSpc>
                <a:spcPts val="1299"/>
              </a:lnSpc>
              <a:spcBef>
                <a:spcPts val="0"/>
              </a:spcBef>
              <a:spcAft>
                <a:spcPts val="0"/>
              </a:spcAft>
              <a:defRPr sz="1150">
                <a:latin typeface="Arial"/>
              </a:defRPr>
            </a:pPr>
            <a:r>
              <a:rPr sz="1150" b="1">
                <a:solidFill>
                  <a:srgbClr val="2F7358"/>
                </a:solidFill>
                <a:latin typeface="Arial"/>
              </a:rPr>
              <a:t>BMF5355 / ROBINHOOD AND HIS MERRIE MEN</a:t>
            </a:r>
          </a:p>
        </p:txBody>
      </p:sp>
      <p:sp>
        <p:nvSpPr>
          <p:cNvPr id="6" name="closing title"/>
          <p:cNvSpPr txBox="1"/>
          <p:nvPr/>
        </p:nvSpPr>
        <p:spPr>
          <a:xfrm>
            <a:off x="713232" y="1920240"/>
            <a:ext cx="10607040" cy="1005840"/>
          </a:xfrm>
          <a:prstGeom prst="rect">
            <a:avLst/>
          </a:prstGeom>
          <a:noFill/>
        </p:spPr>
        <p:txBody>
          <a:bodyPr wrap="square" lIns="0" rIns="0" tIns="46481" bIns="0" anchor="t">
            <a:noAutofit/>
          </a:bodyPr>
          <a:lstStyle/>
          <a:p>
            <a:pPr algn="l">
              <a:lnSpc>
                <a:spcPts val="6892"/>
              </a:lnSpc>
              <a:spcBef>
                <a:spcPts val="0"/>
              </a:spcBef>
              <a:spcAft>
                <a:spcPts val="0"/>
              </a:spcAft>
              <a:defRPr sz="6100">
                <a:latin typeface="Arial"/>
              </a:defRPr>
            </a:pPr>
            <a:r>
              <a:rPr sz="6100" b="1">
                <a:solidFill>
                  <a:srgbClr val="17302B"/>
                </a:solidFill>
                <a:latin typeface="Arial"/>
              </a:rPr>
              <a:t>Thank you.</a:t>
            </a:r>
          </a:p>
        </p:txBody>
      </p:sp>
      <p:sp>
        <p:nvSpPr>
          <p:cNvPr id="7" name="closing case name"/>
          <p:cNvSpPr txBox="1"/>
          <p:nvPr/>
        </p:nvSpPr>
        <p:spPr>
          <a:xfrm>
            <a:off x="749808" y="3218688"/>
            <a:ext cx="10424160" cy="539496"/>
          </a:xfrm>
          <a:prstGeom prst="rect">
            <a:avLst/>
          </a:prstGeom>
          <a:noFill/>
        </p:spPr>
        <p:txBody>
          <a:bodyPr wrap="square" lIns="0" rIns="0" tIns="20574" bIns="0" anchor="t">
            <a:noAutofit/>
          </a:bodyPr>
          <a:lstStyle/>
          <a:p>
            <a:pPr algn="l">
              <a:lnSpc>
                <a:spcPts val="3051"/>
              </a:lnSpc>
              <a:spcBef>
                <a:spcPts val="0"/>
              </a:spcBef>
              <a:spcAft>
                <a:spcPts val="0"/>
              </a:spcAft>
              <a:defRPr sz="2700">
                <a:latin typeface="Arial"/>
              </a:defRPr>
            </a:pPr>
            <a:r>
              <a:rPr sz="2700" b="0">
                <a:solidFill>
                  <a:srgbClr val="5E6B65"/>
                </a:solidFill>
                <a:latin typeface="Arial"/>
              </a:rPr>
              <a:t>The GameStop Saga</a:t>
            </a:r>
          </a:p>
        </p:txBody>
      </p:sp>
      <p:cxnSp>
        <p:nvCxnSpPr>
          <p:cNvPr id="8" name="connector"/>
          <p:cNvCxnSpPr/>
          <p:nvPr/>
        </p:nvCxnSpPr>
        <p:spPr>
          <a:xfrm>
            <a:off x="749808" y="4325112"/>
            <a:ext cx="10707624" cy="0"/>
          </a:xfrm>
          <a:prstGeom prst="line">
            <a:avLst/>
          </a:prstGeom>
          <a:ln w="10160">
            <a:solidFill>
              <a:srgbClr val="D4DDD6"/>
            </a:solidFill>
          </a:ln>
          <a:effectLst/>
        </p:spPr>
        <p:style>
          <a:lnRef idx="2">
            <a:schemeClr val="accent1"/>
          </a:lnRef>
          <a:fillRef idx="0">
            <a:schemeClr val="accent1"/>
          </a:fillRef>
          <a:effectRef idx="0">
            <a:schemeClr val="accent1"/>
          </a:effectRef>
          <a:fontRef idx="minor">
            <a:schemeClr val="tx1"/>
          </a:fontRef>
        </p:style>
      </p:cxnSp>
      <p:sp>
        <p:nvSpPr>
          <p:cNvPr id="9" name="Q&amp;A invitation"/>
          <p:cNvSpPr txBox="1"/>
          <p:nvPr/>
        </p:nvSpPr>
        <p:spPr>
          <a:xfrm>
            <a:off x="749808" y="4663440"/>
            <a:ext cx="6400800" cy="420624"/>
          </a:xfrm>
          <a:prstGeom prst="rect">
            <a:avLst/>
          </a:prstGeom>
          <a:noFill/>
        </p:spPr>
        <p:txBody>
          <a:bodyPr wrap="square" lIns="0" rIns="0" tIns="17526" bIns="0" anchor="t">
            <a:noAutofit/>
          </a:bodyPr>
          <a:lstStyle/>
          <a:p>
            <a:pPr algn="l">
              <a:lnSpc>
                <a:spcPts val="2599"/>
              </a:lnSpc>
              <a:spcBef>
                <a:spcPts val="0"/>
              </a:spcBef>
              <a:spcAft>
                <a:spcPts val="0"/>
              </a:spcAft>
              <a:defRPr sz="2300">
                <a:latin typeface="Arial"/>
              </a:defRPr>
            </a:pPr>
            <a:r>
              <a:rPr sz="2300" b="1">
                <a:solidFill>
                  <a:srgbClr val="2F7358"/>
                </a:solidFill>
                <a:latin typeface="Arial"/>
              </a:rPr>
              <a:t>Questions &amp; discussion</a:t>
            </a:r>
          </a:p>
        </p:txBody>
      </p:sp>
      <p:sp>
        <p:nvSpPr>
          <p:cNvPr id="10" name="eyebrow"/>
          <p:cNvSpPr txBox="1"/>
          <p:nvPr/>
        </p:nvSpPr>
        <p:spPr>
          <a:xfrm>
            <a:off x="749808" y="5760720"/>
            <a:ext cx="9601200" cy="246888"/>
          </a:xfrm>
          <a:prstGeom prst="rect">
            <a:avLst/>
          </a:prstGeom>
          <a:noFill/>
        </p:spPr>
        <p:txBody>
          <a:bodyPr wrap="square" lIns="0" rIns="0" tIns="9144" bIns="0" anchor="t">
            <a:noAutofit/>
          </a:bodyPr>
          <a:lstStyle/>
          <a:p>
            <a:pPr algn="l">
              <a:lnSpc>
                <a:spcPts val="1355"/>
              </a:lnSpc>
              <a:spcBef>
                <a:spcPts val="0"/>
              </a:spcBef>
              <a:spcAft>
                <a:spcPts val="0"/>
              </a:spcAft>
              <a:defRPr sz="1200">
                <a:latin typeface="Arial"/>
              </a:defRPr>
            </a:pPr>
            <a:r>
              <a:rPr sz="1200" b="1">
                <a:solidFill>
                  <a:srgbClr val="5E6B65"/>
                </a:solidFill>
                <a:latin typeface="Arial"/>
              </a:rPr>
              <a:t>ACCESS / RISK / TRUST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Robinhood and His Merrie Men: The GameStop Saga</dc:title>
  <dc:subject>BMF5355 group case presentation — full design revision V2</dc:subject>
  <dc:creator>GameStop presentation group</dc:creator>
  <cp:keywords>GameStop, Robinhood, short squeeze, BMF5355, V2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