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slides/slide12.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318E6495-1DBE-49C5-BF35-986C2E04E28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sldImg"/>
          </p:nvPr>
        </p:nvSpPr>
        <p:spPr>
          <a:xfrm>
            <a:off x="1143000" y="685800"/>
            <a:ext cx="4571640" cy="3428640"/>
          </a:xfrm>
          <a:prstGeom prst="rect">
            <a:avLst/>
          </a:prstGeom>
          <a:ln w="0">
            <a:noFill/>
          </a:ln>
        </p:spPr>
      </p:sp>
      <p:sp>
        <p:nvSpPr>
          <p:cNvPr id="62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Opening: introduce the team and the GameStop case. This presentation follows four questions: the causes of the squeeze, the role of short selling, Robinhood’s restriction, and the industry response.</a:t>
            </a:r>
            <a:endParaRPr lang="en-US" sz="2000" b="0" u="none" strike="noStrike">
              <a:solidFill>
                <a:srgbClr val="000000"/>
              </a:solidFill>
              <a:effectLst/>
              <a:uFillTx/>
              <a:latin typeface="Arial"/>
            </a:endParaRPr>
          </a:p>
        </p:txBody>
      </p:sp>
      <p:sp>
        <p:nvSpPr>
          <p:cNvPr id="624"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3A5F8BE-68A3-4DF5-838C-8657C2D1223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sldImg"/>
          </p:nvPr>
        </p:nvSpPr>
        <p:spPr>
          <a:xfrm>
            <a:off x="1143000" y="685800"/>
            <a:ext cx="4571640" cy="3428640"/>
          </a:xfrm>
          <a:prstGeom prst="rect">
            <a:avLst/>
          </a:prstGeom>
          <a:ln w="0">
            <a:noFill/>
          </a:ln>
        </p:spPr>
      </p:sp>
      <p:sp>
        <p:nvSpPr>
          <p:cNvPr id="62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Introduce the four questions and the division of speakers. Move from causes, to market rules, to platform responsibility, then industry response.</a:t>
            </a:r>
            <a:endParaRPr lang="en-US" sz="2000" b="0" u="none" strike="noStrike">
              <a:solidFill>
                <a:srgbClr val="000000"/>
              </a:solidFill>
              <a:effectLst/>
              <a:uFillTx/>
              <a:latin typeface="Arial"/>
            </a:endParaRPr>
          </a:p>
        </p:txBody>
      </p:sp>
      <p:sp>
        <p:nvSpPr>
          <p:cNvPr id="627"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F079BAB-7AAE-40CC-A695-4261D34C40D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PlaceHolder 1"/>
          <p:cNvSpPr>
            <a:spLocks noGrp="1"/>
          </p:cNvSpPr>
          <p:nvPr>
            <p:ph type="sldImg"/>
          </p:nvPr>
        </p:nvSpPr>
        <p:spPr>
          <a:xfrm>
            <a:off x="1143000" y="685800"/>
            <a:ext cx="4571640" cy="3428640"/>
          </a:xfrm>
          <a:prstGeom prst="rect">
            <a:avLst/>
          </a:prstGeom>
          <a:ln w="0">
            <a:noFill/>
          </a:ln>
        </p:spPr>
      </p:sp>
      <p:sp>
        <p:nvSpPr>
          <p:cNvPr id="62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[OPENING, ~25s]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Hi everyone. Has anyone here ever walked into a GameStop? If not, here's the one-line version: GameStop is America's video-game store, a retail chain where you buy games on discs, trade in the old ones, and they resell them. In January 2021, this pretty boring mall retailer became the most talked-about stock on the planet.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 our first question: what led to the short squeeze? It took two ingredients: a company everyone had given up on, and a bet against it that got way too crowded. I'll cover both; Yinghan will then light the match.</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[PAGE 1, ~50s]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Ingredient one: a business on its way out. GameStop's whole model was the disc. Then, from around 2013, Xbox and PlayStation started selling games as downloads, straight to your console. No disc, no trade-in, so no reason to visit the store.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And GameStop was slow. It kept buying other companies, debt went from zero to 800 million dollars, and store closures came too late. You can see it on the chart: from over 60 dollars in 2007 to 2.57 in April 2020. That's minus 96%. The market was basically pricing a funeral.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Then, plot twist. In August 2020, Ryan Cohen, the guy who built Chewy into an online pet-food giant, starts buying GameStop. By January he owns about 13% and sits on the board, and the stock climbs back toward 20 dollars. Suddenly there's a turnaround story. But not everyone was buying it.</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[V2 accuracy note] The 4,816-store figure is retained without the unsupported U.S.-only qualifier. The chart shows selected case milestones and is explicitly schematic; it must not be read as a measured daily time series.</a:t>
            </a:r>
            <a:endParaRPr lang="en-US" sz="2000" b="0" u="none" strike="noStrike">
              <a:solidFill>
                <a:srgbClr val="000000"/>
              </a:solidFill>
              <a:effectLst/>
              <a:uFillTx/>
              <a:latin typeface="Arial"/>
            </a:endParaRPr>
          </a:p>
        </p:txBody>
      </p:sp>
      <p:sp>
        <p:nvSpPr>
          <p:cNvPr id="630"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764A49E-A52A-43C3-88F0-678CBBA8303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PlaceHolder 1"/>
          <p:cNvSpPr>
            <a:spLocks noGrp="1"/>
          </p:cNvSpPr>
          <p:nvPr>
            <p:ph type="sldImg"/>
          </p:nvPr>
        </p:nvSpPr>
        <p:spPr>
          <a:xfrm>
            <a:off x="1143000" y="685800"/>
            <a:ext cx="4571640" cy="3428640"/>
          </a:xfrm>
          <a:prstGeom prst="rect">
            <a:avLst/>
          </a:prstGeom>
          <a:ln w="0">
            <a:noFill/>
          </a:ln>
        </p:spPr>
      </p:sp>
      <p:sp>
        <p:nvSpPr>
          <p:cNvPr id="63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[PAGE 2, ~65s]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Ingredient two. Hedge funds like Melvin Capital and Citron looked at GameStop and said: this company is dying. So they shorted it.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Quick refresher: you borrow a share, sell it now, and hope to buy it back cheaper later. The catch is the math. If you're right, the most you can make is 100%, when the stock goes to zero. If you're wrong, there's no ceiling. Your loss is, in theory, unlimited.</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Now here's the crazy part. For a typical big stock, maybe a few percent of the shares are sold short. For GameStop it was 92.5% by March 2020, and on January 15, 2021 it hit 102.1%. More shares sold short than actually exist to trade. How? The buyer of a borrowed share can have it lent out again, so one share gets shorted twice.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And to buy all of it back would take 11.6 days of normal trading. On a trading desk, that's called "days to cover", and it's basically how wide the exit door is.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 picture a packed room with one tiny door. All it takes is someone pulling the fire alarm. Who pulled it? Over to Yinghan.</a:t>
            </a:r>
            <a:endParaRPr lang="en-US" sz="2000" b="0" u="none" strike="noStrike">
              <a:solidFill>
                <a:srgbClr val="000000"/>
              </a:solidFill>
              <a:effectLst/>
              <a:uFillTx/>
              <a:latin typeface="Arial"/>
            </a:endParaRPr>
          </a:p>
        </p:txBody>
      </p:sp>
      <p:sp>
        <p:nvSpPr>
          <p:cNvPr id="633"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82D4E2D-2F8C-406F-BC7B-2EBB7E7F973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sldImg"/>
          </p:nvPr>
        </p:nvSpPr>
        <p:spPr>
          <a:xfrm>
            <a:off x="1143000" y="685800"/>
            <a:ext cx="4571640" cy="3428640"/>
          </a:xfrm>
          <a:prstGeom prst="rect">
            <a:avLst/>
          </a:prstGeom>
          <a:ln w="0">
            <a:noFill/>
          </a:ln>
        </p:spPr>
      </p:sp>
      <p:sp>
        <p:nvSpPr>
          <p:cNvPr id="63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zh-CN" sz="2000" b="0" u="none" strike="noStrike">
                <a:solidFill>
                  <a:srgbClr val="000000"/>
                </a:solidFill>
                <a:effectLst/>
                <a:uFillTx/>
                <a:latin typeface="Arial"/>
              </a:rPr>
              <a:t>第 </a:t>
            </a:r>
            <a:r>
              <a:rPr lang="en-US" sz="2000" b="0" u="none" strike="noStrike">
                <a:solidFill>
                  <a:srgbClr val="000000"/>
                </a:solidFill>
                <a:effectLst/>
                <a:uFillTx/>
                <a:latin typeface="Arial"/>
              </a:rPr>
              <a:t>2 </a:t>
            </a:r>
            <a:r>
              <a:rPr lang="zh-CN" sz="2000" b="0" u="none" strike="noStrike">
                <a:solidFill>
                  <a:srgbClr val="000000"/>
                </a:solidFill>
                <a:effectLst/>
                <a:uFillTx/>
                <a:latin typeface="Arial"/>
              </a:rPr>
              <a:t>人 </a:t>
            </a:r>
            <a:r>
              <a:rPr lang="en-US" sz="2000" b="0" u="none" strike="noStrike">
                <a:solidFill>
                  <a:srgbClr val="000000"/>
                </a:solidFill>
                <a:effectLst/>
                <a:uFillTx/>
                <a:latin typeface="Arial"/>
              </a:rPr>
              <a:t>· Page 1 · </a:t>
            </a:r>
            <a:r>
              <a:rPr lang="zh-CN" sz="2000" b="0" u="none" strike="noStrike">
                <a:solidFill>
                  <a:srgbClr val="000000"/>
                </a:solidFill>
                <a:effectLst/>
                <a:uFillTx/>
                <a:latin typeface="Arial"/>
              </a:rPr>
              <a:t>散户为什么集结</a:t>
            </a:r>
            <a:endParaRPr lang="en-US" sz="2000" b="0" u="none" strike="noStrike">
              <a:solidFill>
                <a:srgbClr val="000000"/>
              </a:solidFill>
              <a:effectLst/>
              <a:uFillTx/>
              <a:latin typeface="Arial"/>
            </a:endParaRPr>
          </a:p>
          <a:p>
            <a:pPr indent="0" algn="l">
              <a:lnSpc>
                <a:spcPct val="100000"/>
              </a:lnSpc>
              <a:buNone/>
            </a:pPr>
            <a:r>
              <a:rPr lang="zh-CN" sz="2000" b="0" u="none" strike="noStrike">
                <a:solidFill>
                  <a:srgbClr val="000000"/>
                </a:solidFill>
                <a:effectLst/>
                <a:uFillTx/>
                <a:latin typeface="Arial"/>
              </a:rPr>
              <a:t>提示：动机不只是赚钱，还有“干掉华尔街”的情绪。</a:t>
            </a:r>
            <a:endParaRPr lang="en-US" sz="2000" b="0" u="none" strike="noStrike">
              <a:solidFill>
                <a:srgbClr val="000000"/>
              </a:solidFill>
              <a:effectLst/>
              <a:uFillTx/>
              <a:latin typeface="Arial"/>
            </a:endParaRPr>
          </a:p>
          <a:p>
            <a:pPr indent="0" algn="l">
              <a:lnSpc>
                <a:spcPct val="100000"/>
              </a:lnSpc>
              <a:buNone/>
            </a:pPr>
            <a:r>
              <a:rPr lang="zh-CN" sz="2000" b="0" u="none" strike="noStrike">
                <a:solidFill>
                  <a:srgbClr val="000000"/>
                </a:solidFill>
                <a:effectLst/>
                <a:uFillTx/>
                <a:latin typeface="Arial"/>
              </a:rPr>
              <a:t>可用事实：刺激支票、零佣金 </a:t>
            </a:r>
            <a:r>
              <a:rPr lang="en-US" sz="2000" b="0" u="none" strike="noStrike">
                <a:solidFill>
                  <a:srgbClr val="000000"/>
                </a:solidFill>
                <a:effectLst/>
                <a:uFillTx/>
                <a:latin typeface="Arial"/>
              </a:rPr>
              <a:t>app</a:t>
            </a:r>
            <a:r>
              <a:rPr lang="zh-CN" sz="2000" b="0" u="none" strike="noStrike">
                <a:solidFill>
                  <a:srgbClr val="000000"/>
                </a:solidFill>
                <a:effectLst/>
                <a:uFillTx/>
                <a:latin typeface="Arial"/>
              </a:rPr>
              <a:t>、封城在家；</a:t>
            </a:r>
            <a:r>
              <a:rPr lang="en-US" sz="2000" b="0" u="none" strike="noStrike">
                <a:solidFill>
                  <a:srgbClr val="000000"/>
                </a:solidFill>
                <a:effectLst/>
                <a:uFillTx/>
                <a:latin typeface="Arial"/>
              </a:rPr>
              <a:t>Robinhood 2020 </a:t>
            </a:r>
            <a:r>
              <a:rPr lang="zh-CN" sz="2000" b="0" u="none" strike="noStrike">
                <a:solidFill>
                  <a:srgbClr val="000000"/>
                </a:solidFill>
                <a:effectLst/>
                <a:uFillTx/>
                <a:latin typeface="Arial"/>
              </a:rPr>
              <a:t>年新用户一半是第一次投资；</a:t>
            </a:r>
            <a:r>
              <a:rPr lang="en-US" sz="2000" b="0" u="none" strike="noStrike">
                <a:solidFill>
                  <a:srgbClr val="000000"/>
                </a:solidFill>
                <a:effectLst/>
                <a:uFillTx/>
                <a:latin typeface="Arial"/>
              </a:rPr>
              <a:t>WallStreetBets </a:t>
            </a:r>
            <a:r>
              <a:rPr lang="zh-CN" sz="2000" b="0" u="none" strike="noStrike">
                <a:solidFill>
                  <a:srgbClr val="000000"/>
                </a:solidFill>
                <a:effectLst/>
                <a:uFillTx/>
                <a:latin typeface="Arial"/>
              </a:rPr>
              <a:t>的 </a:t>
            </a:r>
            <a:r>
              <a:rPr lang="en-US" sz="2000" b="0" u="none" strike="noStrike">
                <a:solidFill>
                  <a:srgbClr val="000000"/>
                </a:solidFill>
                <a:effectLst/>
                <a:uFillTx/>
                <a:latin typeface="Arial"/>
              </a:rPr>
              <a:t>Roaring Kitty</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Keith Gill</a:t>
            </a:r>
            <a:r>
              <a:rPr lang="zh-CN" sz="2000" b="0" u="none" strike="noStrike">
                <a:solidFill>
                  <a:srgbClr val="000000"/>
                </a:solidFill>
                <a:effectLst/>
                <a:uFillTx/>
                <a:latin typeface="Arial"/>
              </a:rPr>
              <a:t>），期权从约 </a:t>
            </a:r>
            <a:r>
              <a:rPr lang="en-US" sz="2000" b="0" u="none" strike="noStrike">
                <a:solidFill>
                  <a:srgbClr val="000000"/>
                </a:solidFill>
                <a:effectLst/>
                <a:uFillTx/>
                <a:latin typeface="Arial"/>
              </a:rPr>
              <a:t>$5.3 </a:t>
            </a:r>
            <a:r>
              <a:rPr lang="zh-CN" sz="2000" b="0" u="none" strike="noStrike">
                <a:solidFill>
                  <a:srgbClr val="000000"/>
                </a:solidFill>
                <a:effectLst/>
                <a:uFillTx/>
                <a:latin typeface="Arial"/>
              </a:rPr>
              <a:t>万涨到 </a:t>
            </a:r>
            <a:r>
              <a:rPr lang="en-US" sz="2000" b="0" u="none" strike="noStrike">
                <a:solidFill>
                  <a:srgbClr val="000000"/>
                </a:solidFill>
                <a:effectLst/>
                <a:uFillTx/>
                <a:latin typeface="Arial"/>
              </a:rPr>
              <a:t>$1,100 </a:t>
            </a:r>
            <a:r>
              <a:rPr lang="zh-CN" sz="2000" b="0" u="none" strike="noStrike">
                <a:solidFill>
                  <a:srgbClr val="000000"/>
                </a:solidFill>
                <a:effectLst/>
                <a:uFillTx/>
                <a:latin typeface="Arial"/>
              </a:rPr>
              <a:t>多万。</a:t>
            </a:r>
            <a:endParaRPr lang="en-US" sz="2000" b="0" u="none" strike="noStrike">
              <a:solidFill>
                <a:srgbClr val="000000"/>
              </a:solidFill>
              <a:effectLst/>
              <a:uFillTx/>
              <a:latin typeface="Arial"/>
            </a:endParaRPr>
          </a:p>
        </p:txBody>
      </p:sp>
      <p:sp>
        <p:nvSpPr>
          <p:cNvPr id="636"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8E8B927-AE5C-4B7B-80D8-09C7F087EAC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PlaceHolder 1"/>
          <p:cNvSpPr>
            <a:spLocks noGrp="1"/>
          </p:cNvSpPr>
          <p:nvPr>
            <p:ph type="sldImg"/>
          </p:nvPr>
        </p:nvSpPr>
        <p:spPr>
          <a:xfrm>
            <a:off x="1143000" y="685800"/>
            <a:ext cx="4571640" cy="3428640"/>
          </a:xfrm>
          <a:prstGeom prst="rect">
            <a:avLst/>
          </a:prstGeom>
          <a:ln w="0">
            <a:noFill/>
          </a:ln>
        </p:spPr>
      </p:sp>
      <p:sp>
        <p:nvSpPr>
          <p:cNvPr id="63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zh-CN" sz="2000" b="0" u="none" strike="noStrike">
                <a:solidFill>
                  <a:srgbClr val="000000"/>
                </a:solidFill>
                <a:effectLst/>
                <a:uFillTx/>
                <a:latin typeface="Arial"/>
              </a:rPr>
              <a:t>第 </a:t>
            </a:r>
            <a:r>
              <a:rPr lang="en-US" sz="2000" b="0" u="none" strike="noStrike">
                <a:solidFill>
                  <a:srgbClr val="000000"/>
                </a:solidFill>
                <a:effectLst/>
                <a:uFillTx/>
                <a:latin typeface="Arial"/>
              </a:rPr>
              <a:t>2 </a:t>
            </a:r>
            <a:r>
              <a:rPr lang="zh-CN" sz="2000" b="0" u="none" strike="noStrike">
                <a:solidFill>
                  <a:srgbClr val="000000"/>
                </a:solidFill>
                <a:effectLst/>
                <a:uFillTx/>
                <a:latin typeface="Arial"/>
              </a:rPr>
              <a:t>人 </a:t>
            </a:r>
            <a:r>
              <a:rPr lang="en-US" sz="2000" b="0" u="none" strike="noStrike">
                <a:solidFill>
                  <a:srgbClr val="000000"/>
                </a:solidFill>
                <a:effectLst/>
                <a:uFillTx/>
                <a:latin typeface="Arial"/>
              </a:rPr>
              <a:t>· Page 2 · </a:t>
            </a:r>
            <a:r>
              <a:rPr lang="zh-CN" sz="2000" b="0" u="none" strike="noStrike">
                <a:solidFill>
                  <a:srgbClr val="000000"/>
                </a:solidFill>
                <a:effectLst/>
                <a:uFillTx/>
                <a:latin typeface="Arial"/>
              </a:rPr>
              <a:t>逼空是怎么发生的</a:t>
            </a:r>
            <a:endParaRPr lang="en-US" sz="2000" b="0" u="none" strike="noStrike">
              <a:solidFill>
                <a:srgbClr val="000000"/>
              </a:solidFill>
              <a:effectLst/>
              <a:uFillTx/>
              <a:latin typeface="Arial"/>
            </a:endParaRPr>
          </a:p>
          <a:p>
            <a:pPr indent="0" algn="l">
              <a:lnSpc>
                <a:spcPct val="100000"/>
              </a:lnSpc>
              <a:buNone/>
            </a:pPr>
            <a:r>
              <a:rPr lang="zh-CN" sz="2000" b="0" u="none" strike="noStrike">
                <a:solidFill>
                  <a:srgbClr val="000000"/>
                </a:solidFill>
                <a:effectLst/>
                <a:uFillTx/>
                <a:latin typeface="Arial"/>
              </a:rPr>
              <a:t>提示：用大白话讲清滚雪球原理。</a:t>
            </a:r>
            <a:endParaRPr lang="en-US" sz="2000" b="0" u="none" strike="noStrike">
              <a:solidFill>
                <a:srgbClr val="000000"/>
              </a:solidFill>
              <a:effectLst/>
              <a:uFillTx/>
              <a:latin typeface="Arial"/>
            </a:endParaRPr>
          </a:p>
          <a:p>
            <a:pPr indent="0" algn="l">
              <a:lnSpc>
                <a:spcPct val="100000"/>
              </a:lnSpc>
              <a:buNone/>
            </a:pPr>
            <a:r>
              <a:rPr lang="zh-CN" sz="2000" b="0" u="none" strike="noStrike">
                <a:solidFill>
                  <a:srgbClr val="000000"/>
                </a:solidFill>
                <a:effectLst/>
                <a:uFillTx/>
                <a:latin typeface="Arial"/>
              </a:rPr>
              <a:t>可用事实：三股买力（散户、空头平仓、期权卖方对冲）；</a:t>
            </a:r>
            <a:r>
              <a:rPr lang="en-US" sz="2000" b="0" u="none" strike="noStrike">
                <a:solidFill>
                  <a:srgbClr val="000000"/>
                </a:solidFill>
                <a:effectLst/>
                <a:uFillTx/>
                <a:latin typeface="Arial"/>
              </a:rPr>
              <a:t>1 </a:t>
            </a:r>
            <a:r>
              <a:rPr lang="zh-CN" sz="2000" b="0" u="none" strike="noStrike">
                <a:solidFill>
                  <a:srgbClr val="000000"/>
                </a:solidFill>
                <a:effectLst/>
                <a:uFillTx/>
                <a:latin typeface="Arial"/>
              </a:rPr>
              <a:t>月 </a:t>
            </a:r>
            <a:r>
              <a:rPr lang="en-US" sz="2000" b="0" u="none" strike="noStrike">
                <a:solidFill>
                  <a:srgbClr val="000000"/>
                </a:solidFill>
                <a:effectLst/>
                <a:uFillTx/>
                <a:latin typeface="Arial"/>
              </a:rPr>
              <a:t>22–27 </a:t>
            </a:r>
            <a:r>
              <a:rPr lang="zh-CN" sz="2000" b="0" u="none" strike="noStrike">
                <a:solidFill>
                  <a:srgbClr val="000000"/>
                </a:solidFill>
                <a:effectLst/>
                <a:uFillTx/>
                <a:latin typeface="Arial"/>
              </a:rPr>
              <a:t>日涨 </a:t>
            </a:r>
            <a:r>
              <a:rPr lang="en-US" sz="2000" b="0" u="none" strike="noStrike">
                <a:solidFill>
                  <a:srgbClr val="000000"/>
                </a:solidFill>
                <a:effectLst/>
                <a:uFillTx/>
                <a:latin typeface="Arial"/>
              </a:rPr>
              <a:t>707.6%</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WSB </a:t>
            </a:r>
            <a:r>
              <a:rPr lang="zh-CN" sz="2000" b="0" u="none" strike="noStrike">
                <a:solidFill>
                  <a:srgbClr val="000000"/>
                </a:solidFill>
                <a:effectLst/>
                <a:uFillTx/>
                <a:latin typeface="Arial"/>
              </a:rPr>
              <a:t>单日新增订阅达 </a:t>
            </a:r>
            <a:r>
              <a:rPr lang="en-US" sz="2000" b="0" u="none" strike="noStrike">
                <a:solidFill>
                  <a:srgbClr val="000000"/>
                </a:solidFill>
                <a:effectLst/>
                <a:uFillTx/>
                <a:latin typeface="Arial"/>
              </a:rPr>
              <a:t>110 </a:t>
            </a:r>
            <a:r>
              <a:rPr lang="zh-CN" sz="2000" b="0" u="none" strike="noStrike">
                <a:solidFill>
                  <a:srgbClr val="000000"/>
                </a:solidFill>
                <a:effectLst/>
                <a:uFillTx/>
                <a:latin typeface="Arial"/>
              </a:rPr>
              <a:t>万；</a:t>
            </a:r>
            <a:r>
              <a:rPr lang="en-US" sz="2000" b="0" u="none" strike="noStrike">
                <a:solidFill>
                  <a:srgbClr val="000000"/>
                </a:solidFill>
                <a:effectLst/>
                <a:uFillTx/>
                <a:latin typeface="Arial"/>
              </a:rPr>
              <a:t>Melvin 1 </a:t>
            </a:r>
            <a:r>
              <a:rPr lang="zh-CN" sz="2000" b="0" u="none" strike="noStrike">
                <a:solidFill>
                  <a:srgbClr val="000000"/>
                </a:solidFill>
                <a:effectLst/>
                <a:uFillTx/>
                <a:latin typeface="Arial"/>
              </a:rPr>
              <a:t>月亏 </a:t>
            </a:r>
            <a:r>
              <a:rPr lang="en-US" sz="2000" b="0" u="none" strike="noStrike">
                <a:solidFill>
                  <a:srgbClr val="000000"/>
                </a:solidFill>
                <a:effectLst/>
                <a:uFillTx/>
                <a:latin typeface="Arial"/>
              </a:rPr>
              <a:t>54.4%</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Citadel </a:t>
            </a:r>
            <a:r>
              <a:rPr lang="zh-CN" sz="2000" b="0" u="none" strike="noStrike">
                <a:solidFill>
                  <a:srgbClr val="000000"/>
                </a:solidFill>
                <a:effectLst/>
                <a:uFillTx/>
                <a:latin typeface="Arial"/>
              </a:rPr>
              <a:t>和 </a:t>
            </a:r>
            <a:r>
              <a:rPr lang="en-US" sz="2000" b="0" u="none" strike="noStrike">
                <a:solidFill>
                  <a:srgbClr val="000000"/>
                </a:solidFill>
                <a:effectLst/>
                <a:uFillTx/>
                <a:latin typeface="Arial"/>
              </a:rPr>
              <a:t>Point72 </a:t>
            </a:r>
            <a:r>
              <a:rPr lang="zh-CN" sz="2000" b="0" u="none" strike="noStrike">
                <a:solidFill>
                  <a:srgbClr val="000000"/>
                </a:solidFill>
                <a:effectLst/>
                <a:uFillTx/>
                <a:latin typeface="Arial"/>
              </a:rPr>
              <a:t>注资 </a:t>
            </a:r>
            <a:r>
              <a:rPr lang="en-US" sz="2000" b="0" u="none" strike="noStrike">
                <a:solidFill>
                  <a:srgbClr val="000000"/>
                </a:solidFill>
                <a:effectLst/>
                <a:uFillTx/>
                <a:latin typeface="Arial"/>
              </a:rPr>
              <a:t>$2.75bn</a:t>
            </a:r>
            <a:r>
              <a:rPr lang="zh-CN" sz="2000" b="0" u="none" strike="noStrike">
                <a:solidFill>
                  <a:srgbClr val="000000"/>
                </a:solidFill>
                <a:effectLst/>
                <a:uFillTx/>
                <a:latin typeface="Arial"/>
              </a:rPr>
              <a:t>。</a:t>
            </a:r>
            <a:endParaRPr lang="en-US" sz="2000" b="0" u="none" strike="noStrike">
              <a:solidFill>
                <a:srgbClr val="000000"/>
              </a:solidFill>
              <a:effectLst/>
              <a:uFillTx/>
              <a:latin typeface="Arial"/>
            </a:endParaRPr>
          </a:p>
        </p:txBody>
      </p:sp>
      <p:sp>
        <p:nvSpPr>
          <p:cNvPr id="639"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C7BDF8E-5C08-4691-BC7E-14A591F0767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sldImg"/>
          </p:nvPr>
        </p:nvSpPr>
        <p:spPr>
          <a:xfrm>
            <a:off x="1143000" y="685800"/>
            <a:ext cx="4571640" cy="3428640"/>
          </a:xfrm>
          <a:prstGeom prst="rect">
            <a:avLst/>
          </a:prstGeom>
          <a:ln w="0">
            <a:noFill/>
          </a:ln>
        </p:spPr>
      </p:sp>
      <p:sp>
        <p:nvSpPr>
          <p:cNvPr id="64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Excessive short selling can create feedback. Higher prices increase short sellers’ losses, covering creates additional demand, and demand can push prices higher. Crowded positions increase volatility and expose both short sellers and late buyers to losses. These are mechanisms, not a claim that short covering alone caused the episode.</a:t>
            </a:r>
            <a:endParaRPr lang="en-US" sz="2000" b="0" u="none" strike="noStrike">
              <a:solidFill>
                <a:srgbClr val="000000"/>
              </a:solidFill>
              <a:effectLst/>
              <a:uFillTx/>
              <a:latin typeface="Arial"/>
            </a:endParaRPr>
          </a:p>
        </p:txBody>
      </p:sp>
      <p:sp>
        <p:nvSpPr>
          <p:cNvPr id="642"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823403A-179A-4FD9-B01A-329B4558728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3" name="PlaceHolder 1"/>
          <p:cNvSpPr>
            <a:spLocks noGrp="1"/>
          </p:cNvSpPr>
          <p:nvPr>
            <p:ph type="sldImg"/>
          </p:nvPr>
        </p:nvSpPr>
        <p:spPr>
          <a:xfrm>
            <a:off x="1143000" y="685800"/>
            <a:ext cx="4571640" cy="3428640"/>
          </a:xfrm>
          <a:prstGeom prst="rect">
            <a:avLst/>
          </a:prstGeom>
          <a:ln w="0">
            <a:noFill/>
          </a:ln>
        </p:spPr>
      </p:sp>
      <p:sp>
        <p:nvSpPr>
          <p:cNvPr id="64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We propose targeted safeguards, rather than a blanket ban: more frequent short-interest disclosure, margin requirements tied to risk, and stronger monitoring of securities borrowing and lending. The objective is to balance risk management with liquidity and price discovery.</a:t>
            </a:r>
            <a:endParaRPr lang="en-US" sz="2000" b="0" u="none" strike="noStrike">
              <a:solidFill>
                <a:srgbClr val="000000"/>
              </a:solidFill>
              <a:effectLst/>
              <a:uFillTx/>
              <a:latin typeface="Arial"/>
            </a:endParaRPr>
          </a:p>
        </p:txBody>
      </p:sp>
      <p:sp>
        <p:nvSpPr>
          <p:cNvPr id="645"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C925DF0-86B0-431B-99B2-AD8FFB6C608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PlaceHolder 1"/>
          <p:cNvSpPr>
            <a:spLocks noGrp="1"/>
          </p:cNvSpPr>
          <p:nvPr>
            <p:ph type="sldImg"/>
          </p:nvPr>
        </p:nvSpPr>
        <p:spPr>
          <a:xfrm>
            <a:off x="1143000" y="685800"/>
            <a:ext cx="4571640" cy="3428640"/>
          </a:xfrm>
          <a:prstGeom prst="rect">
            <a:avLst/>
          </a:prstGeom>
          <a:ln w="0">
            <a:noFill/>
          </a:ln>
        </p:spPr>
      </p:sp>
      <p:sp>
        <p:nvSpPr>
          <p:cNvPr id="64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zh-CN" sz="2000" b="0" u="none" strike="noStrike">
                <a:solidFill>
                  <a:srgbClr val="000000"/>
                </a:solidFill>
                <a:effectLst/>
                <a:uFillTx/>
                <a:latin typeface="Arial"/>
              </a:rPr>
              <a:t>第 </a:t>
            </a:r>
            <a:r>
              <a:rPr lang="en-US" sz="2000" b="0" u="none" strike="noStrike">
                <a:solidFill>
                  <a:srgbClr val="000000"/>
                </a:solidFill>
                <a:effectLst/>
                <a:uFillTx/>
                <a:latin typeface="Arial"/>
              </a:rPr>
              <a:t>4 </a:t>
            </a:r>
            <a:r>
              <a:rPr lang="zh-CN" sz="2000" b="0" u="none" strike="noStrike">
                <a:solidFill>
                  <a:srgbClr val="000000"/>
                </a:solidFill>
                <a:effectLst/>
                <a:uFillTx/>
                <a:latin typeface="Arial"/>
              </a:rPr>
              <a:t>人 </a:t>
            </a:r>
            <a:r>
              <a:rPr lang="en-US" sz="2000" b="0" u="none" strike="noStrike">
                <a:solidFill>
                  <a:srgbClr val="000000"/>
                </a:solidFill>
                <a:effectLst/>
                <a:uFillTx/>
                <a:latin typeface="Arial"/>
              </a:rPr>
              <a:t>· Page 1 · </a:t>
            </a:r>
            <a:r>
              <a:rPr lang="zh-CN" sz="2000" b="0" u="none" strike="noStrike">
                <a:solidFill>
                  <a:srgbClr val="000000"/>
                </a:solidFill>
                <a:effectLst/>
                <a:uFillTx/>
                <a:latin typeface="Arial"/>
              </a:rPr>
              <a:t>反对禁止做空</a:t>
            </a:r>
            <a:endParaRPr lang="en-US" sz="2000" b="0" u="none" strike="noStrike">
              <a:solidFill>
                <a:srgbClr val="000000"/>
              </a:solidFill>
              <a:effectLst/>
              <a:uFillTx/>
              <a:latin typeface="Arial"/>
            </a:endParaRPr>
          </a:p>
          <a:p>
            <a:pPr indent="0" algn="l">
              <a:lnSpc>
                <a:spcPct val="100000"/>
              </a:lnSpc>
              <a:buNone/>
            </a:pPr>
            <a:r>
              <a:rPr lang="zh-CN" sz="2000" b="0" u="none" strike="noStrike">
                <a:solidFill>
                  <a:srgbClr val="000000"/>
                </a:solidFill>
                <a:effectLst/>
                <a:uFillTx/>
                <a:latin typeface="Arial"/>
              </a:rPr>
              <a:t>提示：可以和第 </a:t>
            </a:r>
            <a:r>
              <a:rPr lang="en-US" sz="2000" b="0" u="none" strike="noStrike">
                <a:solidFill>
                  <a:srgbClr val="000000"/>
                </a:solidFill>
                <a:effectLst/>
                <a:uFillTx/>
                <a:latin typeface="Arial"/>
              </a:rPr>
              <a:t>3 </a:t>
            </a:r>
            <a:r>
              <a:rPr lang="zh-CN" sz="2000" b="0" u="none" strike="noStrike">
                <a:solidFill>
                  <a:srgbClr val="000000"/>
                </a:solidFill>
                <a:effectLst/>
                <a:uFillTx/>
                <a:latin typeface="Arial"/>
              </a:rPr>
              <a:t>人做成正反对比。</a:t>
            </a:r>
            <a:endParaRPr lang="en-US" sz="2000" b="0" u="none" strike="noStrike">
              <a:solidFill>
                <a:srgbClr val="000000"/>
              </a:solidFill>
              <a:effectLst/>
              <a:uFillTx/>
              <a:latin typeface="Arial"/>
            </a:endParaRPr>
          </a:p>
          <a:p>
            <a:pPr indent="0" algn="l">
              <a:lnSpc>
                <a:spcPct val="100000"/>
              </a:lnSpc>
              <a:buNone/>
            </a:pPr>
            <a:r>
              <a:rPr lang="zh-CN" sz="2000" b="0" u="none" strike="noStrike">
                <a:solidFill>
                  <a:srgbClr val="000000"/>
                </a:solidFill>
                <a:effectLst/>
                <a:uFillTx/>
                <a:latin typeface="Arial"/>
              </a:rPr>
              <a:t>可用理由：价格发现；揭露被高估或造假的公司；增加流动性；</a:t>
            </a:r>
            <a:r>
              <a:rPr lang="en-US" sz="2000" b="0" u="none" strike="noStrike">
                <a:solidFill>
                  <a:srgbClr val="000000"/>
                </a:solidFill>
                <a:effectLst/>
                <a:uFillTx/>
                <a:latin typeface="Arial"/>
              </a:rPr>
              <a:t>GME </a:t>
            </a:r>
            <a:r>
              <a:rPr lang="zh-CN" sz="2000" b="0" u="none" strike="noStrike">
                <a:solidFill>
                  <a:srgbClr val="000000"/>
                </a:solidFill>
                <a:effectLst/>
                <a:uFillTx/>
                <a:latin typeface="Arial"/>
              </a:rPr>
              <a:t>事件里亏钱的是空头自己（</a:t>
            </a:r>
            <a:r>
              <a:rPr lang="en-US" sz="2000" b="0" u="none" strike="noStrike">
                <a:solidFill>
                  <a:srgbClr val="000000"/>
                </a:solidFill>
                <a:effectLst/>
                <a:uFillTx/>
                <a:latin typeface="Arial"/>
              </a:rPr>
              <a:t>Melvin 1 </a:t>
            </a:r>
            <a:r>
              <a:rPr lang="zh-CN" sz="2000" b="0" u="none" strike="noStrike">
                <a:solidFill>
                  <a:srgbClr val="000000"/>
                </a:solidFill>
                <a:effectLst/>
                <a:uFillTx/>
                <a:latin typeface="Arial"/>
              </a:rPr>
              <a:t>月亏 </a:t>
            </a:r>
            <a:r>
              <a:rPr lang="en-US" sz="2000" b="0" u="none" strike="noStrike">
                <a:solidFill>
                  <a:srgbClr val="000000"/>
                </a:solidFill>
                <a:effectLst/>
                <a:uFillTx/>
                <a:latin typeface="Arial"/>
              </a:rPr>
              <a:t>54.4%</a:t>
            </a:r>
            <a:r>
              <a:rPr lang="zh-CN" sz="2000" b="0" u="none" strike="noStrike">
                <a:solidFill>
                  <a:srgbClr val="000000"/>
                </a:solidFill>
                <a:effectLst/>
                <a:uFillTx/>
                <a:latin typeface="Arial"/>
              </a:rPr>
              <a:t>）。</a:t>
            </a:r>
            <a:endParaRPr lang="en-US" sz="2000" b="0" u="none" strike="noStrike">
              <a:solidFill>
                <a:srgbClr val="000000"/>
              </a:solidFill>
              <a:effectLst/>
              <a:uFillTx/>
              <a:latin typeface="Arial"/>
            </a:endParaRPr>
          </a:p>
        </p:txBody>
      </p:sp>
      <p:sp>
        <p:nvSpPr>
          <p:cNvPr id="648"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2F22ED3-D9C8-4DE0-BA49-AAE650F454F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sldImg"/>
          </p:nvPr>
        </p:nvSpPr>
        <p:spPr>
          <a:xfrm>
            <a:off x="1143000" y="685800"/>
            <a:ext cx="4571640" cy="3428640"/>
          </a:xfrm>
          <a:prstGeom prst="rect">
            <a:avLst/>
          </a:prstGeom>
          <a:ln w="0">
            <a:noFill/>
          </a:ln>
        </p:spPr>
      </p:sp>
      <p:sp>
        <p:nvSpPr>
          <p:cNvPr id="65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zh-CN" sz="2000" b="0" u="none" strike="noStrike">
                <a:solidFill>
                  <a:srgbClr val="000000"/>
                </a:solidFill>
                <a:effectLst/>
                <a:uFillTx/>
                <a:latin typeface="Arial"/>
              </a:rPr>
              <a:t>第 </a:t>
            </a:r>
            <a:r>
              <a:rPr lang="en-US" sz="2000" b="0" u="none" strike="noStrike">
                <a:solidFill>
                  <a:srgbClr val="000000"/>
                </a:solidFill>
                <a:effectLst/>
                <a:uFillTx/>
                <a:latin typeface="Arial"/>
              </a:rPr>
              <a:t>4 </a:t>
            </a:r>
            <a:r>
              <a:rPr lang="zh-CN" sz="2000" b="0" u="none" strike="noStrike">
                <a:solidFill>
                  <a:srgbClr val="000000"/>
                </a:solidFill>
                <a:effectLst/>
                <a:uFillTx/>
                <a:latin typeface="Arial"/>
              </a:rPr>
              <a:t>人 </a:t>
            </a:r>
            <a:r>
              <a:rPr lang="en-US" sz="2000" b="0" u="none" strike="noStrike">
                <a:solidFill>
                  <a:srgbClr val="000000"/>
                </a:solidFill>
                <a:effectLst/>
                <a:uFillTx/>
                <a:latin typeface="Arial"/>
              </a:rPr>
              <a:t>· Page 2 · </a:t>
            </a:r>
            <a:r>
              <a:rPr lang="zh-CN" sz="2000" b="0" u="none" strike="noStrike">
                <a:solidFill>
                  <a:srgbClr val="000000"/>
                </a:solidFill>
                <a:effectLst/>
                <a:uFillTx/>
                <a:latin typeface="Arial"/>
              </a:rPr>
              <a:t>组内立场</a:t>
            </a:r>
            <a:endParaRPr lang="en-US" sz="2000" b="0" u="none" strike="noStrike">
              <a:solidFill>
                <a:srgbClr val="000000"/>
              </a:solidFill>
              <a:effectLst/>
              <a:uFillTx/>
              <a:latin typeface="Arial"/>
            </a:endParaRPr>
          </a:p>
          <a:p>
            <a:pPr indent="0" algn="l">
              <a:lnSpc>
                <a:spcPct val="100000"/>
              </a:lnSpc>
              <a:buNone/>
            </a:pPr>
            <a:r>
              <a:rPr lang="zh-CN" sz="2000" b="0" u="none" strike="noStrike">
                <a:solidFill>
                  <a:srgbClr val="000000"/>
                </a:solidFill>
                <a:effectLst/>
                <a:uFillTx/>
                <a:latin typeface="Arial"/>
              </a:rPr>
              <a:t>提示：建议方向“不禁止，但监管过度做空”，可讨论后调整。</a:t>
            </a:r>
            <a:endParaRPr lang="en-US" sz="2000" b="0" u="none" strike="noStrike">
              <a:solidFill>
                <a:srgbClr val="000000"/>
              </a:solidFill>
              <a:effectLst/>
              <a:uFillTx/>
              <a:latin typeface="Arial"/>
            </a:endParaRPr>
          </a:p>
        </p:txBody>
      </p:sp>
      <p:sp>
        <p:nvSpPr>
          <p:cNvPr id="651"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CD65C53-3B12-4ED1-9EB0-22DA069211B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PlaceHolder 1"/>
          <p:cNvSpPr>
            <a:spLocks noGrp="1"/>
          </p:cNvSpPr>
          <p:nvPr>
            <p:ph type="sldImg"/>
          </p:nvPr>
        </p:nvSpPr>
        <p:spPr>
          <a:xfrm>
            <a:off x="1143000" y="685800"/>
            <a:ext cx="4571640" cy="3428640"/>
          </a:xfrm>
          <a:prstGeom prst="rect">
            <a:avLst/>
          </a:prstGeom>
          <a:ln w="0">
            <a:noFill/>
          </a:ln>
        </p:spPr>
      </p:sp>
      <p:sp>
        <p:nvSpPr>
          <p:cNvPr id="65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Opening: Robinhood's restriction makes more sense if we look at what happens after a customer taps Buy.</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app can confirm a GME trade immediately. But the stock and money still need to be transferred afterwards. This process is called settlement. It is similar to the credit-card settlement process we learned in class: confirmation comes first, and the transfer follows later.</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 clearinghouse asks Robinhood to provide a cash deposit to help guarantee these trades. Robinhood said that GME's extreme volatility made its clearinghouse deposit and capital requirements rise sharply. If it kept accepting many new buy orders without enough cash, it could face a problem completing its settlement obligations.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Therefore, limiting new purchases temporarily reduced the number of new trades it had to guarantee while it obtained more funding. Robinhood raised $1 billion on January 29 and another $2.4 billion on February 1. This later funding supports the view that it faced serious financial pressure.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My conclusion is limited: Robinhood had a reasonable basis for emergency risk control. Whether restricting buying only was fair is the next speaker's question.</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Yeo, Y. W., Yue, L., and Lee, Y. T. (2023), Robinhood and His Merrie Men: The GameStop Saga, case 123-0050-1, pp. 5–6. The credit-card comparison is an explanatory classroom analogy.</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[V2 financing correction] The combined emergency financing was $3.4bn: $1bn initially, followed by $2.4bn. Do not add the initial $1bn to the cumulative $3.4bn headline. Issuer reference: Robinhood, “Robinhood Raises $3.4 Billion,” 1 February 2021, https://blog.robinhood.com/news/2021/2/1/robinhood-raises-34-billion .</a:t>
            </a:r>
            <a:endParaRPr lang="en-US" sz="2000" b="0" u="none" strike="noStrike">
              <a:solidFill>
                <a:srgbClr val="000000"/>
              </a:solidFill>
              <a:effectLst/>
              <a:uFillTx/>
              <a:latin typeface="Arial"/>
            </a:endParaRPr>
          </a:p>
        </p:txBody>
      </p:sp>
      <p:sp>
        <p:nvSpPr>
          <p:cNvPr id="654"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6B4823-D20B-476F-BEDE-94FAAE219C3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PlaceHolder 1"/>
          <p:cNvSpPr>
            <a:spLocks noGrp="1"/>
          </p:cNvSpPr>
          <p:nvPr>
            <p:ph type="sldImg"/>
          </p:nvPr>
        </p:nvSpPr>
        <p:spPr>
          <a:xfrm>
            <a:off x="1143000" y="685800"/>
            <a:ext cx="4571640" cy="3428640"/>
          </a:xfrm>
          <a:prstGeom prst="rect">
            <a:avLst/>
          </a:prstGeom>
          <a:ln w="0">
            <a:noFill/>
          </a:ln>
        </p:spPr>
      </p:sp>
      <p:sp>
        <p:nvSpPr>
          <p:cNvPr id="65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My teammate explained Robinhood's reasons. Now let's look from the retail investors' side. Its reasons don't hold up, for three reasons.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First, follow the money. Trading on Robinhood is free. So how does it make money? It sells users' orders to Citadel Securities. The same boss, Ken Griffin, also runs a hedge fund called Citadel. That fund had just given two billion dollars to Melvin, a short seller of GameStop.</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We can't prove they worked together. But the conflict is clear, and Robinhood never explained it.</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[V2 scope note] The relationship map illustrates a potential conflict of interest. It does not establish collusion or coordination. Citadel Securities and Citadel are presented as distinct entities.</a:t>
            </a:r>
            <a:endParaRPr lang="en-US" sz="2000" b="0" u="none" strike="noStrike">
              <a:solidFill>
                <a:srgbClr val="000000"/>
              </a:solidFill>
              <a:effectLst/>
              <a:uFillTx/>
              <a:latin typeface="Arial"/>
            </a:endParaRPr>
          </a:p>
        </p:txBody>
      </p:sp>
      <p:sp>
        <p:nvSpPr>
          <p:cNvPr id="657"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11CB210-04D2-4663-8619-6416407F49B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type="sldImg"/>
          </p:nvPr>
        </p:nvSpPr>
        <p:spPr>
          <a:xfrm>
            <a:off x="1143000" y="685800"/>
            <a:ext cx="4571640" cy="3428640"/>
          </a:xfrm>
          <a:prstGeom prst="rect">
            <a:avLst/>
          </a:prstGeom>
          <a:ln w="0">
            <a:noFill/>
          </a:ln>
        </p:spPr>
      </p:sp>
      <p:sp>
        <p:nvSpPr>
          <p:cNvPr id="65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Second, the restriction was unfair from the retail investor perspective. On January 28, retail investors could sell, but could not place new buy orders in GameStop. Institutions continued to trade. GME fell 44 percent that day, benefiting short sellers. Our concern is that access was restricted asymmetrically; this is our group’s fairness judgment.</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Third, the funding sequence raises a preparedness question. Robinhood said it lacked cash for deposits, then raised one billion dollars the next day. That does not prove it already had the money on January 28. Our criticism is instead that contingency planning and funding came after the restriction, while customers bore the consequences.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Our verdict remains: from the retail investor perspective, the restriction was not justified. Next, we turn to how the industry should respond to social-media-driven crowd behavior.</a:t>
            </a:r>
            <a:endParaRPr lang="en-US" sz="2000" b="0" u="none" strike="noStrike">
              <a:solidFill>
                <a:srgbClr val="000000"/>
              </a:solidFill>
              <a:effectLst/>
              <a:uFillTx/>
              <a:latin typeface="Arial"/>
            </a:endParaRPr>
          </a:p>
        </p:txBody>
      </p:sp>
      <p:sp>
        <p:nvSpPr>
          <p:cNvPr id="660"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254241C-D49D-4A03-8A3B-E0F338A41EF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PlaceHolder 1"/>
          <p:cNvSpPr>
            <a:spLocks noGrp="1"/>
          </p:cNvSpPr>
          <p:nvPr>
            <p:ph type="sldImg"/>
          </p:nvPr>
        </p:nvSpPr>
        <p:spPr>
          <a:xfrm>
            <a:off x="1143000" y="685800"/>
            <a:ext cx="4571640" cy="3428640"/>
          </a:xfrm>
          <a:prstGeom prst="rect">
            <a:avLst/>
          </a:prstGeom>
          <a:ln w="0">
            <a:noFill/>
          </a:ln>
        </p:spPr>
      </p:sp>
      <p:sp>
        <p:nvSpPr>
          <p:cNvPr id="66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focuses on the role of gamification and low-friction trading.</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Platforms like Robinhood made trading extremely easy. Investors could trade directly from their phones, pay zero commission, receive instant notifications, and even access options with only a few clicks.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This had an obvious benefit: it lowered the barrier to market participation. In fact, around half of Robinhood’s new users in 2020 were first-time investors.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But there was also a behavioral downside. When the transaction cost and effort of trading become very low, the psychological barrier to taking risk can also fall.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In other words, investors may trade more frequently, react more quickly, and pay less attention to the underlying risk.</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 the key takeaway is that gamification democratized investing, but it also made speculative trading easier.</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zh-CN" sz="2000" b="0" u="none" strike="noStrike">
                <a:solidFill>
                  <a:srgbClr val="000000"/>
                </a:solidFill>
                <a:effectLst/>
                <a:uFillTx/>
                <a:latin typeface="Arial"/>
              </a:rPr>
              <a:t>第 </a:t>
            </a:r>
            <a:r>
              <a:rPr lang="en-US" sz="2000" b="0" u="none" strike="noStrike">
                <a:solidFill>
                  <a:srgbClr val="000000"/>
                </a:solidFill>
                <a:effectLst/>
                <a:uFillTx/>
                <a:latin typeface="Arial"/>
              </a:rPr>
              <a:t>7 </a:t>
            </a:r>
            <a:r>
              <a:rPr lang="zh-CN" sz="2000" b="0" u="none" strike="noStrike">
                <a:solidFill>
                  <a:srgbClr val="000000"/>
                </a:solidFill>
                <a:effectLst/>
                <a:uFillTx/>
                <a:latin typeface="Arial"/>
              </a:rPr>
              <a:t>人 </a:t>
            </a:r>
            <a:r>
              <a:rPr lang="en-US" sz="2000" b="0" u="none" strike="noStrike">
                <a:solidFill>
                  <a:srgbClr val="000000"/>
                </a:solidFill>
                <a:effectLst/>
                <a:uFillTx/>
                <a:latin typeface="Arial"/>
              </a:rPr>
              <a:t>· Page 1 · </a:t>
            </a:r>
            <a:r>
              <a:rPr lang="zh-CN" sz="2000" b="0" u="none" strike="noStrike">
                <a:solidFill>
                  <a:srgbClr val="000000"/>
                </a:solidFill>
                <a:effectLst/>
                <a:uFillTx/>
                <a:latin typeface="Arial"/>
              </a:rPr>
              <a:t>交易变成游戏</a:t>
            </a:r>
            <a:endParaRPr lang="en-US" sz="2000" b="0" u="none" strike="noStrike">
              <a:solidFill>
                <a:srgbClr val="000000"/>
              </a:solidFill>
              <a:effectLst/>
              <a:uFillTx/>
              <a:latin typeface="Arial"/>
            </a:endParaRPr>
          </a:p>
          <a:p>
            <a:pPr indent="0" algn="l">
              <a:lnSpc>
                <a:spcPct val="100000"/>
              </a:lnSpc>
              <a:buNone/>
            </a:pPr>
            <a:r>
              <a:rPr lang="zh-CN" sz="2000" b="0" u="none" strike="noStrike">
                <a:solidFill>
                  <a:srgbClr val="000000"/>
                </a:solidFill>
                <a:effectLst/>
                <a:uFillTx/>
                <a:latin typeface="Arial"/>
              </a:rPr>
              <a:t>提示：零佣金和一键下单降低了门槛，也降低了对风险的感知。开头可承接 </a:t>
            </a:r>
            <a:r>
              <a:rPr lang="en-US" sz="2000" b="0" u="none" strike="noStrike">
                <a:solidFill>
                  <a:srgbClr val="000000"/>
                </a:solidFill>
                <a:effectLst/>
                <a:uFillTx/>
                <a:latin typeface="Arial"/>
              </a:rPr>
              <a:t>Josh </a:t>
            </a:r>
            <a:r>
              <a:rPr lang="zh-CN" sz="2000" b="0" u="none" strike="noStrike">
                <a:solidFill>
                  <a:srgbClr val="000000"/>
                </a:solidFill>
                <a:effectLst/>
                <a:uFillTx/>
                <a:latin typeface="Arial"/>
              </a:rPr>
              <a:t>的结尾“</a:t>
            </a:r>
            <a:r>
              <a:rPr lang="en-US" sz="2000" b="0" u="none" strike="noStrike">
                <a:solidFill>
                  <a:srgbClr val="000000"/>
                </a:solidFill>
                <a:effectLst/>
                <a:uFillTx/>
                <a:latin typeface="Arial"/>
              </a:rPr>
              <a:t>how the industry should deal with the crowd”</a:t>
            </a:r>
            <a:r>
              <a:rPr lang="zh-CN"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lnSpc>
                <a:spcPct val="100000"/>
              </a:lnSpc>
              <a:buNone/>
            </a:pPr>
            <a:r>
              <a:rPr lang="zh-CN" sz="2000" b="0" u="none" strike="noStrike">
                <a:solidFill>
                  <a:srgbClr val="000000"/>
                </a:solidFill>
                <a:effectLst/>
                <a:uFillTx/>
                <a:latin typeface="Arial"/>
              </a:rPr>
              <a:t>可用事实：</a:t>
            </a:r>
            <a:r>
              <a:rPr lang="en-US" sz="2000" b="0" u="none" strike="noStrike">
                <a:solidFill>
                  <a:srgbClr val="000000"/>
                </a:solidFill>
                <a:effectLst/>
                <a:uFillTx/>
                <a:latin typeface="Arial"/>
              </a:rPr>
              <a:t>Robinhood 2015 </a:t>
            </a:r>
            <a:r>
              <a:rPr lang="zh-CN" sz="2000" b="0" u="none" strike="noStrike">
                <a:solidFill>
                  <a:srgbClr val="000000"/>
                </a:solidFill>
                <a:effectLst/>
                <a:uFillTx/>
                <a:latin typeface="Arial"/>
              </a:rPr>
              <a:t>年 </a:t>
            </a:r>
            <a:r>
              <a:rPr lang="en-US" sz="2000" b="0" u="none" strike="noStrike">
                <a:solidFill>
                  <a:srgbClr val="000000"/>
                </a:solidFill>
                <a:effectLst/>
                <a:uFillTx/>
                <a:latin typeface="Arial"/>
              </a:rPr>
              <a:t>3 </a:t>
            </a:r>
            <a:r>
              <a:rPr lang="zh-CN" sz="2000" b="0" u="none" strike="noStrike">
                <a:solidFill>
                  <a:srgbClr val="000000"/>
                </a:solidFill>
                <a:effectLst/>
                <a:uFillTx/>
                <a:latin typeface="Arial"/>
              </a:rPr>
              <a:t>月上线，主打零佣金；</a:t>
            </a:r>
            <a:r>
              <a:rPr lang="en-US" sz="2000" b="0" u="none" strike="noStrike">
                <a:solidFill>
                  <a:srgbClr val="000000"/>
                </a:solidFill>
                <a:effectLst/>
                <a:uFillTx/>
                <a:latin typeface="Arial"/>
              </a:rPr>
              <a:t>2020 </a:t>
            </a:r>
            <a:r>
              <a:rPr lang="zh-CN" sz="2000" b="0" u="none" strike="noStrike">
                <a:solidFill>
                  <a:srgbClr val="000000"/>
                </a:solidFill>
                <a:effectLst/>
                <a:uFillTx/>
                <a:latin typeface="Arial"/>
              </a:rPr>
              <a:t>年新用户一半从未投资过；新手也能轻松交易期权。</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[V2 diagram note] The phone is an illustrative interface, not a reconstruction of actual GME price history. The diagram separates ease of access from its benefit and behavioral risk.</a:t>
            </a:r>
            <a:endParaRPr lang="en-US" sz="2000" b="0" u="none" strike="noStrike">
              <a:solidFill>
                <a:srgbClr val="000000"/>
              </a:solidFill>
              <a:effectLst/>
              <a:uFillTx/>
              <a:latin typeface="Arial"/>
            </a:endParaRPr>
          </a:p>
        </p:txBody>
      </p:sp>
      <p:sp>
        <p:nvSpPr>
          <p:cNvPr id="663"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76615DD-7851-4540-94BD-36653FA8A31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 name="PlaceHolder 1"/>
          <p:cNvSpPr>
            <a:spLocks noGrp="1"/>
          </p:cNvSpPr>
          <p:nvPr>
            <p:ph type="sldImg"/>
          </p:nvPr>
        </p:nvSpPr>
        <p:spPr>
          <a:xfrm>
            <a:off x="1143000" y="685800"/>
            <a:ext cx="4571640" cy="3428640"/>
          </a:xfrm>
          <a:prstGeom prst="rect">
            <a:avLst/>
          </a:prstGeom>
          <a:ln w="0">
            <a:noFill/>
          </a:ln>
        </p:spPr>
      </p:sp>
      <p:sp>
        <p:nvSpPr>
          <p:cNvPr id="66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second force was social media, especially Reddit’s WallStreetBets.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Social media changed the speed and scale of information transmission. Investors were constantly sharing memes, screenshots, opinions and success stories about GameStop.</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This created a strong group identity. For many participants, buying GameStop was not just an individual investment decision. It became part of a collective story of retail investors challenging Wall Street.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As the stock price increased, more people saw these gains online and experienced FOMO, or fear of missing out. This attracted even more buyers and created herd behavior.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 we can think of this as a feedback loop: more posts created more attention, more attention created more buying, and higher prices generated even more posts.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important point is that collective enthusiasm is not automatically market manipulation. But social media can amplify speculative behavior very quickly.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This is why wider market participation needs to be accompanied by better investor education, clearer risk disclosure, and responsible platform design.</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zh-CN" sz="2000" b="0" u="none" strike="noStrike">
                <a:solidFill>
                  <a:srgbClr val="000000"/>
                </a:solidFill>
                <a:effectLst/>
                <a:uFillTx/>
                <a:latin typeface="Arial"/>
              </a:rPr>
              <a:t>第 </a:t>
            </a:r>
            <a:r>
              <a:rPr lang="en-US" sz="2000" b="0" u="none" strike="noStrike">
                <a:solidFill>
                  <a:srgbClr val="000000"/>
                </a:solidFill>
                <a:effectLst/>
                <a:uFillTx/>
                <a:latin typeface="Arial"/>
              </a:rPr>
              <a:t>7 </a:t>
            </a:r>
            <a:r>
              <a:rPr lang="zh-CN" sz="2000" b="0" u="none" strike="noStrike">
                <a:solidFill>
                  <a:srgbClr val="000000"/>
                </a:solidFill>
                <a:effectLst/>
                <a:uFillTx/>
                <a:latin typeface="Arial"/>
              </a:rPr>
              <a:t>人 </a:t>
            </a:r>
            <a:r>
              <a:rPr lang="en-US" sz="2000" b="0" u="none" strike="noStrike">
                <a:solidFill>
                  <a:srgbClr val="000000"/>
                </a:solidFill>
                <a:effectLst/>
                <a:uFillTx/>
                <a:latin typeface="Arial"/>
              </a:rPr>
              <a:t>· Page 2 · </a:t>
            </a:r>
            <a:r>
              <a:rPr lang="zh-CN" sz="2000" b="0" u="none" strike="noStrike">
                <a:solidFill>
                  <a:srgbClr val="000000"/>
                </a:solidFill>
                <a:effectLst/>
                <a:uFillTx/>
                <a:latin typeface="Arial"/>
              </a:rPr>
              <a:t>群体的力量与风险</a:t>
            </a:r>
            <a:endParaRPr lang="en-US" sz="2000" b="0" u="none" strike="noStrike">
              <a:solidFill>
                <a:srgbClr val="000000"/>
              </a:solidFill>
              <a:effectLst/>
              <a:uFillTx/>
              <a:latin typeface="Arial"/>
            </a:endParaRPr>
          </a:p>
          <a:p>
            <a:pPr indent="0" algn="l">
              <a:lnSpc>
                <a:spcPct val="100000"/>
              </a:lnSpc>
              <a:buNone/>
            </a:pPr>
            <a:r>
              <a:rPr lang="zh-CN" sz="2000" b="0" u="none" strike="noStrike">
                <a:solidFill>
                  <a:srgbClr val="000000"/>
                </a:solidFill>
                <a:effectLst/>
                <a:uFillTx/>
                <a:latin typeface="Arial"/>
              </a:rPr>
              <a:t>提示：集体买入不违法，但与操纵市场的界线不清楚。</a:t>
            </a:r>
            <a:endParaRPr lang="en-US" sz="2000" b="0" u="none" strike="noStrike">
              <a:solidFill>
                <a:srgbClr val="000000"/>
              </a:solidFill>
              <a:effectLst/>
              <a:uFillTx/>
              <a:latin typeface="Arial"/>
            </a:endParaRPr>
          </a:p>
          <a:p>
            <a:pPr indent="0" algn="l">
              <a:lnSpc>
                <a:spcPct val="100000"/>
              </a:lnSpc>
              <a:buNone/>
            </a:pPr>
            <a:r>
              <a:rPr lang="zh-CN" sz="2000" b="0" u="none" strike="noStrike">
                <a:solidFill>
                  <a:srgbClr val="000000"/>
                </a:solidFill>
                <a:effectLst/>
                <a:uFillTx/>
                <a:latin typeface="Arial"/>
              </a:rPr>
              <a:t>可用事实：</a:t>
            </a:r>
            <a:r>
              <a:rPr lang="en-US" sz="2000" b="0" u="none" strike="noStrike">
                <a:solidFill>
                  <a:srgbClr val="000000"/>
                </a:solidFill>
                <a:effectLst/>
                <a:uFillTx/>
                <a:latin typeface="Arial"/>
              </a:rPr>
              <a:t>WSB </a:t>
            </a:r>
            <a:r>
              <a:rPr lang="zh-CN" sz="2000" b="0" u="none" strike="noStrike">
                <a:solidFill>
                  <a:srgbClr val="000000"/>
                </a:solidFill>
                <a:effectLst/>
                <a:uFillTx/>
                <a:latin typeface="Arial"/>
              </a:rPr>
              <a:t>单日新增订阅最高 </a:t>
            </a:r>
            <a:r>
              <a:rPr lang="en-US" sz="2000" b="0" u="none" strike="noStrike">
                <a:solidFill>
                  <a:srgbClr val="000000"/>
                </a:solidFill>
                <a:effectLst/>
                <a:uFillTx/>
                <a:latin typeface="Arial"/>
              </a:rPr>
              <a:t>110 </a:t>
            </a:r>
            <a:r>
              <a:rPr lang="zh-CN" sz="2000" b="0" u="none" strike="noStrike">
                <a:solidFill>
                  <a:srgbClr val="000000"/>
                </a:solidFill>
                <a:effectLst/>
                <a:uFillTx/>
                <a:latin typeface="Arial"/>
              </a:rPr>
              <a:t>万；口号是一起逼空、干掉对冲基金。</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[V2 diagram note] The clockwise loop expresses a qualitative reinforcement mechanism. Collective enthusiasm is not automatically market manipulation.</a:t>
            </a:r>
            <a:endParaRPr lang="en-US" sz="2000" b="0" u="none" strike="noStrike">
              <a:solidFill>
                <a:srgbClr val="000000"/>
              </a:solidFill>
              <a:effectLst/>
              <a:uFillTx/>
              <a:latin typeface="Arial"/>
            </a:endParaRPr>
          </a:p>
        </p:txBody>
      </p:sp>
      <p:sp>
        <p:nvSpPr>
          <p:cNvPr id="666"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56826ED-3609-4D0F-88EB-FCF4BCFBE58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PlaceHolder 1"/>
          <p:cNvSpPr>
            <a:spLocks noGrp="1"/>
          </p:cNvSpPr>
          <p:nvPr>
            <p:ph type="sldImg"/>
          </p:nvPr>
        </p:nvSpPr>
        <p:spPr>
          <a:xfrm>
            <a:off x="1143000" y="685800"/>
            <a:ext cx="4571640" cy="3428640"/>
          </a:xfrm>
          <a:prstGeom prst="rect">
            <a:avLst/>
          </a:prstGeom>
          <a:ln w="0">
            <a:noFill/>
          </a:ln>
        </p:spPr>
      </p:sp>
      <p:sp>
        <p:nvSpPr>
          <p:cNvPr id="66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Let me move from what caused the crowd to what the industry should do about it. Our recommendation is to manage the risks, not to punish retail investors for acting together.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First, education. Since the case tells us that half of Robinhood’s new investors in 2020 were first-timers, brokers should explain volatility, short squeezes and potential losses in simple language before users place complex trades.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Second, platform safeguards. Options are more complicated than regular share purchases. Platforms should check users’ experience and show meaningful risk warnings, rather than relying on a frictionless interface alone.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Third, regulators should monitor suspicious trading and misleading coordination, while respecting ordinary discussion on Reddit. Enthusiasm by itself is not proof of manipulation.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key is proportional protection: preserve fair market access while making brokers responsible for how their platforms influence decisions.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basis: Yeo, Yue &amp; Lee (2023), pp. 2–3, 5–6. Education, safeguards and enforcement are our group's recommendations, not specific rules prescribed by the case.</a:t>
            </a:r>
            <a:endParaRPr lang="en-US" sz="2000" b="0" u="none" strike="noStrike">
              <a:solidFill>
                <a:srgbClr val="000000"/>
              </a:solidFill>
              <a:effectLst/>
              <a:uFillTx/>
              <a:latin typeface="Arial"/>
            </a:endParaRPr>
          </a:p>
        </p:txBody>
      </p:sp>
      <p:sp>
        <p:nvSpPr>
          <p:cNvPr id="669"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B544043-3C7C-46AA-980C-8472AF9D53B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 name="PlaceHolder 1"/>
          <p:cNvSpPr>
            <a:spLocks noGrp="1"/>
          </p:cNvSpPr>
          <p:nvPr>
            <p:ph type="sldImg"/>
          </p:nvPr>
        </p:nvSpPr>
        <p:spPr>
          <a:xfrm>
            <a:off x="1143000" y="685800"/>
            <a:ext cx="4571640" cy="3428640"/>
          </a:xfrm>
          <a:prstGeom prst="rect">
            <a:avLst/>
          </a:prstGeom>
          <a:ln w="0">
            <a:noFill/>
          </a:ln>
        </p:spPr>
      </p:sp>
      <p:sp>
        <p:nvSpPr>
          <p:cNvPr id="67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Finally, the GameStop episode became a question of trust in the wider financial system. On February 18, 2021, the U.S. House Financial Services Committee heard from Robinhood CEO Vlad Tenev, retail investor Keith Gill and Melvin Capital founder Gabe Plotkin.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case ends by asking whether industry relationships are too close, whether payment for order flow needs stronger regulation, and how social-media-driven herd trading should be treated. The hearing made these tensions visible, but it did not provide one simple solution.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Across our presentation, our answer has three parts. First, do not ban legitimate short selling, but control excessive risk. Second, Robinhood’s buy-only restriction was unfair to retail customers, as our previous speakers argued. Third, respond to social-media-driven trading with education, safer products and targeted oversight — not broad restrictions on retail participation.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Ultimately, financial innovation should make markets both accessible and trustworthy. Thank you.</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Yeo, Yue &amp; Lee (2023), pp. 1, 5–6. The recommendations and overall verdict are our group’s analysis.</a:t>
            </a:r>
            <a:endParaRPr lang="en-US" sz="2000" b="0" u="none" strike="noStrike">
              <a:solidFill>
                <a:srgbClr val="000000"/>
              </a:solidFill>
              <a:effectLst/>
              <a:uFillTx/>
              <a:latin typeface="Arial"/>
            </a:endParaRPr>
          </a:p>
        </p:txBody>
      </p:sp>
      <p:sp>
        <p:nvSpPr>
          <p:cNvPr id="672"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E510A0C-5170-4AF2-B6ED-F352776BB56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 name="PlaceHolder 1"/>
          <p:cNvSpPr>
            <a:spLocks noGrp="1"/>
          </p:cNvSpPr>
          <p:nvPr>
            <p:ph type="sldImg"/>
          </p:nvPr>
        </p:nvSpPr>
        <p:spPr>
          <a:xfrm>
            <a:off x="1143000" y="685800"/>
            <a:ext cx="4571640" cy="3428640"/>
          </a:xfrm>
          <a:prstGeom prst="rect">
            <a:avLst/>
          </a:prstGeom>
          <a:ln w="0">
            <a:noFill/>
          </a:ln>
        </p:spPr>
      </p:sp>
      <p:sp>
        <p:nvSpPr>
          <p:cNvPr id="67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Thank the audience and invite questions. The group presentation is intended to remain within 20 minutes.</a:t>
            </a:r>
            <a:endParaRPr lang="en-US" sz="2000" b="0" u="none" strike="noStrike">
              <a:solidFill>
                <a:srgbClr val="000000"/>
              </a:solidFill>
              <a:effectLst/>
              <a:uFillTx/>
              <a:latin typeface="Arial"/>
            </a:endParaRPr>
          </a:p>
        </p:txBody>
      </p:sp>
      <p:sp>
        <p:nvSpPr>
          <p:cNvPr id="675"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FF3AFC8-ECBA-4273-A989-C9AA2B7CD8D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81CDF19-61B5-4230-A848-435FFE04018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14DE27C-8CBC-4D86-BEB9-6B548A165EF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D26E00D-1125-4621-8AD5-3163CCA905D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FEFBB5A-2298-45B5-806D-D4282AEB83E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14A0288-B853-4ED8-99FD-1F919CD9C947}"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50EFB73-676F-4F77-979B-CFC55A1540CD}"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C0B3169-DFD2-42DC-9A7E-07C58AA8F02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82AABB2-C067-4874-98A9-1AF0A673CA7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3D21571-616D-41B1-90B5-6C3BC898DBD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E49905D-CC3A-4015-BBE6-30B9393498E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ABBBDA1-99E9-420D-9782-DB0A33620DCD}"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2F2A"/>
        </a:solidFill>
      </p:bgPr>
    </p:bg>
    <p:spTree>
      <p:nvGrpSpPr>
        <p:cNvPr id="1" name=""/>
        <p:cNvGrpSpPr/>
        <p:nvPr/>
      </p:nvGrpSpPr>
      <p:grpSpPr>
        <a:xfrm>
          <a:off x="0" y="0"/>
          <a:ext cx="0" cy="0"/>
          <a:chOff x="0" y="0"/>
          <a:chExt cx="0" cy="0"/>
        </a:xfrm>
      </p:grpSpPr>
      <p:cxnSp>
        <p:nvCxnSpPr>
          <p:cNvPr id="67" name="footer rule"/>
          <p:cNvCxnSpPr/>
          <p:nvPr/>
        </p:nvCxnSpPr>
        <p:spPr>
          <a:xfrm>
            <a:off x="658080" y="6373080"/>
            <a:ext cx="10872720" cy="360"/>
          </a:xfrm>
          <a:prstGeom prst="straightConnector1">
            <a:avLst/>
          </a:prstGeom>
          <a:ln w="7620">
            <a:solidFill>
              <a:srgbClr val="365349"/>
            </a:solidFill>
            <a:round/>
          </a:ln>
        </p:spPr>
      </p:cxnSp>
      <p:sp>
        <p:nvSpPr>
          <p:cNvPr id="68"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AFC6BA"/>
                </a:solidFill>
                <a:effectLst/>
                <a:uFillTx/>
                <a:latin typeface="Arial"/>
              </a:rPr>
              <a:t>BMF5355 · GameStop case  /  Yeo, Yue &amp; Lee (2023)</a:t>
            </a:r>
            <a:endParaRPr lang="en-US" sz="950" b="0" u="none" strike="noStrike">
              <a:solidFill>
                <a:srgbClr val="FFFFFF"/>
              </a:solidFill>
              <a:effectLst/>
              <a:uFillTx/>
              <a:latin typeface="Arial"/>
            </a:endParaRPr>
          </a:p>
        </p:txBody>
      </p:sp>
      <p:sp>
        <p:nvSpPr>
          <p:cNvPr id="69"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AFC6BA"/>
                </a:solidFill>
                <a:effectLst/>
                <a:uFillTx/>
                <a:latin typeface="Arial"/>
              </a:rPr>
              <a:t>01 / 18</a:t>
            </a:r>
            <a:endParaRPr lang="en-US" sz="1000" b="0" u="none" strike="noStrike">
              <a:solidFill>
                <a:srgbClr val="FFFFFF"/>
              </a:solidFill>
              <a:effectLst/>
              <a:uFillTx/>
              <a:latin typeface="Arial"/>
            </a:endParaRPr>
          </a:p>
        </p:txBody>
      </p:sp>
      <p:sp>
        <p:nvSpPr>
          <p:cNvPr id="70" name="eyebrow"/>
          <p:cNvSpPr/>
          <p:nvPr/>
        </p:nvSpPr>
        <p:spPr>
          <a:xfrm>
            <a:off x="713160" y="548640"/>
            <a:ext cx="10058040" cy="246600"/>
          </a:xfrm>
          <a:prstGeom prst="rect">
            <a:avLst/>
          </a:prstGeom>
          <a:noFill/>
          <a:ln w="0">
            <a:noFill/>
          </a:ln>
        </p:spPr>
        <p:style>
          <a:lnRef idx="0"/>
          <a:fillRef idx="0"/>
          <a:effectRef idx="0"/>
          <a:fontRef idx="minor"/>
        </p:style>
        <p:txBody>
          <a:bodyPr lIns="0" tIns="9000" rIns="0" bIns="0" anchor="t">
            <a:noAutofit/>
          </a:bodyPr>
          <a:p>
            <a:pPr defTabSz="457200">
              <a:lnSpc>
                <a:spcPts val="1355"/>
              </a:lnSpc>
            </a:pPr>
            <a:r>
              <a:rPr lang="en-US" sz="1200" b="1" u="none" strike="noStrike">
                <a:solidFill>
                  <a:srgbClr val="B7D4BD"/>
                </a:solidFill>
                <a:effectLst/>
                <a:uFillTx/>
                <a:latin typeface="Arial"/>
              </a:rPr>
              <a:t>BMF5355 / CASE PRESENTATION</a:t>
            </a:r>
            <a:endParaRPr lang="en-US" sz="1200" b="0" u="none" strike="noStrike">
              <a:solidFill>
                <a:srgbClr val="FFFFFF"/>
              </a:solidFill>
              <a:effectLst/>
              <a:uFillTx/>
              <a:latin typeface="Arial"/>
            </a:endParaRPr>
          </a:p>
        </p:txBody>
      </p:sp>
      <p:sp>
        <p:nvSpPr>
          <p:cNvPr id="71" name="cover title"/>
          <p:cNvSpPr/>
          <p:nvPr/>
        </p:nvSpPr>
        <p:spPr>
          <a:xfrm>
            <a:off x="713160" y="1463040"/>
            <a:ext cx="8686440" cy="1599840"/>
          </a:xfrm>
          <a:prstGeom prst="rect">
            <a:avLst/>
          </a:prstGeom>
          <a:noFill/>
          <a:ln w="0">
            <a:noFill/>
          </a:ln>
        </p:spPr>
        <p:style>
          <a:lnRef idx="0"/>
          <a:fillRef idx="0"/>
          <a:effectRef idx="0"/>
          <a:fontRef idx="minor"/>
        </p:style>
        <p:txBody>
          <a:bodyPr lIns="0" tIns="34200" rIns="0" bIns="0" anchor="t">
            <a:noAutofit/>
          </a:bodyPr>
          <a:p>
            <a:pPr defTabSz="457200">
              <a:lnSpc>
                <a:spcPts val="4816"/>
              </a:lnSpc>
            </a:pPr>
            <a:r>
              <a:rPr lang="en-US" sz="4500" b="1" u="none" strike="noStrike">
                <a:solidFill>
                  <a:srgbClr val="FFFFFF"/>
                </a:solidFill>
                <a:effectLst/>
                <a:uFillTx/>
                <a:latin typeface="Arial"/>
              </a:rPr>
              <a:t>Robinhood and</a:t>
            </a:r>
            <a:endParaRPr lang="en-US" sz="4500" b="0" u="none" strike="noStrike">
              <a:solidFill>
                <a:srgbClr val="FFFFFF"/>
              </a:solidFill>
              <a:effectLst/>
              <a:uFillTx/>
              <a:latin typeface="Arial"/>
            </a:endParaRPr>
          </a:p>
          <a:p>
            <a:pPr defTabSz="457200">
              <a:lnSpc>
                <a:spcPts val="4816"/>
              </a:lnSpc>
            </a:pPr>
            <a:r>
              <a:rPr lang="en-US" sz="4500" b="1" u="none" strike="noStrike">
                <a:solidFill>
                  <a:srgbClr val="FFFFFF"/>
                </a:solidFill>
                <a:effectLst/>
                <a:uFillTx/>
                <a:latin typeface="Arial"/>
              </a:rPr>
              <a:t>His Merrie Men</a:t>
            </a:r>
            <a:endParaRPr lang="en-US" sz="4500" b="0" u="none" strike="noStrike">
              <a:solidFill>
                <a:srgbClr val="FFFFFF"/>
              </a:solidFill>
              <a:effectLst/>
              <a:uFillTx/>
              <a:latin typeface="Arial"/>
            </a:endParaRPr>
          </a:p>
        </p:txBody>
      </p:sp>
      <p:sp>
        <p:nvSpPr>
          <p:cNvPr id="72" name="cover subtitle"/>
          <p:cNvSpPr/>
          <p:nvPr/>
        </p:nvSpPr>
        <p:spPr>
          <a:xfrm>
            <a:off x="731520" y="3383280"/>
            <a:ext cx="9143640" cy="749520"/>
          </a:xfrm>
          <a:prstGeom prst="rect">
            <a:avLst/>
          </a:prstGeom>
          <a:noFill/>
          <a:ln w="0">
            <a:noFill/>
          </a:ln>
        </p:spPr>
        <p:style>
          <a:lnRef idx="0"/>
          <a:fillRef idx="0"/>
          <a:effectRef idx="0"/>
          <a:fontRef idx="minor"/>
        </p:style>
        <p:txBody>
          <a:bodyPr lIns="0" tIns="28080" rIns="0" bIns="0" anchor="t">
            <a:noAutofit/>
          </a:bodyPr>
          <a:p>
            <a:pPr defTabSz="457200">
              <a:lnSpc>
                <a:spcPts val="4181"/>
              </a:lnSpc>
            </a:pPr>
            <a:r>
              <a:rPr lang="en-US" sz="3700" b="1" u="none" strike="noStrike">
                <a:solidFill>
                  <a:srgbClr val="E6C792"/>
                </a:solidFill>
                <a:effectLst/>
                <a:uFillTx/>
                <a:latin typeface="Arial"/>
              </a:rPr>
              <a:t>The GameStop Saga</a:t>
            </a:r>
            <a:endParaRPr lang="en-US" sz="3700" b="0" u="none" strike="noStrike">
              <a:solidFill>
                <a:srgbClr val="FFFFFF"/>
              </a:solidFill>
              <a:effectLst/>
              <a:uFillTx/>
              <a:latin typeface="Arial"/>
            </a:endParaRPr>
          </a:p>
        </p:txBody>
      </p:sp>
      <p:cxnSp>
        <p:nvCxnSpPr>
          <p:cNvPr id="73" name="connector"/>
          <p:cNvCxnSpPr/>
          <p:nvPr/>
        </p:nvCxnSpPr>
        <p:spPr>
          <a:xfrm>
            <a:off x="731520" y="4590000"/>
            <a:ext cx="10744560" cy="360"/>
          </a:xfrm>
          <a:prstGeom prst="straightConnector1">
            <a:avLst/>
          </a:prstGeom>
          <a:ln w="11430">
            <a:solidFill>
              <a:srgbClr val="416356"/>
            </a:solidFill>
            <a:round/>
          </a:ln>
        </p:spPr>
      </p:cxnSp>
      <p:sp>
        <p:nvSpPr>
          <p:cNvPr id="74" name="eyebrow"/>
          <p:cNvSpPr/>
          <p:nvPr/>
        </p:nvSpPr>
        <p:spPr>
          <a:xfrm>
            <a:off x="731520" y="4827960"/>
            <a:ext cx="9143640" cy="246600"/>
          </a:xfrm>
          <a:prstGeom prst="rect">
            <a:avLst/>
          </a:prstGeom>
          <a:noFill/>
          <a:ln w="0">
            <a:noFill/>
          </a:ln>
        </p:spPr>
        <p:style>
          <a:lnRef idx="0"/>
          <a:fillRef idx="0"/>
          <a:effectRef idx="0"/>
          <a:fontRef idx="minor"/>
        </p:style>
        <p:txBody>
          <a:bodyPr lIns="0" tIns="7920" rIns="0" bIns="0" anchor="t">
            <a:noAutofit/>
          </a:bodyPr>
          <a:p>
            <a:pPr defTabSz="457200">
              <a:lnSpc>
                <a:spcPts val="1185"/>
              </a:lnSpc>
            </a:pPr>
            <a:r>
              <a:rPr lang="en-US" sz="1050" b="1" u="none" strike="noStrike">
                <a:solidFill>
                  <a:srgbClr val="AFC6BA"/>
                </a:solidFill>
                <a:effectLst/>
                <a:uFillTx/>
                <a:latin typeface="Arial"/>
              </a:rPr>
              <a:t>GROUP PRESENTATION</a:t>
            </a:r>
            <a:endParaRPr lang="en-US" sz="1050" b="0" u="none" strike="noStrike">
              <a:solidFill>
                <a:srgbClr val="FFFFFF"/>
              </a:solidFill>
              <a:effectLst/>
              <a:uFillTx/>
              <a:latin typeface="Arial"/>
            </a:endParaRPr>
          </a:p>
        </p:txBody>
      </p:sp>
      <p:sp>
        <p:nvSpPr>
          <p:cNvPr id="75" name="team names"/>
          <p:cNvSpPr/>
          <p:nvPr/>
        </p:nvSpPr>
        <p:spPr>
          <a:xfrm>
            <a:off x="731520" y="5175360"/>
            <a:ext cx="10560960" cy="639720"/>
          </a:xfrm>
          <a:prstGeom prst="rect">
            <a:avLst/>
          </a:prstGeom>
          <a:noFill/>
          <a:ln w="0">
            <a:noFill/>
          </a:ln>
        </p:spPr>
        <p:style>
          <a:lnRef idx="0"/>
          <a:fillRef idx="0"/>
          <a:effectRef idx="0"/>
          <a:fontRef idx="minor"/>
        </p:style>
        <p:txBody>
          <a:bodyPr lIns="0" tIns="11880" rIns="0" bIns="0" anchor="t">
            <a:noAutofit/>
          </a:bodyPr>
          <a:p>
            <a:pPr defTabSz="457200">
              <a:lnSpc>
                <a:spcPts val="2015"/>
              </a:lnSpc>
            </a:pPr>
            <a:r>
              <a:rPr lang="en-US" sz="1550" b="0" u="none" strike="noStrike">
                <a:solidFill>
                  <a:srgbClr val="D8E5DD"/>
                </a:solidFill>
                <a:effectLst/>
                <a:uFillTx/>
                <a:latin typeface="Arial"/>
              </a:rPr>
              <a:t>Ruilin Sun · Liu Yinghan · Cao Zihan · Peng Jiayi</a:t>
            </a:r>
            <a:endParaRPr lang="en-US" sz="1550" b="0" u="none" strike="noStrike">
              <a:solidFill>
                <a:srgbClr val="FFFFFF"/>
              </a:solidFill>
              <a:effectLst/>
              <a:uFillTx/>
              <a:latin typeface="Arial"/>
            </a:endParaRPr>
          </a:p>
          <a:p>
            <a:pPr defTabSz="457200">
              <a:lnSpc>
                <a:spcPts val="2015"/>
              </a:lnSpc>
            </a:pPr>
            <a:r>
              <a:rPr lang="en-US" sz="1550" b="0" u="none" strike="noStrike">
                <a:solidFill>
                  <a:srgbClr val="D8E5DD"/>
                </a:solidFill>
                <a:effectLst/>
                <a:uFillTx/>
                <a:latin typeface="Arial"/>
              </a:rPr>
              <a:t>Li Gaojie · Zou Zhihua · Guo Jing · Lu Junyu</a:t>
            </a:r>
            <a:endParaRPr lang="en-US" sz="1550" b="0" u="none" strike="noStrike">
              <a:solidFill>
                <a:srgbClr val="FFFFFF"/>
              </a:solidFill>
              <a:effectLst/>
              <a:uFillTx/>
              <a:latin typeface="Arial"/>
            </a:endParaRPr>
          </a:p>
        </p:txBody>
      </p:sp>
      <p:sp>
        <p:nvSpPr>
          <p:cNvPr id="76" name="presentation date"/>
          <p:cNvSpPr/>
          <p:nvPr/>
        </p:nvSpPr>
        <p:spPr>
          <a:xfrm>
            <a:off x="731520" y="5897880"/>
            <a:ext cx="5486040" cy="273960"/>
          </a:xfrm>
          <a:prstGeom prst="rect">
            <a:avLst/>
          </a:prstGeom>
          <a:noFill/>
          <a:ln w="0">
            <a:noFill/>
          </a:ln>
        </p:spPr>
        <p:style>
          <a:lnRef idx="0"/>
          <a:fillRef idx="0"/>
          <a:effectRef idx="0"/>
          <a:fontRef idx="minor"/>
        </p:style>
        <p:txBody>
          <a:bodyPr lIns="0" tIns="10080" rIns="0" bIns="0" anchor="t">
            <a:noAutofit/>
          </a:bodyPr>
          <a:p>
            <a:pPr defTabSz="457200">
              <a:lnSpc>
                <a:spcPts val="1468"/>
              </a:lnSpc>
            </a:pPr>
            <a:r>
              <a:rPr lang="en-US" sz="1300" b="0" u="none" strike="noStrike">
                <a:solidFill>
                  <a:srgbClr val="AFC6BA"/>
                </a:solidFill>
                <a:effectLst/>
                <a:uFillTx/>
                <a:latin typeface="Arial"/>
              </a:rPr>
              <a:t>October 15, 2026</a:t>
            </a:r>
            <a:endParaRPr lang="en-US" sz="1300" b="0" u="none" strike="noStrike">
              <a:solidFill>
                <a:srgbClr val="FFFFFF"/>
              </a:solidFill>
              <a:effectLst/>
              <a:uFillTx/>
              <a:latin typeface="Arial"/>
            </a:endParaRPr>
          </a:p>
        </p:txBody>
      </p:sp>
      <p:cxnSp>
        <p:nvCxnSpPr>
          <p:cNvPr id="77" name="connector"/>
          <p:cNvCxnSpPr/>
          <p:nvPr/>
        </p:nvCxnSpPr>
        <p:spPr>
          <a:xfrm>
            <a:off x="9829800" y="2340720"/>
            <a:ext cx="360" cy="951120"/>
          </a:xfrm>
          <a:prstGeom prst="straightConnector1">
            <a:avLst/>
          </a:prstGeom>
          <a:ln w="10160">
            <a:solidFill>
              <a:srgbClr val="3D6B56"/>
            </a:solidFill>
            <a:round/>
          </a:ln>
        </p:spPr>
      </p:cxnSp>
      <p:sp>
        <p:nvSpPr>
          <p:cNvPr id="78" name="abstract market motif"/>
          <p:cNvSpPr/>
          <p:nvPr/>
        </p:nvSpPr>
        <p:spPr>
          <a:xfrm>
            <a:off x="9747360" y="2578680"/>
            <a:ext cx="164160" cy="438480"/>
          </a:xfrm>
          <a:prstGeom prst="rect">
            <a:avLst/>
          </a:prstGeom>
          <a:solidFill>
            <a:srgbClr val="3D6B56"/>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cxnSp>
        <p:nvCxnSpPr>
          <p:cNvPr id="79" name="connector"/>
          <p:cNvCxnSpPr/>
          <p:nvPr/>
        </p:nvCxnSpPr>
        <p:spPr>
          <a:xfrm>
            <a:off x="10323360" y="1682280"/>
            <a:ext cx="360" cy="1390320"/>
          </a:xfrm>
          <a:prstGeom prst="straightConnector1">
            <a:avLst/>
          </a:prstGeom>
          <a:ln w="10160">
            <a:solidFill>
              <a:srgbClr val="4D826A"/>
            </a:solidFill>
            <a:round/>
          </a:ln>
        </p:spPr>
      </p:cxnSp>
      <p:sp>
        <p:nvSpPr>
          <p:cNvPr id="80" name="abstract market motif"/>
          <p:cNvSpPr/>
          <p:nvPr/>
        </p:nvSpPr>
        <p:spPr>
          <a:xfrm>
            <a:off x="10241280" y="1920240"/>
            <a:ext cx="164160" cy="877320"/>
          </a:xfrm>
          <a:prstGeom prst="rect">
            <a:avLst/>
          </a:prstGeom>
          <a:solidFill>
            <a:srgbClr val="4D826A"/>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cxnSp>
        <p:nvCxnSpPr>
          <p:cNvPr id="81" name="connector"/>
          <p:cNvCxnSpPr/>
          <p:nvPr/>
        </p:nvCxnSpPr>
        <p:spPr>
          <a:xfrm>
            <a:off x="10817280" y="1143000"/>
            <a:ext cx="360" cy="1737720"/>
          </a:xfrm>
          <a:prstGeom prst="straightConnector1">
            <a:avLst/>
          </a:prstGeom>
          <a:ln w="10160">
            <a:solidFill>
              <a:srgbClr val="B7D4BD"/>
            </a:solidFill>
            <a:round/>
          </a:ln>
        </p:spPr>
      </p:cxnSp>
      <p:sp>
        <p:nvSpPr>
          <p:cNvPr id="82" name="abstract market motif"/>
          <p:cNvSpPr/>
          <p:nvPr/>
        </p:nvSpPr>
        <p:spPr>
          <a:xfrm>
            <a:off x="10735200" y="1380600"/>
            <a:ext cx="164160" cy="1225080"/>
          </a:xfrm>
          <a:prstGeom prst="rect">
            <a:avLst/>
          </a:prstGeom>
          <a:solidFill>
            <a:srgbClr val="B7D4BD"/>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cxnSp>
        <p:nvCxnSpPr>
          <p:cNvPr id="83" name="connector"/>
          <p:cNvCxnSpPr/>
          <p:nvPr/>
        </p:nvCxnSpPr>
        <p:spPr>
          <a:xfrm>
            <a:off x="11310840" y="621720"/>
            <a:ext cx="360" cy="2085120"/>
          </a:xfrm>
          <a:prstGeom prst="straightConnector1">
            <a:avLst/>
          </a:prstGeom>
          <a:ln w="10160">
            <a:solidFill>
              <a:srgbClr val="E6C792"/>
            </a:solidFill>
            <a:round/>
          </a:ln>
        </p:spPr>
      </p:cxnSp>
      <p:sp>
        <p:nvSpPr>
          <p:cNvPr id="84" name="abstract market motif"/>
          <p:cNvSpPr/>
          <p:nvPr/>
        </p:nvSpPr>
        <p:spPr>
          <a:xfrm>
            <a:off x="11228760" y="859680"/>
            <a:ext cx="164160" cy="1572480"/>
          </a:xfrm>
          <a:prstGeom prst="rect">
            <a:avLst/>
          </a:prstGeom>
          <a:solidFill>
            <a:srgbClr val="E6C792"/>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5" name="eyebrow"/>
          <p:cNvSpPr/>
          <p:nvPr/>
        </p:nvSpPr>
        <p:spPr>
          <a:xfrm>
            <a:off x="9418320" y="3977640"/>
            <a:ext cx="2102760" cy="246600"/>
          </a:xfrm>
          <a:prstGeom prst="rect">
            <a:avLst/>
          </a:prstGeom>
          <a:noFill/>
          <a:ln w="0">
            <a:noFill/>
          </a:ln>
        </p:spPr>
        <p:style>
          <a:lnRef idx="0"/>
          <a:fillRef idx="0"/>
          <a:effectRef idx="0"/>
          <a:fontRef idx="minor"/>
        </p:style>
        <p:txBody>
          <a:bodyPr lIns="0" tIns="7920" rIns="0" bIns="0" anchor="t">
            <a:noAutofit/>
          </a:bodyPr>
          <a:p>
            <a:pPr defTabSz="457200">
              <a:lnSpc>
                <a:spcPts val="1185"/>
              </a:lnSpc>
            </a:pPr>
            <a:r>
              <a:rPr lang="en-US" sz="1050" b="1" u="none" strike="noStrike">
                <a:solidFill>
                  <a:srgbClr val="AFC6BA"/>
                </a:solidFill>
                <a:effectLst/>
                <a:uFillTx/>
                <a:latin typeface="Arial"/>
              </a:rPr>
              <a:t>ACCESS / RISK / TRUST</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A"/>
        </a:solidFill>
      </p:bgPr>
    </p:bg>
    <p:spTree>
      <p:nvGrpSpPr>
        <p:cNvPr id="1" name=""/>
        <p:cNvGrpSpPr/>
        <p:nvPr/>
      </p:nvGrpSpPr>
      <p:grpSpPr>
        <a:xfrm>
          <a:off x="0" y="0"/>
          <a:ext cx="0" cy="0"/>
          <a:chOff x="0" y="0"/>
          <a:chExt cx="0" cy="0"/>
        </a:xfrm>
      </p:grpSpPr>
      <p:cxnSp>
        <p:nvCxnSpPr>
          <p:cNvPr id="86" name="footer rule"/>
          <p:cNvCxnSpPr/>
          <p:nvPr/>
        </p:nvCxnSpPr>
        <p:spPr>
          <a:xfrm>
            <a:off x="658080" y="6373080"/>
            <a:ext cx="10872720" cy="360"/>
          </a:xfrm>
          <a:prstGeom prst="straightConnector1">
            <a:avLst/>
          </a:prstGeom>
          <a:ln w="7620">
            <a:solidFill>
              <a:srgbClr val="D4DDD6"/>
            </a:solidFill>
            <a:round/>
          </a:ln>
        </p:spPr>
      </p:cxnSp>
      <p:sp>
        <p:nvSpPr>
          <p:cNvPr id="87"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88"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02 / 18</a:t>
            </a:r>
            <a:endParaRPr lang="en-US" sz="1000" b="0" u="none" strike="noStrike">
              <a:solidFill>
                <a:srgbClr val="000000"/>
              </a:solidFill>
              <a:effectLst/>
              <a:uFillTx/>
              <a:latin typeface="Arial"/>
            </a:endParaRPr>
          </a:p>
        </p:txBody>
      </p:sp>
      <p:sp>
        <p:nvSpPr>
          <p:cNvPr id="89"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F7358"/>
                </a:solidFill>
                <a:effectLst/>
                <a:uFillTx/>
                <a:latin typeface="Arial"/>
              </a:rPr>
              <a:t>THE ROUTE</a:t>
            </a:r>
            <a:endParaRPr lang="en-US" sz="1150" b="0" u="none" strike="noStrike">
              <a:solidFill>
                <a:srgbClr val="000000"/>
              </a:solidFill>
              <a:effectLst/>
              <a:uFillTx/>
              <a:latin typeface="Arial"/>
            </a:endParaRPr>
          </a:p>
        </p:txBody>
      </p:sp>
      <p:sp>
        <p:nvSpPr>
          <p:cNvPr id="90" name="slide title"/>
          <p:cNvSpPr/>
          <p:nvPr/>
        </p:nvSpPr>
        <p:spPr>
          <a:xfrm>
            <a:off x="658440" y="859680"/>
            <a:ext cx="10835280" cy="676440"/>
          </a:xfrm>
          <a:prstGeom prst="rect">
            <a:avLst/>
          </a:prstGeom>
          <a:noFill/>
          <a:ln w="0">
            <a:noFill/>
          </a:ln>
        </p:spPr>
        <p:style>
          <a:lnRef idx="0"/>
          <a:fillRef idx="0"/>
          <a:effectRef idx="0"/>
          <a:fontRef idx="minor"/>
        </p:style>
        <p:txBody>
          <a:bodyPr lIns="0" tIns="27360" rIns="0" bIns="0" anchor="t">
            <a:noAutofit/>
          </a:bodyPr>
          <a:p>
            <a:pPr defTabSz="457200">
              <a:lnSpc>
                <a:spcPts val="3852"/>
              </a:lnSpc>
            </a:pPr>
            <a:r>
              <a:rPr lang="en-US" sz="3600" b="1" u="none" strike="noStrike">
                <a:solidFill>
                  <a:srgbClr val="17302B"/>
                </a:solidFill>
                <a:effectLst/>
                <a:uFillTx/>
                <a:latin typeface="Arial"/>
              </a:rPr>
              <a:t>Four questions. One market shock.</a:t>
            </a:r>
            <a:endParaRPr lang="en-US" sz="3600" b="0" u="none" strike="noStrike">
              <a:solidFill>
                <a:srgbClr val="000000"/>
              </a:solidFill>
              <a:effectLst/>
              <a:uFillTx/>
              <a:latin typeface="Arial"/>
            </a:endParaRPr>
          </a:p>
        </p:txBody>
      </p:sp>
      <p:sp>
        <p:nvSpPr>
          <p:cNvPr id="91"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From the squeeze itself to what the industry should do next</a:t>
            </a:r>
            <a:endParaRPr lang="en-US" sz="1700" b="0" u="none" strike="noStrike">
              <a:solidFill>
                <a:srgbClr val="000000"/>
              </a:solidFill>
              <a:effectLst/>
              <a:uFillTx/>
              <a:latin typeface="Arial"/>
            </a:endParaRPr>
          </a:p>
        </p:txBody>
      </p:sp>
      <p:sp>
        <p:nvSpPr>
          <p:cNvPr id="92" name="question number"/>
          <p:cNvSpPr/>
          <p:nvPr/>
        </p:nvSpPr>
        <p:spPr>
          <a:xfrm>
            <a:off x="713160" y="2176200"/>
            <a:ext cx="840960" cy="557280"/>
          </a:xfrm>
          <a:prstGeom prst="rect">
            <a:avLst/>
          </a:prstGeom>
          <a:noFill/>
          <a:ln w="0">
            <a:noFill/>
          </a:ln>
        </p:spPr>
        <p:style>
          <a:lnRef idx="0"/>
          <a:fillRef idx="0"/>
          <a:effectRef idx="0"/>
          <a:fontRef idx="minor"/>
        </p:style>
        <p:txBody>
          <a:bodyPr lIns="0" tIns="21960" rIns="0" bIns="0" anchor="t">
            <a:noAutofit/>
          </a:bodyPr>
          <a:p>
            <a:pPr defTabSz="457200">
              <a:lnSpc>
                <a:spcPts val="3277"/>
              </a:lnSpc>
            </a:pPr>
            <a:r>
              <a:rPr lang="en-US" sz="2900" b="1" u="none" strike="noStrike">
                <a:solidFill>
                  <a:srgbClr val="2F7358"/>
                </a:solidFill>
                <a:effectLst/>
                <a:uFillTx/>
                <a:latin typeface="Arial"/>
              </a:rPr>
              <a:t>Q1</a:t>
            </a:r>
            <a:endParaRPr lang="en-US" sz="2900" b="0" u="none" strike="noStrike">
              <a:solidFill>
                <a:srgbClr val="000000"/>
              </a:solidFill>
              <a:effectLst/>
              <a:uFillTx/>
              <a:latin typeface="Arial"/>
            </a:endParaRPr>
          </a:p>
        </p:txBody>
      </p:sp>
      <p:sp>
        <p:nvSpPr>
          <p:cNvPr id="93" name="agenda question"/>
          <p:cNvSpPr/>
          <p:nvPr/>
        </p:nvSpPr>
        <p:spPr>
          <a:xfrm>
            <a:off x="1847160" y="2199240"/>
            <a:ext cx="7561800" cy="758520"/>
          </a:xfrm>
          <a:prstGeom prst="rect">
            <a:avLst/>
          </a:prstGeom>
          <a:noFill/>
          <a:ln w="0">
            <a:noFill/>
          </a:ln>
        </p:spPr>
        <p:style>
          <a:lnRef idx="0"/>
          <a:fillRef idx="0"/>
          <a:effectRef idx="0"/>
          <a:fontRef idx="minor"/>
        </p:style>
        <p:txBody>
          <a:bodyPr lIns="0" tIns="17640" rIns="0" bIns="0" anchor="t">
            <a:noAutofit/>
          </a:bodyPr>
          <a:p>
            <a:pPr defTabSz="457200">
              <a:lnSpc>
                <a:spcPts val="2577"/>
              </a:lnSpc>
            </a:pPr>
            <a:r>
              <a:rPr lang="en-US" sz="2300" b="1" u="none" strike="noStrike">
                <a:solidFill>
                  <a:srgbClr val="17302B"/>
                </a:solidFill>
                <a:effectLst/>
                <a:uFillTx/>
                <a:latin typeface="Arial"/>
              </a:rPr>
              <a:t>What led to the short squeeze?</a:t>
            </a:r>
            <a:endParaRPr lang="en-US" sz="2300" b="0" u="none" strike="noStrike">
              <a:solidFill>
                <a:srgbClr val="000000"/>
              </a:solidFill>
              <a:effectLst/>
              <a:uFillTx/>
              <a:latin typeface="Arial"/>
            </a:endParaRPr>
          </a:p>
        </p:txBody>
      </p:sp>
      <p:sp>
        <p:nvSpPr>
          <p:cNvPr id="94" name="agenda section label"/>
          <p:cNvSpPr/>
          <p:nvPr/>
        </p:nvSpPr>
        <p:spPr>
          <a:xfrm>
            <a:off x="9601200" y="2286000"/>
            <a:ext cx="1901520" cy="502560"/>
          </a:xfrm>
          <a:prstGeom prst="rect">
            <a:avLst/>
          </a:prstGeom>
          <a:noFill/>
          <a:ln w="0">
            <a:noFill/>
          </a:ln>
        </p:spPr>
        <p:style>
          <a:lnRef idx="0"/>
          <a:fillRef idx="0"/>
          <a:effectRef idx="0"/>
          <a:fontRef idx="minor"/>
        </p:style>
        <p:txBody>
          <a:bodyPr lIns="0" tIns="7920" rIns="0" bIns="0" anchor="t">
            <a:noAutofit/>
          </a:bodyPr>
          <a:p>
            <a:pPr algn="r" defTabSz="457200">
              <a:lnSpc>
                <a:spcPts val="1208"/>
              </a:lnSpc>
            </a:pPr>
            <a:r>
              <a:rPr lang="en-US" sz="1050" b="1" u="none" strike="noStrike">
                <a:solidFill>
                  <a:srgbClr val="2F7358"/>
                </a:solidFill>
                <a:effectLst/>
                <a:uFillTx/>
                <a:latin typeface="Arial"/>
              </a:rPr>
              <a:t>CAUSES</a:t>
            </a:r>
            <a:endParaRPr lang="en-US" sz="1050" b="0" u="none" strike="noStrike">
              <a:solidFill>
                <a:srgbClr val="000000"/>
              </a:solidFill>
              <a:effectLst/>
              <a:uFillTx/>
              <a:latin typeface="Arial"/>
            </a:endParaRPr>
          </a:p>
        </p:txBody>
      </p:sp>
      <p:cxnSp>
        <p:nvCxnSpPr>
          <p:cNvPr id="95" name="connector"/>
          <p:cNvCxnSpPr/>
          <p:nvPr/>
        </p:nvCxnSpPr>
        <p:spPr>
          <a:xfrm>
            <a:off x="713160" y="2999160"/>
            <a:ext cx="10762920" cy="360"/>
          </a:xfrm>
          <a:prstGeom prst="straightConnector1">
            <a:avLst/>
          </a:prstGeom>
          <a:ln w="8255">
            <a:solidFill>
              <a:srgbClr val="D4DDD6"/>
            </a:solidFill>
            <a:round/>
          </a:ln>
        </p:spPr>
      </p:cxnSp>
      <p:sp>
        <p:nvSpPr>
          <p:cNvPr id="96" name="question number"/>
          <p:cNvSpPr/>
          <p:nvPr/>
        </p:nvSpPr>
        <p:spPr>
          <a:xfrm>
            <a:off x="713160" y="3127320"/>
            <a:ext cx="840960" cy="557280"/>
          </a:xfrm>
          <a:prstGeom prst="rect">
            <a:avLst/>
          </a:prstGeom>
          <a:noFill/>
          <a:ln w="0">
            <a:noFill/>
          </a:ln>
        </p:spPr>
        <p:style>
          <a:lnRef idx="0"/>
          <a:fillRef idx="0"/>
          <a:effectRef idx="0"/>
          <a:fontRef idx="minor"/>
        </p:style>
        <p:txBody>
          <a:bodyPr lIns="0" tIns="21960" rIns="0" bIns="0" anchor="t">
            <a:noAutofit/>
          </a:bodyPr>
          <a:p>
            <a:pPr defTabSz="457200">
              <a:lnSpc>
                <a:spcPts val="3277"/>
              </a:lnSpc>
            </a:pPr>
            <a:r>
              <a:rPr lang="en-US" sz="2900" b="1" u="none" strike="noStrike">
                <a:solidFill>
                  <a:srgbClr val="855E26"/>
                </a:solidFill>
                <a:effectLst/>
                <a:uFillTx/>
                <a:latin typeface="Arial"/>
              </a:rPr>
              <a:t>Q2</a:t>
            </a:r>
            <a:endParaRPr lang="en-US" sz="2900" b="0" u="none" strike="noStrike">
              <a:solidFill>
                <a:srgbClr val="000000"/>
              </a:solidFill>
              <a:effectLst/>
              <a:uFillTx/>
              <a:latin typeface="Arial"/>
            </a:endParaRPr>
          </a:p>
        </p:txBody>
      </p:sp>
      <p:sp>
        <p:nvSpPr>
          <p:cNvPr id="97" name="agenda question"/>
          <p:cNvSpPr/>
          <p:nvPr/>
        </p:nvSpPr>
        <p:spPr>
          <a:xfrm>
            <a:off x="1847160" y="3150000"/>
            <a:ext cx="7561800" cy="758520"/>
          </a:xfrm>
          <a:prstGeom prst="rect">
            <a:avLst/>
          </a:prstGeom>
          <a:noFill/>
          <a:ln w="0">
            <a:noFill/>
          </a:ln>
        </p:spPr>
        <p:style>
          <a:lnRef idx="0"/>
          <a:fillRef idx="0"/>
          <a:effectRef idx="0"/>
          <a:fontRef idx="minor"/>
        </p:style>
        <p:txBody>
          <a:bodyPr lIns="0" tIns="17640" rIns="0" bIns="0" anchor="t">
            <a:noAutofit/>
          </a:bodyPr>
          <a:p>
            <a:pPr defTabSz="457200">
              <a:lnSpc>
                <a:spcPts val="2577"/>
              </a:lnSpc>
            </a:pPr>
            <a:r>
              <a:rPr lang="en-US" sz="2300" b="1" u="none" strike="noStrike">
                <a:solidFill>
                  <a:srgbClr val="17302B"/>
                </a:solidFill>
                <a:effectLst/>
                <a:uFillTx/>
                <a:latin typeface="Arial"/>
              </a:rPr>
              <a:t>Should short selling be banned?</a:t>
            </a:r>
            <a:endParaRPr lang="en-US" sz="2300" b="0" u="none" strike="noStrike">
              <a:solidFill>
                <a:srgbClr val="000000"/>
              </a:solidFill>
              <a:effectLst/>
              <a:uFillTx/>
              <a:latin typeface="Arial"/>
            </a:endParaRPr>
          </a:p>
        </p:txBody>
      </p:sp>
      <p:sp>
        <p:nvSpPr>
          <p:cNvPr id="98" name="agenda section label"/>
          <p:cNvSpPr/>
          <p:nvPr/>
        </p:nvSpPr>
        <p:spPr>
          <a:xfrm>
            <a:off x="9601200" y="3237120"/>
            <a:ext cx="1901520" cy="502560"/>
          </a:xfrm>
          <a:prstGeom prst="rect">
            <a:avLst/>
          </a:prstGeom>
          <a:noFill/>
          <a:ln w="0">
            <a:noFill/>
          </a:ln>
        </p:spPr>
        <p:style>
          <a:lnRef idx="0"/>
          <a:fillRef idx="0"/>
          <a:effectRef idx="0"/>
          <a:fontRef idx="minor"/>
        </p:style>
        <p:txBody>
          <a:bodyPr lIns="0" tIns="7920" rIns="0" bIns="0" anchor="t">
            <a:noAutofit/>
          </a:bodyPr>
          <a:p>
            <a:pPr algn="r" defTabSz="457200">
              <a:lnSpc>
                <a:spcPts val="1208"/>
              </a:lnSpc>
            </a:pPr>
            <a:r>
              <a:rPr lang="en-US" sz="1050" b="1" u="none" strike="noStrike">
                <a:solidFill>
                  <a:srgbClr val="855E26"/>
                </a:solidFill>
                <a:effectLst/>
                <a:uFillTx/>
                <a:latin typeface="Arial"/>
              </a:rPr>
              <a:t>MARKET RULES</a:t>
            </a:r>
            <a:endParaRPr lang="en-US" sz="1050" b="0" u="none" strike="noStrike">
              <a:solidFill>
                <a:srgbClr val="000000"/>
              </a:solidFill>
              <a:effectLst/>
              <a:uFillTx/>
              <a:latin typeface="Arial"/>
            </a:endParaRPr>
          </a:p>
        </p:txBody>
      </p:sp>
      <p:cxnSp>
        <p:nvCxnSpPr>
          <p:cNvPr id="99" name="connector"/>
          <p:cNvCxnSpPr/>
          <p:nvPr/>
        </p:nvCxnSpPr>
        <p:spPr>
          <a:xfrm>
            <a:off x="713160" y="3949920"/>
            <a:ext cx="10762920" cy="360"/>
          </a:xfrm>
          <a:prstGeom prst="straightConnector1">
            <a:avLst/>
          </a:prstGeom>
          <a:ln w="8255">
            <a:solidFill>
              <a:srgbClr val="D4DDD6"/>
            </a:solidFill>
            <a:round/>
          </a:ln>
        </p:spPr>
      </p:cxnSp>
      <p:sp>
        <p:nvSpPr>
          <p:cNvPr id="100" name="question number"/>
          <p:cNvSpPr/>
          <p:nvPr/>
        </p:nvSpPr>
        <p:spPr>
          <a:xfrm>
            <a:off x="713160" y="4078080"/>
            <a:ext cx="840960" cy="557280"/>
          </a:xfrm>
          <a:prstGeom prst="rect">
            <a:avLst/>
          </a:prstGeom>
          <a:noFill/>
          <a:ln w="0">
            <a:noFill/>
          </a:ln>
        </p:spPr>
        <p:style>
          <a:lnRef idx="0"/>
          <a:fillRef idx="0"/>
          <a:effectRef idx="0"/>
          <a:fontRef idx="minor"/>
        </p:style>
        <p:txBody>
          <a:bodyPr lIns="0" tIns="21960" rIns="0" bIns="0" anchor="t">
            <a:noAutofit/>
          </a:bodyPr>
          <a:p>
            <a:pPr defTabSz="457200">
              <a:lnSpc>
                <a:spcPts val="3277"/>
              </a:lnSpc>
            </a:pPr>
            <a:r>
              <a:rPr lang="en-US" sz="2900" b="1" u="none" strike="noStrike">
                <a:solidFill>
                  <a:srgbClr val="B13F36"/>
                </a:solidFill>
                <a:effectLst/>
                <a:uFillTx/>
                <a:latin typeface="Arial"/>
              </a:rPr>
              <a:t>Q3</a:t>
            </a:r>
            <a:endParaRPr lang="en-US" sz="2900" b="0" u="none" strike="noStrike">
              <a:solidFill>
                <a:srgbClr val="000000"/>
              </a:solidFill>
              <a:effectLst/>
              <a:uFillTx/>
              <a:latin typeface="Arial"/>
            </a:endParaRPr>
          </a:p>
        </p:txBody>
      </p:sp>
      <p:sp>
        <p:nvSpPr>
          <p:cNvPr id="101" name="agenda question"/>
          <p:cNvSpPr/>
          <p:nvPr/>
        </p:nvSpPr>
        <p:spPr>
          <a:xfrm>
            <a:off x="1847160" y="4101120"/>
            <a:ext cx="7561800" cy="758520"/>
          </a:xfrm>
          <a:prstGeom prst="rect">
            <a:avLst/>
          </a:prstGeom>
          <a:noFill/>
          <a:ln w="0">
            <a:noFill/>
          </a:ln>
        </p:spPr>
        <p:style>
          <a:lnRef idx="0"/>
          <a:fillRef idx="0"/>
          <a:effectRef idx="0"/>
          <a:fontRef idx="minor"/>
        </p:style>
        <p:txBody>
          <a:bodyPr lIns="0" tIns="17640" rIns="0" bIns="0" anchor="t">
            <a:noAutofit/>
          </a:bodyPr>
          <a:p>
            <a:pPr defTabSz="457200">
              <a:lnSpc>
                <a:spcPts val="2577"/>
              </a:lnSpc>
            </a:pPr>
            <a:r>
              <a:rPr lang="en-US" sz="2300" b="1" u="none" strike="noStrike">
                <a:solidFill>
                  <a:srgbClr val="17302B"/>
                </a:solidFill>
                <a:effectLst/>
                <a:uFillTx/>
                <a:latin typeface="Arial"/>
              </a:rPr>
              <a:t>Was Robinhood justified in stopping customers from</a:t>
            </a:r>
            <a:endParaRPr lang="en-US" sz="2300" b="0" u="none" strike="noStrike">
              <a:solidFill>
                <a:srgbClr val="000000"/>
              </a:solidFill>
              <a:effectLst/>
              <a:uFillTx/>
              <a:latin typeface="Arial"/>
            </a:endParaRPr>
          </a:p>
          <a:p>
            <a:pPr defTabSz="457200">
              <a:lnSpc>
                <a:spcPts val="2577"/>
              </a:lnSpc>
            </a:pPr>
            <a:r>
              <a:rPr lang="en-US" sz="2300" b="1" u="none" strike="noStrike">
                <a:solidFill>
                  <a:srgbClr val="17302B"/>
                </a:solidFill>
                <a:effectLst/>
                <a:uFillTx/>
                <a:latin typeface="Arial"/>
              </a:rPr>
              <a:t>buying GME?</a:t>
            </a:r>
            <a:endParaRPr lang="en-US" sz="2300" b="0" u="none" strike="noStrike">
              <a:solidFill>
                <a:srgbClr val="000000"/>
              </a:solidFill>
              <a:effectLst/>
              <a:uFillTx/>
              <a:latin typeface="Arial"/>
            </a:endParaRPr>
          </a:p>
        </p:txBody>
      </p:sp>
      <p:sp>
        <p:nvSpPr>
          <p:cNvPr id="102" name="agenda section label"/>
          <p:cNvSpPr/>
          <p:nvPr/>
        </p:nvSpPr>
        <p:spPr>
          <a:xfrm>
            <a:off x="9601200" y="4187880"/>
            <a:ext cx="1901520" cy="502560"/>
          </a:xfrm>
          <a:prstGeom prst="rect">
            <a:avLst/>
          </a:prstGeom>
          <a:noFill/>
          <a:ln w="0">
            <a:noFill/>
          </a:ln>
        </p:spPr>
        <p:style>
          <a:lnRef idx="0"/>
          <a:fillRef idx="0"/>
          <a:effectRef idx="0"/>
          <a:fontRef idx="minor"/>
        </p:style>
        <p:txBody>
          <a:bodyPr lIns="0" tIns="7920" rIns="0" bIns="0" anchor="t">
            <a:noAutofit/>
          </a:bodyPr>
          <a:p>
            <a:pPr algn="r" defTabSz="457200">
              <a:lnSpc>
                <a:spcPts val="1208"/>
              </a:lnSpc>
            </a:pPr>
            <a:r>
              <a:rPr lang="en-US" sz="1050" b="1" u="none" strike="noStrike">
                <a:solidFill>
                  <a:srgbClr val="B13F36"/>
                </a:solidFill>
                <a:effectLst/>
                <a:uFillTx/>
                <a:latin typeface="Arial"/>
              </a:rPr>
              <a:t>PLATFORM</a:t>
            </a:r>
            <a:endParaRPr lang="en-US" sz="1050" b="0" u="none" strike="noStrike">
              <a:solidFill>
                <a:srgbClr val="000000"/>
              </a:solidFill>
              <a:effectLst/>
              <a:uFillTx/>
              <a:latin typeface="Arial"/>
            </a:endParaRPr>
          </a:p>
          <a:p>
            <a:pPr algn="r" defTabSz="457200">
              <a:lnSpc>
                <a:spcPts val="1208"/>
              </a:lnSpc>
            </a:pPr>
            <a:r>
              <a:rPr lang="en-US" sz="1050" b="1" u="none" strike="noStrike">
                <a:solidFill>
                  <a:srgbClr val="B13F36"/>
                </a:solidFill>
                <a:effectLst/>
                <a:uFillTx/>
                <a:latin typeface="Arial"/>
              </a:rPr>
              <a:t>RESPONSIBILITY</a:t>
            </a:r>
            <a:endParaRPr lang="en-US" sz="1050" b="0" u="none" strike="noStrike">
              <a:solidFill>
                <a:srgbClr val="000000"/>
              </a:solidFill>
              <a:effectLst/>
              <a:uFillTx/>
              <a:latin typeface="Arial"/>
            </a:endParaRPr>
          </a:p>
        </p:txBody>
      </p:sp>
      <p:cxnSp>
        <p:nvCxnSpPr>
          <p:cNvPr id="103" name="connector"/>
          <p:cNvCxnSpPr/>
          <p:nvPr/>
        </p:nvCxnSpPr>
        <p:spPr>
          <a:xfrm>
            <a:off x="713160" y="4901040"/>
            <a:ext cx="10762920" cy="360"/>
          </a:xfrm>
          <a:prstGeom prst="straightConnector1">
            <a:avLst/>
          </a:prstGeom>
          <a:ln w="8255">
            <a:solidFill>
              <a:srgbClr val="D4DDD6"/>
            </a:solidFill>
            <a:round/>
          </a:ln>
        </p:spPr>
      </p:cxnSp>
      <p:sp>
        <p:nvSpPr>
          <p:cNvPr id="104" name="question number"/>
          <p:cNvSpPr/>
          <p:nvPr/>
        </p:nvSpPr>
        <p:spPr>
          <a:xfrm>
            <a:off x="713160" y="5029200"/>
            <a:ext cx="840960" cy="557280"/>
          </a:xfrm>
          <a:prstGeom prst="rect">
            <a:avLst/>
          </a:prstGeom>
          <a:noFill/>
          <a:ln w="0">
            <a:noFill/>
          </a:ln>
        </p:spPr>
        <p:style>
          <a:lnRef idx="0"/>
          <a:fillRef idx="0"/>
          <a:effectRef idx="0"/>
          <a:fontRef idx="minor"/>
        </p:style>
        <p:txBody>
          <a:bodyPr lIns="0" tIns="21960" rIns="0" bIns="0" anchor="t">
            <a:noAutofit/>
          </a:bodyPr>
          <a:p>
            <a:pPr defTabSz="457200">
              <a:lnSpc>
                <a:spcPts val="3277"/>
              </a:lnSpc>
            </a:pPr>
            <a:r>
              <a:rPr lang="en-US" sz="2900" b="1" u="none" strike="noStrike">
                <a:solidFill>
                  <a:srgbClr val="6D5A99"/>
                </a:solidFill>
                <a:effectLst/>
                <a:uFillTx/>
                <a:latin typeface="Arial"/>
              </a:rPr>
              <a:t>Q4</a:t>
            </a:r>
            <a:endParaRPr lang="en-US" sz="2900" b="0" u="none" strike="noStrike">
              <a:solidFill>
                <a:srgbClr val="000000"/>
              </a:solidFill>
              <a:effectLst/>
              <a:uFillTx/>
              <a:latin typeface="Arial"/>
            </a:endParaRPr>
          </a:p>
        </p:txBody>
      </p:sp>
      <p:sp>
        <p:nvSpPr>
          <p:cNvPr id="105" name="agenda question"/>
          <p:cNvSpPr/>
          <p:nvPr/>
        </p:nvSpPr>
        <p:spPr>
          <a:xfrm>
            <a:off x="1847160" y="5052240"/>
            <a:ext cx="7561800" cy="758520"/>
          </a:xfrm>
          <a:prstGeom prst="rect">
            <a:avLst/>
          </a:prstGeom>
          <a:noFill/>
          <a:ln w="0">
            <a:noFill/>
          </a:ln>
        </p:spPr>
        <p:style>
          <a:lnRef idx="0"/>
          <a:fillRef idx="0"/>
          <a:effectRef idx="0"/>
          <a:fontRef idx="minor"/>
        </p:style>
        <p:txBody>
          <a:bodyPr lIns="0" tIns="17640" rIns="0" bIns="0" anchor="t">
            <a:noAutofit/>
          </a:bodyPr>
          <a:p>
            <a:pPr defTabSz="457200">
              <a:lnSpc>
                <a:spcPts val="2577"/>
              </a:lnSpc>
            </a:pPr>
            <a:r>
              <a:rPr lang="en-US" sz="2300" b="1" u="none" strike="noStrike">
                <a:solidFill>
                  <a:srgbClr val="17302B"/>
                </a:solidFill>
                <a:effectLst/>
                <a:uFillTx/>
                <a:latin typeface="Arial"/>
              </a:rPr>
              <a:t>How should the industry deal with “the mob”?</a:t>
            </a:r>
            <a:endParaRPr lang="en-US" sz="2300" b="0" u="none" strike="noStrike">
              <a:solidFill>
                <a:srgbClr val="000000"/>
              </a:solidFill>
              <a:effectLst/>
              <a:uFillTx/>
              <a:latin typeface="Arial"/>
            </a:endParaRPr>
          </a:p>
        </p:txBody>
      </p:sp>
      <p:sp>
        <p:nvSpPr>
          <p:cNvPr id="106" name="agenda section label"/>
          <p:cNvSpPr/>
          <p:nvPr/>
        </p:nvSpPr>
        <p:spPr>
          <a:xfrm>
            <a:off x="9601200" y="5139000"/>
            <a:ext cx="1901520" cy="502560"/>
          </a:xfrm>
          <a:prstGeom prst="rect">
            <a:avLst/>
          </a:prstGeom>
          <a:noFill/>
          <a:ln w="0">
            <a:noFill/>
          </a:ln>
        </p:spPr>
        <p:style>
          <a:lnRef idx="0"/>
          <a:fillRef idx="0"/>
          <a:effectRef idx="0"/>
          <a:fontRef idx="minor"/>
        </p:style>
        <p:txBody>
          <a:bodyPr lIns="0" tIns="7920" rIns="0" bIns="0" anchor="t">
            <a:noAutofit/>
          </a:bodyPr>
          <a:p>
            <a:pPr algn="r" defTabSz="457200">
              <a:lnSpc>
                <a:spcPts val="1208"/>
              </a:lnSpc>
            </a:pPr>
            <a:r>
              <a:rPr lang="en-US" sz="1050" b="1" u="none" strike="noStrike">
                <a:solidFill>
                  <a:srgbClr val="6D5A99"/>
                </a:solidFill>
                <a:effectLst/>
                <a:uFillTx/>
                <a:latin typeface="Arial"/>
              </a:rPr>
              <a:t>INDUSTRY RESPONSE</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A"/>
        </a:solidFill>
      </p:bgPr>
    </p:bg>
    <p:spTree>
      <p:nvGrpSpPr>
        <p:cNvPr id="1" name=""/>
        <p:cNvGrpSpPr/>
        <p:nvPr/>
      </p:nvGrpSpPr>
      <p:grpSpPr>
        <a:xfrm>
          <a:off x="0" y="0"/>
          <a:ext cx="0" cy="0"/>
          <a:chOff x="0" y="0"/>
          <a:chExt cx="0" cy="0"/>
        </a:xfrm>
      </p:grpSpPr>
      <p:cxnSp>
        <p:nvCxnSpPr>
          <p:cNvPr id="107" name="footer rule"/>
          <p:cNvCxnSpPr/>
          <p:nvPr/>
        </p:nvCxnSpPr>
        <p:spPr>
          <a:xfrm>
            <a:off x="658080" y="6373080"/>
            <a:ext cx="10872720" cy="360"/>
          </a:xfrm>
          <a:prstGeom prst="straightConnector1">
            <a:avLst/>
          </a:prstGeom>
          <a:ln w="7620">
            <a:solidFill>
              <a:srgbClr val="D4DDD6"/>
            </a:solidFill>
            <a:round/>
          </a:ln>
        </p:spPr>
      </p:cxnSp>
      <p:sp>
        <p:nvSpPr>
          <p:cNvPr id="108"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109" name="speaker footer"/>
          <p:cNvSpPr/>
          <p:nvPr/>
        </p:nvSpPr>
        <p:spPr>
          <a:xfrm>
            <a:off x="7223760" y="6473880"/>
            <a:ext cx="3474360" cy="182520"/>
          </a:xfrm>
          <a:prstGeom prst="rect">
            <a:avLst/>
          </a:prstGeom>
          <a:noFill/>
          <a:ln w="0">
            <a:noFill/>
          </a:ln>
        </p:spPr>
        <p:style>
          <a:lnRef idx="0"/>
          <a:fillRef idx="0"/>
          <a:effectRef idx="0"/>
          <a:fontRef idx="minor"/>
        </p:style>
        <p:txBody>
          <a:bodyPr lIns="0" tIns="7200" rIns="0" bIns="0" anchor="t">
            <a:noAutofit/>
          </a:bodyPr>
          <a:p>
            <a:pPr algn="r" defTabSz="457200">
              <a:lnSpc>
                <a:spcPts val="1074"/>
              </a:lnSpc>
            </a:pPr>
            <a:r>
              <a:rPr lang="en-US" sz="950" b="0" u="none" strike="noStrike">
                <a:solidFill>
                  <a:srgbClr val="5E6B65"/>
                </a:solidFill>
                <a:effectLst/>
                <a:uFillTx/>
                <a:latin typeface="Arial"/>
              </a:rPr>
              <a:t>Ruilin Sun</a:t>
            </a:r>
            <a:endParaRPr lang="en-US" sz="950" b="0" u="none" strike="noStrike">
              <a:solidFill>
                <a:srgbClr val="000000"/>
              </a:solidFill>
              <a:effectLst/>
              <a:uFillTx/>
              <a:latin typeface="Arial"/>
            </a:endParaRPr>
          </a:p>
        </p:txBody>
      </p:sp>
      <p:sp>
        <p:nvSpPr>
          <p:cNvPr id="110"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03 / 18</a:t>
            </a:r>
            <a:endParaRPr lang="en-US" sz="1000" b="0" u="none" strike="noStrike">
              <a:solidFill>
                <a:srgbClr val="000000"/>
              </a:solidFill>
              <a:effectLst/>
              <a:uFillTx/>
              <a:latin typeface="Arial"/>
            </a:endParaRPr>
          </a:p>
        </p:txBody>
      </p:sp>
      <p:sp>
        <p:nvSpPr>
          <p:cNvPr id="111"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F7358"/>
                </a:solidFill>
                <a:effectLst/>
                <a:uFillTx/>
                <a:latin typeface="Arial"/>
              </a:rPr>
              <a:t>Q1 / THE COMPANY</a:t>
            </a:r>
            <a:endParaRPr lang="en-US" sz="1150" b="0" u="none" strike="noStrike">
              <a:solidFill>
                <a:srgbClr val="000000"/>
              </a:solidFill>
              <a:effectLst/>
              <a:uFillTx/>
              <a:latin typeface="Arial"/>
            </a:endParaRPr>
          </a:p>
        </p:txBody>
      </p:sp>
      <p:sp>
        <p:nvSpPr>
          <p:cNvPr id="112" name="slide title"/>
          <p:cNvSpPr/>
          <p:nvPr/>
        </p:nvSpPr>
        <p:spPr>
          <a:xfrm>
            <a:off x="658440" y="859680"/>
            <a:ext cx="10835280" cy="676440"/>
          </a:xfrm>
          <a:prstGeom prst="rect">
            <a:avLst/>
          </a:prstGeom>
          <a:noFill/>
          <a:ln w="0">
            <a:noFill/>
          </a:ln>
        </p:spPr>
        <p:style>
          <a:lnRef idx="0"/>
          <a:fillRef idx="0"/>
          <a:effectRef idx="0"/>
          <a:fontRef idx="minor"/>
        </p:style>
        <p:txBody>
          <a:bodyPr lIns="0" tIns="25200" rIns="0" bIns="0" anchor="t">
            <a:noAutofit/>
          </a:bodyPr>
          <a:p>
            <a:pPr defTabSz="457200">
              <a:lnSpc>
                <a:spcPts val="3532"/>
              </a:lnSpc>
            </a:pPr>
            <a:r>
              <a:rPr lang="en-US" sz="3300" b="1" u="none" strike="noStrike">
                <a:solidFill>
                  <a:srgbClr val="17302B"/>
                </a:solidFill>
                <a:effectLst/>
                <a:uFillTx/>
                <a:latin typeface="Arial"/>
              </a:rPr>
              <a:t>A disc store in a download world</a:t>
            </a:r>
            <a:endParaRPr lang="en-US" sz="3300" b="0" u="none" strike="noStrike">
              <a:solidFill>
                <a:srgbClr val="000000"/>
              </a:solidFill>
              <a:effectLst/>
              <a:uFillTx/>
              <a:latin typeface="Arial"/>
            </a:endParaRPr>
          </a:p>
        </p:txBody>
      </p:sp>
      <p:sp>
        <p:nvSpPr>
          <p:cNvPr id="113"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Why the market had written GameStop off by 2020</a:t>
            </a:r>
            <a:endParaRPr lang="en-US" sz="1700" b="0" u="none" strike="noStrike">
              <a:solidFill>
                <a:srgbClr val="000000"/>
              </a:solidFill>
              <a:effectLst/>
              <a:uFillTx/>
              <a:latin typeface="Arial"/>
            </a:endParaRPr>
          </a:p>
        </p:txBody>
      </p:sp>
      <p:sp>
        <p:nvSpPr>
          <p:cNvPr id="114" name="eyebrow"/>
          <p:cNvSpPr/>
          <p:nvPr/>
        </p:nvSpPr>
        <p:spPr>
          <a:xfrm>
            <a:off x="713160" y="2221920"/>
            <a:ext cx="402300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F7358"/>
                </a:solidFill>
                <a:effectLst/>
                <a:uFillTx/>
                <a:latin typeface="Arial"/>
              </a:rPr>
              <a:t>THE BUSINESS</a:t>
            </a:r>
            <a:endParaRPr lang="en-US" sz="1150" b="0" u="none" strike="noStrike">
              <a:solidFill>
                <a:srgbClr val="000000"/>
              </a:solidFill>
              <a:effectLst/>
              <a:uFillTx/>
              <a:latin typeface="Arial"/>
            </a:endParaRPr>
          </a:p>
        </p:txBody>
      </p:sp>
      <p:sp>
        <p:nvSpPr>
          <p:cNvPr id="115" name="business point"/>
          <p:cNvSpPr/>
          <p:nvPr/>
        </p:nvSpPr>
        <p:spPr>
          <a:xfrm>
            <a:off x="713160" y="2487240"/>
            <a:ext cx="4041360" cy="356400"/>
          </a:xfrm>
          <a:prstGeom prst="rect">
            <a:avLst/>
          </a:prstGeom>
          <a:noFill/>
          <a:ln w="0">
            <a:noFill/>
          </a:ln>
        </p:spPr>
        <p:style>
          <a:lnRef idx="0"/>
          <a:fillRef idx="0"/>
          <a:effectRef idx="0"/>
          <a:fontRef idx="minor"/>
        </p:style>
        <p:txBody>
          <a:bodyPr lIns="0" tIns="15840" rIns="0" bIns="0" anchor="t">
            <a:noAutofit/>
          </a:bodyPr>
          <a:p>
            <a:pPr defTabSz="457200">
              <a:lnSpc>
                <a:spcPts val="2373"/>
              </a:lnSpc>
            </a:pPr>
            <a:r>
              <a:rPr lang="en-US" sz="2100" b="1" u="none" strike="noStrike">
                <a:solidFill>
                  <a:srgbClr val="17302B"/>
                </a:solidFill>
                <a:effectLst/>
                <a:uFillTx/>
                <a:latin typeface="Arial"/>
              </a:rPr>
              <a:t>America’s video-game store</a:t>
            </a:r>
            <a:endParaRPr lang="en-US" sz="2100" b="0" u="none" strike="noStrike">
              <a:solidFill>
                <a:srgbClr val="000000"/>
              </a:solidFill>
              <a:effectLst/>
              <a:uFillTx/>
              <a:latin typeface="Arial"/>
            </a:endParaRPr>
          </a:p>
        </p:txBody>
      </p:sp>
      <p:sp>
        <p:nvSpPr>
          <p:cNvPr id="116" name="business explanation"/>
          <p:cNvSpPr/>
          <p:nvPr/>
        </p:nvSpPr>
        <p:spPr>
          <a:xfrm>
            <a:off x="713160" y="2880360"/>
            <a:ext cx="4041360" cy="502560"/>
          </a:xfrm>
          <a:prstGeom prst="rect">
            <a:avLst/>
          </a:prstGeom>
          <a:noFill/>
          <a:ln w="0">
            <a:noFill/>
          </a:ln>
        </p:spPr>
        <p:style>
          <a:lnRef idx="0"/>
          <a:fillRef idx="0"/>
          <a:effectRef idx="0"/>
          <a:fontRef idx="minor"/>
        </p:style>
        <p:txBody>
          <a:bodyPr lIns="0" tIns="12240" rIns="0" bIns="0" anchor="t">
            <a:noAutofit/>
          </a:bodyPr>
          <a:p>
            <a:pPr defTabSz="457200">
              <a:lnSpc>
                <a:spcPts val="1760"/>
              </a:lnSpc>
            </a:pPr>
            <a:r>
              <a:rPr lang="en-US" sz="1600" b="0" u="none" strike="noStrike">
                <a:solidFill>
                  <a:srgbClr val="5E6B65"/>
                </a:solidFill>
                <a:effectLst/>
                <a:uFillTx/>
                <a:latin typeface="Arial"/>
              </a:rPr>
              <a:t>Buy new, trade in, resell.</a:t>
            </a:r>
            <a:endParaRPr lang="en-US" sz="1600" b="0" u="none" strike="noStrike">
              <a:solidFill>
                <a:srgbClr val="000000"/>
              </a:solidFill>
              <a:effectLst/>
              <a:uFillTx/>
              <a:latin typeface="Arial"/>
            </a:endParaRPr>
          </a:p>
          <a:p>
            <a:pPr defTabSz="457200">
              <a:lnSpc>
                <a:spcPts val="1760"/>
              </a:lnSpc>
            </a:pPr>
            <a:r>
              <a:rPr lang="en-US" sz="1600" b="0" u="none" strike="noStrike">
                <a:solidFill>
                  <a:srgbClr val="5E6B65"/>
                </a:solidFill>
                <a:effectLst/>
                <a:uFillTx/>
                <a:latin typeface="Arial"/>
              </a:rPr>
              <a:t>4,816 stores.</a:t>
            </a:r>
            <a:endParaRPr lang="en-US" sz="1600" b="0" u="none" strike="noStrike">
              <a:solidFill>
                <a:srgbClr val="000000"/>
              </a:solidFill>
              <a:effectLst/>
              <a:uFillTx/>
              <a:latin typeface="Arial"/>
            </a:endParaRPr>
          </a:p>
        </p:txBody>
      </p:sp>
      <p:sp>
        <p:nvSpPr>
          <p:cNvPr id="117" name="eyebrow"/>
          <p:cNvSpPr/>
          <p:nvPr/>
        </p:nvSpPr>
        <p:spPr>
          <a:xfrm>
            <a:off x="713160" y="3420000"/>
            <a:ext cx="402300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F7358"/>
                </a:solidFill>
                <a:effectLst/>
                <a:uFillTx/>
                <a:latin typeface="Arial"/>
              </a:rPr>
              <a:t>THE DISRUPTION</a:t>
            </a:r>
            <a:endParaRPr lang="en-US" sz="1150" b="0" u="none" strike="noStrike">
              <a:solidFill>
                <a:srgbClr val="000000"/>
              </a:solidFill>
              <a:effectLst/>
              <a:uFillTx/>
              <a:latin typeface="Arial"/>
            </a:endParaRPr>
          </a:p>
        </p:txBody>
      </p:sp>
      <p:sp>
        <p:nvSpPr>
          <p:cNvPr id="118" name="business point"/>
          <p:cNvSpPr/>
          <p:nvPr/>
        </p:nvSpPr>
        <p:spPr>
          <a:xfrm>
            <a:off x="713160" y="3684960"/>
            <a:ext cx="4041360" cy="356400"/>
          </a:xfrm>
          <a:prstGeom prst="rect">
            <a:avLst/>
          </a:prstGeom>
          <a:noFill/>
          <a:ln w="0">
            <a:noFill/>
          </a:ln>
        </p:spPr>
        <p:style>
          <a:lnRef idx="0"/>
          <a:fillRef idx="0"/>
          <a:effectRef idx="0"/>
          <a:fontRef idx="minor"/>
        </p:style>
        <p:txBody>
          <a:bodyPr lIns="0" tIns="15840" rIns="0" bIns="0" anchor="t">
            <a:noAutofit/>
          </a:bodyPr>
          <a:p>
            <a:pPr defTabSz="457200">
              <a:lnSpc>
                <a:spcPts val="2373"/>
              </a:lnSpc>
            </a:pPr>
            <a:r>
              <a:rPr lang="en-US" sz="2100" b="1" u="none" strike="noStrike">
                <a:solidFill>
                  <a:srgbClr val="17302B"/>
                </a:solidFill>
                <a:effectLst/>
                <a:uFillTx/>
                <a:latin typeface="Arial"/>
              </a:rPr>
              <a:t>Games went digital, ~2013</a:t>
            </a:r>
            <a:endParaRPr lang="en-US" sz="2100" b="0" u="none" strike="noStrike">
              <a:solidFill>
                <a:srgbClr val="000000"/>
              </a:solidFill>
              <a:effectLst/>
              <a:uFillTx/>
              <a:latin typeface="Arial"/>
            </a:endParaRPr>
          </a:p>
        </p:txBody>
      </p:sp>
      <p:sp>
        <p:nvSpPr>
          <p:cNvPr id="119" name="business explanation"/>
          <p:cNvSpPr/>
          <p:nvPr/>
        </p:nvSpPr>
        <p:spPr>
          <a:xfrm>
            <a:off x="713160" y="4078080"/>
            <a:ext cx="4041360" cy="502560"/>
          </a:xfrm>
          <a:prstGeom prst="rect">
            <a:avLst/>
          </a:prstGeom>
          <a:noFill/>
          <a:ln w="0">
            <a:noFill/>
          </a:ln>
        </p:spPr>
        <p:style>
          <a:lnRef idx="0"/>
          <a:fillRef idx="0"/>
          <a:effectRef idx="0"/>
          <a:fontRef idx="minor"/>
        </p:style>
        <p:txBody>
          <a:bodyPr lIns="0" tIns="12240" rIns="0" bIns="0" anchor="t">
            <a:noAutofit/>
          </a:bodyPr>
          <a:p>
            <a:pPr defTabSz="457200">
              <a:lnSpc>
                <a:spcPts val="1760"/>
              </a:lnSpc>
            </a:pPr>
            <a:r>
              <a:rPr lang="en-US" sz="1600" b="0" u="none" strike="noStrike">
                <a:solidFill>
                  <a:srgbClr val="5E6B65"/>
                </a:solidFill>
                <a:effectLst/>
                <a:uFillTx/>
                <a:latin typeface="Arial"/>
              </a:rPr>
              <a:t>Xbox and PlayStation sold downloads</a:t>
            </a:r>
            <a:endParaRPr lang="en-US" sz="1600" b="0" u="none" strike="noStrike">
              <a:solidFill>
                <a:srgbClr val="000000"/>
              </a:solidFill>
              <a:effectLst/>
              <a:uFillTx/>
              <a:latin typeface="Arial"/>
            </a:endParaRPr>
          </a:p>
          <a:p>
            <a:pPr defTabSz="457200">
              <a:lnSpc>
                <a:spcPts val="1760"/>
              </a:lnSpc>
            </a:pPr>
            <a:r>
              <a:rPr lang="en-US" sz="1600" b="0" u="none" strike="noStrike">
                <a:solidFill>
                  <a:srgbClr val="5E6B65"/>
                </a:solidFill>
                <a:effectLst/>
                <a:uFillTx/>
                <a:latin typeface="Arial"/>
              </a:rPr>
              <a:t>directly to consumers.</a:t>
            </a:r>
            <a:endParaRPr lang="en-US" sz="1600" b="0" u="none" strike="noStrike">
              <a:solidFill>
                <a:srgbClr val="000000"/>
              </a:solidFill>
              <a:effectLst/>
              <a:uFillTx/>
              <a:latin typeface="Arial"/>
            </a:endParaRPr>
          </a:p>
        </p:txBody>
      </p:sp>
      <p:sp>
        <p:nvSpPr>
          <p:cNvPr id="120" name="eyebrow"/>
          <p:cNvSpPr/>
          <p:nvPr/>
        </p:nvSpPr>
        <p:spPr>
          <a:xfrm>
            <a:off x="713160" y="4617720"/>
            <a:ext cx="402300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F7358"/>
                </a:solidFill>
                <a:effectLst/>
                <a:uFillTx/>
                <a:latin typeface="Arial"/>
              </a:rPr>
              <a:t>THE COST</a:t>
            </a:r>
            <a:endParaRPr lang="en-US" sz="1150" b="0" u="none" strike="noStrike">
              <a:solidFill>
                <a:srgbClr val="000000"/>
              </a:solidFill>
              <a:effectLst/>
              <a:uFillTx/>
              <a:latin typeface="Arial"/>
            </a:endParaRPr>
          </a:p>
        </p:txBody>
      </p:sp>
      <p:sp>
        <p:nvSpPr>
          <p:cNvPr id="121" name="business point"/>
          <p:cNvSpPr/>
          <p:nvPr/>
        </p:nvSpPr>
        <p:spPr>
          <a:xfrm>
            <a:off x="713160" y="4883040"/>
            <a:ext cx="4041360" cy="356400"/>
          </a:xfrm>
          <a:prstGeom prst="rect">
            <a:avLst/>
          </a:prstGeom>
          <a:noFill/>
          <a:ln w="0">
            <a:noFill/>
          </a:ln>
        </p:spPr>
        <p:style>
          <a:lnRef idx="0"/>
          <a:fillRef idx="0"/>
          <a:effectRef idx="0"/>
          <a:fontRef idx="minor"/>
        </p:style>
        <p:txBody>
          <a:bodyPr lIns="0" tIns="15840" rIns="0" bIns="0" anchor="t">
            <a:noAutofit/>
          </a:bodyPr>
          <a:p>
            <a:pPr defTabSz="457200">
              <a:lnSpc>
                <a:spcPts val="2373"/>
              </a:lnSpc>
            </a:pPr>
            <a:r>
              <a:rPr lang="en-US" sz="2100" b="1" u="none" strike="noStrike">
                <a:solidFill>
                  <a:srgbClr val="17302B"/>
                </a:solidFill>
                <a:effectLst/>
                <a:uFillTx/>
                <a:latin typeface="Arial"/>
              </a:rPr>
              <a:t>Debt: $0 → $800m by 2018</a:t>
            </a:r>
            <a:endParaRPr lang="en-US" sz="2100" b="0" u="none" strike="noStrike">
              <a:solidFill>
                <a:srgbClr val="000000"/>
              </a:solidFill>
              <a:effectLst/>
              <a:uFillTx/>
              <a:latin typeface="Arial"/>
            </a:endParaRPr>
          </a:p>
        </p:txBody>
      </p:sp>
      <p:sp>
        <p:nvSpPr>
          <p:cNvPr id="122" name="business explanation"/>
          <p:cNvSpPr/>
          <p:nvPr/>
        </p:nvSpPr>
        <p:spPr>
          <a:xfrm>
            <a:off x="713160" y="5276160"/>
            <a:ext cx="4041360" cy="502560"/>
          </a:xfrm>
          <a:prstGeom prst="rect">
            <a:avLst/>
          </a:prstGeom>
          <a:noFill/>
          <a:ln w="0">
            <a:noFill/>
          </a:ln>
        </p:spPr>
        <p:style>
          <a:lnRef idx="0"/>
          <a:fillRef idx="0"/>
          <a:effectRef idx="0"/>
          <a:fontRef idx="minor"/>
        </p:style>
        <p:txBody>
          <a:bodyPr lIns="0" tIns="12240" rIns="0" bIns="0" anchor="t">
            <a:noAutofit/>
          </a:bodyPr>
          <a:p>
            <a:pPr defTabSz="457200">
              <a:lnSpc>
                <a:spcPts val="1760"/>
              </a:lnSpc>
            </a:pPr>
            <a:r>
              <a:rPr lang="en-US" sz="1600" b="0" u="none" strike="noStrike">
                <a:solidFill>
                  <a:srgbClr val="5E6B65"/>
                </a:solidFill>
                <a:effectLst/>
                <a:uFillTx/>
                <a:latin typeface="Arial"/>
              </a:rPr>
              <a:t>Acquisition spree; store closures</a:t>
            </a:r>
            <a:endParaRPr lang="en-US" sz="1600" b="0" u="none" strike="noStrike">
              <a:solidFill>
                <a:srgbClr val="000000"/>
              </a:solidFill>
              <a:effectLst/>
              <a:uFillTx/>
              <a:latin typeface="Arial"/>
            </a:endParaRPr>
          </a:p>
          <a:p>
            <a:pPr defTabSz="457200">
              <a:lnSpc>
                <a:spcPts val="1760"/>
              </a:lnSpc>
            </a:pPr>
            <a:r>
              <a:rPr lang="en-US" sz="1600" b="0" u="none" strike="noStrike">
                <a:solidFill>
                  <a:srgbClr val="5E6B65"/>
                </a:solidFill>
                <a:effectLst/>
                <a:uFillTx/>
                <a:latin typeface="Arial"/>
              </a:rPr>
              <a:t>came too late.</a:t>
            </a:r>
            <a:endParaRPr lang="en-US" sz="1600" b="0" u="none" strike="noStrike">
              <a:solidFill>
                <a:srgbClr val="000000"/>
              </a:solidFill>
              <a:effectLst/>
              <a:uFillTx/>
              <a:latin typeface="Arial"/>
            </a:endParaRPr>
          </a:p>
        </p:txBody>
      </p:sp>
      <p:sp>
        <p:nvSpPr>
          <p:cNvPr id="123" name="eyebrow"/>
          <p:cNvSpPr/>
          <p:nvPr/>
        </p:nvSpPr>
        <p:spPr>
          <a:xfrm>
            <a:off x="5074920" y="2221920"/>
            <a:ext cx="640044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5E6B65"/>
                </a:solidFill>
                <a:effectLst/>
                <a:uFillTx/>
                <a:latin typeface="Arial"/>
              </a:rPr>
              <a:t>SELECTED CASE PRICE MILESTONES</a:t>
            </a:r>
            <a:endParaRPr lang="en-US" sz="1150" b="0" u="none" strike="noStrike">
              <a:solidFill>
                <a:srgbClr val="000000"/>
              </a:solidFill>
              <a:effectLst/>
              <a:uFillTx/>
              <a:latin typeface="Arial"/>
            </a:endParaRPr>
          </a:p>
        </p:txBody>
      </p:sp>
      <p:cxnSp>
        <p:nvCxnSpPr>
          <p:cNvPr id="124" name="connector"/>
          <p:cNvCxnSpPr/>
          <p:nvPr/>
        </p:nvCxnSpPr>
        <p:spPr>
          <a:xfrm flipV="1">
            <a:off x="5376600" y="2971800"/>
            <a:ext cx="1838160" cy="1331640"/>
          </a:xfrm>
          <a:prstGeom prst="straightConnector1">
            <a:avLst/>
          </a:prstGeom>
          <a:ln>
            <a:solidFill>
              <a:srgbClr val="2F7358"/>
            </a:solidFill>
            <a:round/>
          </a:ln>
        </p:spPr>
      </p:cxnSp>
      <p:cxnSp>
        <p:nvCxnSpPr>
          <p:cNvPr id="125" name="connector"/>
          <p:cNvCxnSpPr/>
          <p:nvPr/>
        </p:nvCxnSpPr>
        <p:spPr>
          <a:xfrm>
            <a:off x="7214400" y="2971800"/>
            <a:ext cx="1838520" cy="1820520"/>
          </a:xfrm>
          <a:prstGeom prst="straightConnector1">
            <a:avLst/>
          </a:prstGeom>
          <a:ln>
            <a:solidFill>
              <a:srgbClr val="2F7358"/>
            </a:solidFill>
            <a:round/>
          </a:ln>
        </p:spPr>
      </p:cxnSp>
      <p:cxnSp>
        <p:nvCxnSpPr>
          <p:cNvPr id="126" name="connector"/>
          <p:cNvCxnSpPr/>
          <p:nvPr/>
        </p:nvCxnSpPr>
        <p:spPr>
          <a:xfrm flipV="1">
            <a:off x="9052560" y="4239720"/>
            <a:ext cx="1838160" cy="552600"/>
          </a:xfrm>
          <a:prstGeom prst="straightConnector1">
            <a:avLst/>
          </a:prstGeom>
          <a:ln>
            <a:solidFill>
              <a:srgbClr val="2F7358"/>
            </a:solidFill>
            <a:round/>
          </a:ln>
        </p:spPr>
      </p:cxnSp>
      <p:cxnSp>
        <p:nvCxnSpPr>
          <p:cNvPr id="127" name="connector"/>
          <p:cNvCxnSpPr/>
          <p:nvPr/>
        </p:nvCxnSpPr>
        <p:spPr>
          <a:xfrm>
            <a:off x="5074920" y="4974120"/>
            <a:ext cx="6410160" cy="360"/>
          </a:xfrm>
          <a:prstGeom prst="straightConnector1">
            <a:avLst/>
          </a:prstGeom>
          <a:ln w="10160">
            <a:solidFill>
              <a:srgbClr val="D4DDD6"/>
            </a:solidFill>
            <a:round/>
          </a:ln>
        </p:spPr>
      </p:cxnSp>
      <p:sp>
        <p:nvSpPr>
          <p:cNvPr id="128" name="circle"/>
          <p:cNvSpPr/>
          <p:nvPr/>
        </p:nvSpPr>
        <p:spPr>
          <a:xfrm>
            <a:off x="5335560" y="4262040"/>
            <a:ext cx="82080" cy="82080"/>
          </a:xfrm>
          <a:prstGeom prst="ellipse">
            <a:avLst/>
          </a:prstGeom>
          <a:solidFill>
            <a:srgbClr val="2F7358"/>
          </a:solidFill>
          <a:ln>
            <a:noFill/>
          </a:ln>
        </p:spPr>
        <p:style>
          <a:lnRef idx="1">
            <a:schemeClr val="accent1"/>
          </a:lnRef>
          <a:fillRef idx="3">
            <a:schemeClr val="accent1"/>
          </a:fillRef>
          <a:effectRef idx="0">
            <a:schemeClr val="accent1"/>
          </a:effectRef>
          <a:fontRef idx="minor"/>
        </p:style>
        <p:txBody>
          <a:bodyPr lIns="90000" tIns="13320" rIns="90000" bIns="13320" anchor="ctr">
            <a:noAutofit/>
          </a:bodyPr>
          <a:p>
            <a:pPr/>
            <a:endParaRPr lang="en-US" sz="1800" b="0" u="none" strike="noStrike">
              <a:solidFill>
                <a:schemeClr val="lt1"/>
              </a:solidFill>
              <a:effectLst/>
              <a:uFillTx/>
              <a:latin typeface="Calibri"/>
            </a:endParaRPr>
          </a:p>
        </p:txBody>
      </p:sp>
      <p:sp>
        <p:nvSpPr>
          <p:cNvPr id="129" name="chart value"/>
          <p:cNvSpPr/>
          <p:nvPr/>
        </p:nvSpPr>
        <p:spPr>
          <a:xfrm>
            <a:off x="4782240" y="4458600"/>
            <a:ext cx="1279800" cy="338040"/>
          </a:xfrm>
          <a:prstGeom prst="rect">
            <a:avLst/>
          </a:prstGeom>
          <a:noFill/>
          <a:ln w="0">
            <a:noFill/>
          </a:ln>
        </p:spPr>
        <p:style>
          <a:lnRef idx="0"/>
          <a:fillRef idx="0"/>
          <a:effectRef idx="0"/>
          <a:fontRef idx="minor"/>
        </p:style>
        <p:txBody>
          <a:bodyPr lIns="0" tIns="15840" rIns="0" bIns="0" anchor="t">
            <a:noAutofit/>
          </a:bodyPr>
          <a:p>
            <a:pPr algn="ctr" defTabSz="457200">
              <a:lnSpc>
                <a:spcPts val="2373"/>
              </a:lnSpc>
            </a:pPr>
            <a:r>
              <a:rPr lang="en-US" sz="2100" b="1" u="none" strike="noStrike">
                <a:solidFill>
                  <a:srgbClr val="2F7358"/>
                </a:solidFill>
                <a:effectLst/>
                <a:uFillTx/>
                <a:latin typeface="Arial"/>
              </a:rPr>
              <a:t>$18</a:t>
            </a:r>
            <a:endParaRPr lang="en-US" sz="2100" b="0" u="none" strike="noStrike">
              <a:solidFill>
                <a:srgbClr val="000000"/>
              </a:solidFill>
              <a:effectLst/>
              <a:uFillTx/>
              <a:latin typeface="Arial"/>
            </a:endParaRPr>
          </a:p>
        </p:txBody>
      </p:sp>
      <p:sp>
        <p:nvSpPr>
          <p:cNvPr id="130" name="chart date"/>
          <p:cNvSpPr/>
          <p:nvPr/>
        </p:nvSpPr>
        <p:spPr>
          <a:xfrm>
            <a:off x="4754880" y="5129640"/>
            <a:ext cx="1389600" cy="319680"/>
          </a:xfrm>
          <a:prstGeom prst="rect">
            <a:avLst/>
          </a:prstGeom>
          <a:noFill/>
          <a:ln w="0">
            <a:noFill/>
          </a:ln>
        </p:spPr>
        <p:style>
          <a:lnRef idx="0"/>
          <a:fillRef idx="0"/>
          <a:effectRef idx="0"/>
          <a:fontRef idx="minor"/>
        </p:style>
        <p:txBody>
          <a:bodyPr lIns="0" tIns="8640" rIns="0" bIns="0" anchor="t">
            <a:noAutofit/>
          </a:bodyPr>
          <a:p>
            <a:pPr algn="ctr" defTabSz="457200">
              <a:lnSpc>
                <a:spcPts val="1298"/>
              </a:lnSpc>
            </a:pPr>
            <a:r>
              <a:rPr lang="en-US" sz="1150" b="0" u="none" strike="noStrike">
                <a:solidFill>
                  <a:srgbClr val="5E6B65"/>
                </a:solidFill>
                <a:effectLst/>
                <a:uFillTx/>
                <a:latin typeface="Arial"/>
              </a:rPr>
              <a:t>IPO · 2002</a:t>
            </a:r>
            <a:endParaRPr lang="en-US" sz="1150" b="0" u="none" strike="noStrike">
              <a:solidFill>
                <a:srgbClr val="000000"/>
              </a:solidFill>
              <a:effectLst/>
              <a:uFillTx/>
              <a:latin typeface="Arial"/>
            </a:endParaRPr>
          </a:p>
        </p:txBody>
      </p:sp>
      <p:sp>
        <p:nvSpPr>
          <p:cNvPr id="131" name="circle"/>
          <p:cNvSpPr/>
          <p:nvPr/>
        </p:nvSpPr>
        <p:spPr>
          <a:xfrm>
            <a:off x="7173360" y="2930760"/>
            <a:ext cx="82080" cy="82080"/>
          </a:xfrm>
          <a:prstGeom prst="ellipse">
            <a:avLst/>
          </a:prstGeom>
          <a:solidFill>
            <a:srgbClr val="2F7358"/>
          </a:solidFill>
          <a:ln>
            <a:noFill/>
          </a:ln>
        </p:spPr>
        <p:style>
          <a:lnRef idx="1">
            <a:schemeClr val="accent1"/>
          </a:lnRef>
          <a:fillRef idx="3">
            <a:schemeClr val="accent1"/>
          </a:fillRef>
          <a:effectRef idx="0">
            <a:schemeClr val="accent1"/>
          </a:effectRef>
          <a:fontRef idx="minor"/>
        </p:style>
        <p:txBody>
          <a:bodyPr lIns="90000" tIns="13320" rIns="90000" bIns="13320" anchor="ctr">
            <a:noAutofit/>
          </a:bodyPr>
          <a:p>
            <a:pPr/>
            <a:endParaRPr lang="en-US" sz="1800" b="0" u="none" strike="noStrike">
              <a:solidFill>
                <a:schemeClr val="lt1"/>
              </a:solidFill>
              <a:effectLst/>
              <a:uFillTx/>
              <a:latin typeface="Calibri"/>
            </a:endParaRPr>
          </a:p>
        </p:txBody>
      </p:sp>
      <p:sp>
        <p:nvSpPr>
          <p:cNvPr id="132" name="chart value"/>
          <p:cNvSpPr/>
          <p:nvPr/>
        </p:nvSpPr>
        <p:spPr>
          <a:xfrm>
            <a:off x="6620400" y="2487240"/>
            <a:ext cx="1279800" cy="338040"/>
          </a:xfrm>
          <a:prstGeom prst="rect">
            <a:avLst/>
          </a:prstGeom>
          <a:noFill/>
          <a:ln w="0">
            <a:noFill/>
          </a:ln>
        </p:spPr>
        <p:style>
          <a:lnRef idx="0"/>
          <a:fillRef idx="0"/>
          <a:effectRef idx="0"/>
          <a:fontRef idx="minor"/>
        </p:style>
        <p:txBody>
          <a:bodyPr lIns="0" tIns="15840" rIns="0" bIns="0" anchor="t">
            <a:noAutofit/>
          </a:bodyPr>
          <a:p>
            <a:pPr algn="ctr" defTabSz="457200">
              <a:lnSpc>
                <a:spcPts val="2373"/>
              </a:lnSpc>
            </a:pPr>
            <a:r>
              <a:rPr lang="en-US" sz="2100" b="1" u="none" strike="noStrike">
                <a:solidFill>
                  <a:srgbClr val="2F7358"/>
                </a:solidFill>
                <a:effectLst/>
                <a:uFillTx/>
                <a:latin typeface="Arial"/>
              </a:rPr>
              <a:t>$60+</a:t>
            </a:r>
            <a:endParaRPr lang="en-US" sz="2100" b="0" u="none" strike="noStrike">
              <a:solidFill>
                <a:srgbClr val="000000"/>
              </a:solidFill>
              <a:effectLst/>
              <a:uFillTx/>
              <a:latin typeface="Arial"/>
            </a:endParaRPr>
          </a:p>
        </p:txBody>
      </p:sp>
      <p:sp>
        <p:nvSpPr>
          <p:cNvPr id="133" name="chart date"/>
          <p:cNvSpPr/>
          <p:nvPr/>
        </p:nvSpPr>
        <p:spPr>
          <a:xfrm>
            <a:off x="6592680" y="5129640"/>
            <a:ext cx="1389600" cy="319680"/>
          </a:xfrm>
          <a:prstGeom prst="rect">
            <a:avLst/>
          </a:prstGeom>
          <a:noFill/>
          <a:ln w="0">
            <a:noFill/>
          </a:ln>
        </p:spPr>
        <p:style>
          <a:lnRef idx="0"/>
          <a:fillRef idx="0"/>
          <a:effectRef idx="0"/>
          <a:fontRef idx="minor"/>
        </p:style>
        <p:txBody>
          <a:bodyPr lIns="0" tIns="8640" rIns="0" bIns="0" anchor="t">
            <a:noAutofit/>
          </a:bodyPr>
          <a:p>
            <a:pPr algn="ctr" defTabSz="457200">
              <a:lnSpc>
                <a:spcPts val="1298"/>
              </a:lnSpc>
            </a:pPr>
            <a:r>
              <a:rPr lang="en-US" sz="1150" b="0" u="none" strike="noStrike">
                <a:solidFill>
                  <a:srgbClr val="5E6B65"/>
                </a:solidFill>
                <a:effectLst/>
                <a:uFillTx/>
                <a:latin typeface="Arial"/>
              </a:rPr>
              <a:t>Dec 2007</a:t>
            </a:r>
            <a:endParaRPr lang="en-US" sz="1150" b="0" u="none" strike="noStrike">
              <a:solidFill>
                <a:srgbClr val="000000"/>
              </a:solidFill>
              <a:effectLst/>
              <a:uFillTx/>
              <a:latin typeface="Arial"/>
            </a:endParaRPr>
          </a:p>
        </p:txBody>
      </p:sp>
      <p:sp>
        <p:nvSpPr>
          <p:cNvPr id="134" name="circle"/>
          <p:cNvSpPr/>
          <p:nvPr/>
        </p:nvSpPr>
        <p:spPr>
          <a:xfrm>
            <a:off x="9011520" y="4751280"/>
            <a:ext cx="82080" cy="82080"/>
          </a:xfrm>
          <a:prstGeom prst="ellipse">
            <a:avLst/>
          </a:prstGeom>
          <a:solidFill>
            <a:srgbClr val="B13F36"/>
          </a:solidFill>
          <a:ln>
            <a:noFill/>
          </a:ln>
        </p:spPr>
        <p:style>
          <a:lnRef idx="1">
            <a:schemeClr val="accent1"/>
          </a:lnRef>
          <a:fillRef idx="3">
            <a:schemeClr val="accent1"/>
          </a:fillRef>
          <a:effectRef idx="0">
            <a:schemeClr val="accent1"/>
          </a:effectRef>
          <a:fontRef idx="minor"/>
        </p:style>
        <p:txBody>
          <a:bodyPr lIns="90000" tIns="13320" rIns="90000" bIns="13320" anchor="ctr">
            <a:noAutofit/>
          </a:bodyPr>
          <a:p>
            <a:pPr/>
            <a:endParaRPr lang="en-US" sz="1800" b="0" u="none" strike="noStrike">
              <a:solidFill>
                <a:schemeClr val="lt1"/>
              </a:solidFill>
              <a:effectLst/>
              <a:uFillTx/>
              <a:latin typeface="Calibri"/>
            </a:endParaRPr>
          </a:p>
        </p:txBody>
      </p:sp>
      <p:sp>
        <p:nvSpPr>
          <p:cNvPr id="135" name="chart value"/>
          <p:cNvSpPr/>
          <p:nvPr/>
        </p:nvSpPr>
        <p:spPr>
          <a:xfrm>
            <a:off x="9171360" y="3959280"/>
            <a:ext cx="1279800" cy="338040"/>
          </a:xfrm>
          <a:prstGeom prst="rect">
            <a:avLst/>
          </a:prstGeom>
          <a:noFill/>
          <a:ln w="0">
            <a:noFill/>
          </a:ln>
        </p:spPr>
        <p:style>
          <a:lnRef idx="0"/>
          <a:fillRef idx="0"/>
          <a:effectRef idx="0"/>
          <a:fontRef idx="minor"/>
        </p:style>
        <p:txBody>
          <a:bodyPr lIns="0" tIns="15840" rIns="0" bIns="0" anchor="t">
            <a:noAutofit/>
          </a:bodyPr>
          <a:p>
            <a:pPr algn="ctr" defTabSz="457200">
              <a:lnSpc>
                <a:spcPts val="2373"/>
              </a:lnSpc>
            </a:pPr>
            <a:r>
              <a:rPr lang="en-US" sz="2100" b="1" u="none" strike="noStrike">
                <a:solidFill>
                  <a:srgbClr val="B13F36"/>
                </a:solidFill>
                <a:effectLst/>
                <a:uFillTx/>
                <a:latin typeface="Arial"/>
              </a:rPr>
              <a:t>$2.57</a:t>
            </a:r>
            <a:endParaRPr lang="en-US" sz="2100" b="0" u="none" strike="noStrike">
              <a:solidFill>
                <a:srgbClr val="000000"/>
              </a:solidFill>
              <a:effectLst/>
              <a:uFillTx/>
              <a:latin typeface="Arial"/>
            </a:endParaRPr>
          </a:p>
        </p:txBody>
      </p:sp>
      <p:sp>
        <p:nvSpPr>
          <p:cNvPr id="136" name="chart date"/>
          <p:cNvSpPr/>
          <p:nvPr/>
        </p:nvSpPr>
        <p:spPr>
          <a:xfrm>
            <a:off x="8430840" y="5129640"/>
            <a:ext cx="1389600" cy="319680"/>
          </a:xfrm>
          <a:prstGeom prst="rect">
            <a:avLst/>
          </a:prstGeom>
          <a:noFill/>
          <a:ln w="0">
            <a:noFill/>
          </a:ln>
        </p:spPr>
        <p:style>
          <a:lnRef idx="0"/>
          <a:fillRef idx="0"/>
          <a:effectRef idx="0"/>
          <a:fontRef idx="minor"/>
        </p:style>
        <p:txBody>
          <a:bodyPr lIns="0" tIns="8640" rIns="0" bIns="0" anchor="t">
            <a:noAutofit/>
          </a:bodyPr>
          <a:p>
            <a:pPr algn="ctr" defTabSz="457200">
              <a:lnSpc>
                <a:spcPts val="1298"/>
              </a:lnSpc>
            </a:pPr>
            <a:r>
              <a:rPr lang="en-US" sz="1150" b="0" u="none" strike="noStrike">
                <a:solidFill>
                  <a:srgbClr val="5E6B65"/>
                </a:solidFill>
                <a:effectLst/>
                <a:uFillTx/>
                <a:latin typeface="Arial"/>
              </a:rPr>
              <a:t>Apr 3, 2020</a:t>
            </a:r>
            <a:endParaRPr lang="en-US" sz="1150" b="0" u="none" strike="noStrike">
              <a:solidFill>
                <a:srgbClr val="000000"/>
              </a:solidFill>
              <a:effectLst/>
              <a:uFillTx/>
              <a:latin typeface="Arial"/>
            </a:endParaRPr>
          </a:p>
        </p:txBody>
      </p:sp>
      <p:sp>
        <p:nvSpPr>
          <p:cNvPr id="137" name="circle"/>
          <p:cNvSpPr/>
          <p:nvPr/>
        </p:nvSpPr>
        <p:spPr>
          <a:xfrm>
            <a:off x="10849320" y="4198680"/>
            <a:ext cx="82080" cy="82080"/>
          </a:xfrm>
          <a:prstGeom prst="ellipse">
            <a:avLst/>
          </a:prstGeom>
          <a:solidFill>
            <a:srgbClr val="2F7358"/>
          </a:solidFill>
          <a:ln>
            <a:noFill/>
          </a:ln>
        </p:spPr>
        <p:style>
          <a:lnRef idx="1">
            <a:schemeClr val="accent1"/>
          </a:lnRef>
          <a:fillRef idx="3">
            <a:schemeClr val="accent1"/>
          </a:fillRef>
          <a:effectRef idx="0">
            <a:schemeClr val="accent1"/>
          </a:effectRef>
          <a:fontRef idx="minor"/>
        </p:style>
        <p:txBody>
          <a:bodyPr lIns="90000" tIns="13320" rIns="90000" bIns="13320" anchor="ctr">
            <a:noAutofit/>
          </a:bodyPr>
          <a:p>
            <a:pPr/>
            <a:endParaRPr lang="en-US" sz="1800" b="0" u="none" strike="noStrike">
              <a:solidFill>
                <a:schemeClr val="lt1"/>
              </a:solidFill>
              <a:effectLst/>
              <a:uFillTx/>
              <a:latin typeface="Calibri"/>
            </a:endParaRPr>
          </a:p>
        </p:txBody>
      </p:sp>
      <p:sp>
        <p:nvSpPr>
          <p:cNvPr id="138" name="chart value"/>
          <p:cNvSpPr/>
          <p:nvPr/>
        </p:nvSpPr>
        <p:spPr>
          <a:xfrm>
            <a:off x="10296000" y="3755160"/>
            <a:ext cx="1279800" cy="338040"/>
          </a:xfrm>
          <a:prstGeom prst="rect">
            <a:avLst/>
          </a:prstGeom>
          <a:noFill/>
          <a:ln w="0">
            <a:noFill/>
          </a:ln>
        </p:spPr>
        <p:style>
          <a:lnRef idx="0"/>
          <a:fillRef idx="0"/>
          <a:effectRef idx="0"/>
          <a:fontRef idx="minor"/>
        </p:style>
        <p:txBody>
          <a:bodyPr lIns="0" tIns="15840" rIns="0" bIns="0" anchor="t">
            <a:noAutofit/>
          </a:bodyPr>
          <a:p>
            <a:pPr algn="ctr" defTabSz="457200">
              <a:lnSpc>
                <a:spcPts val="2373"/>
              </a:lnSpc>
            </a:pPr>
            <a:r>
              <a:rPr lang="en-US" sz="2100" b="1" u="none" strike="noStrike">
                <a:solidFill>
                  <a:srgbClr val="2F7358"/>
                </a:solidFill>
                <a:effectLst/>
                <a:uFillTx/>
                <a:latin typeface="Arial"/>
              </a:rPr>
              <a:t>~$20</a:t>
            </a:r>
            <a:endParaRPr lang="en-US" sz="2100" b="0" u="none" strike="noStrike">
              <a:solidFill>
                <a:srgbClr val="000000"/>
              </a:solidFill>
              <a:effectLst/>
              <a:uFillTx/>
              <a:latin typeface="Arial"/>
            </a:endParaRPr>
          </a:p>
        </p:txBody>
      </p:sp>
      <p:sp>
        <p:nvSpPr>
          <p:cNvPr id="139" name="chart date"/>
          <p:cNvSpPr/>
          <p:nvPr/>
        </p:nvSpPr>
        <p:spPr>
          <a:xfrm>
            <a:off x="10268640" y="5129640"/>
            <a:ext cx="1389600" cy="319680"/>
          </a:xfrm>
          <a:prstGeom prst="rect">
            <a:avLst/>
          </a:prstGeom>
          <a:noFill/>
          <a:ln w="0">
            <a:noFill/>
          </a:ln>
        </p:spPr>
        <p:style>
          <a:lnRef idx="0"/>
          <a:fillRef idx="0"/>
          <a:effectRef idx="0"/>
          <a:fontRef idx="minor"/>
        </p:style>
        <p:txBody>
          <a:bodyPr lIns="0" tIns="8640" rIns="0" bIns="0" anchor="t">
            <a:noAutofit/>
          </a:bodyPr>
          <a:p>
            <a:pPr algn="ctr" defTabSz="457200">
              <a:lnSpc>
                <a:spcPts val="1298"/>
              </a:lnSpc>
            </a:pPr>
            <a:r>
              <a:rPr lang="en-US" sz="1150" b="0" u="none" strike="noStrike">
                <a:solidFill>
                  <a:srgbClr val="5E6B65"/>
                </a:solidFill>
                <a:effectLst/>
                <a:uFillTx/>
                <a:latin typeface="Arial"/>
              </a:rPr>
              <a:t>Dec 2020</a:t>
            </a:r>
            <a:endParaRPr lang="en-US" sz="1150" b="0" u="none" strike="noStrike">
              <a:solidFill>
                <a:srgbClr val="000000"/>
              </a:solidFill>
              <a:effectLst/>
              <a:uFillTx/>
              <a:latin typeface="Arial"/>
            </a:endParaRPr>
          </a:p>
        </p:txBody>
      </p:sp>
      <p:sp>
        <p:nvSpPr>
          <p:cNvPr id="140" name="eyebrow"/>
          <p:cNvSpPr/>
          <p:nvPr/>
        </p:nvSpPr>
        <p:spPr>
          <a:xfrm>
            <a:off x="8458200" y="3072240"/>
            <a:ext cx="274284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B13F36"/>
                </a:solidFill>
                <a:effectLst/>
                <a:uFillTx/>
                <a:latin typeface="Arial"/>
              </a:rPr>
              <a:t>−96% FROM THE PEAK</a:t>
            </a:r>
            <a:endParaRPr lang="en-US" sz="1150" b="0" u="none" strike="noStrike">
              <a:solidFill>
                <a:srgbClr val="000000"/>
              </a:solidFill>
              <a:effectLst/>
              <a:uFillTx/>
              <a:latin typeface="Arial"/>
            </a:endParaRPr>
          </a:p>
        </p:txBody>
      </p:sp>
      <p:cxnSp>
        <p:nvCxnSpPr>
          <p:cNvPr id="141" name="price value leader"/>
          <p:cNvCxnSpPr/>
          <p:nvPr/>
        </p:nvCxnSpPr>
        <p:spPr>
          <a:xfrm flipV="1">
            <a:off x="9134640" y="4416480"/>
            <a:ext cx="421200" cy="329400"/>
          </a:xfrm>
          <a:prstGeom prst="straightConnector1">
            <a:avLst/>
          </a:prstGeom>
          <a:ln w="8890">
            <a:solidFill>
              <a:srgbClr val="B13F36"/>
            </a:solidFill>
            <a:round/>
          </a:ln>
        </p:spPr>
      </p:cxnSp>
      <p:sp>
        <p:nvSpPr>
          <p:cNvPr id="142" name="chart basis"/>
          <p:cNvSpPr/>
          <p:nvPr/>
        </p:nvSpPr>
        <p:spPr>
          <a:xfrm>
            <a:off x="5074920" y="5504760"/>
            <a:ext cx="6400440" cy="219240"/>
          </a:xfrm>
          <a:prstGeom prst="rect">
            <a:avLst/>
          </a:prstGeom>
          <a:noFill/>
          <a:ln w="0">
            <a:noFill/>
          </a:ln>
        </p:spPr>
        <p:style>
          <a:lnRef idx="0"/>
          <a:fillRef idx="0"/>
          <a:effectRef idx="0"/>
          <a:fontRef idx="minor"/>
        </p:style>
        <p:txBody>
          <a:bodyPr lIns="0" tIns="7920" rIns="0" bIns="0" anchor="t">
            <a:noAutofit/>
          </a:bodyPr>
          <a:p>
            <a:pPr defTabSz="457200">
              <a:lnSpc>
                <a:spcPts val="1185"/>
              </a:lnSpc>
            </a:pPr>
            <a:r>
              <a:rPr lang="en-US" sz="1050" b="0" u="none" strike="noStrike">
                <a:solidFill>
                  <a:srgbClr val="5E6B65"/>
                </a:solidFill>
                <a:effectLst/>
                <a:uFillTx/>
                <a:latin typeface="Arial"/>
              </a:rPr>
              <a:t>Selected milestones; connecting line is schematic, not a full price series.</a:t>
            </a:r>
            <a:endParaRPr lang="en-US" sz="1050" b="0" u="none" strike="noStrike">
              <a:solidFill>
                <a:srgbClr val="000000"/>
              </a:solidFill>
              <a:effectLst/>
              <a:uFillTx/>
              <a:latin typeface="Arial"/>
            </a:endParaRPr>
          </a:p>
        </p:txBody>
      </p:sp>
      <p:sp>
        <p:nvSpPr>
          <p:cNvPr id="143" name="turnaround annotation"/>
          <p:cNvSpPr/>
          <p:nvPr/>
        </p:nvSpPr>
        <p:spPr>
          <a:xfrm>
            <a:off x="658440" y="5815440"/>
            <a:ext cx="10881000" cy="383760"/>
          </a:xfrm>
          <a:prstGeom prst="rect">
            <a:avLst/>
          </a:prstGeom>
          <a:solidFill>
            <a:srgbClr val="EAF2EC"/>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44" name="turnaround note"/>
          <p:cNvSpPr/>
          <p:nvPr/>
        </p:nvSpPr>
        <p:spPr>
          <a:xfrm>
            <a:off x="822960" y="5879520"/>
            <a:ext cx="10560960" cy="237240"/>
          </a:xfrm>
          <a:prstGeom prst="rect">
            <a:avLst/>
          </a:prstGeom>
          <a:noFill/>
          <a:ln w="0">
            <a:noFill/>
          </a:ln>
        </p:spPr>
        <p:style>
          <a:lnRef idx="0"/>
          <a:fillRef idx="0"/>
          <a:effectRef idx="0"/>
          <a:fontRef idx="minor"/>
        </p:style>
        <p:txBody>
          <a:bodyPr lIns="0" tIns="10440" rIns="0" bIns="0" anchor="t">
            <a:noAutofit/>
          </a:bodyPr>
          <a:p>
            <a:pPr defTabSz="457200">
              <a:lnSpc>
                <a:spcPts val="1525"/>
              </a:lnSpc>
            </a:pPr>
            <a:r>
              <a:rPr lang="en-US" sz="1350" b="1" u="none" strike="noStrike">
                <a:solidFill>
                  <a:srgbClr val="2F7358"/>
                </a:solidFill>
                <a:effectLst/>
                <a:uFillTx/>
                <a:latin typeface="Arial"/>
              </a:rPr>
              <a:t>THE TWIST Aug 2020: Ryan Cohen buys in. By Jan 2021: ~13% ownership and a board seat.</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145" name="footer rule"/>
          <p:cNvCxnSpPr/>
          <p:nvPr/>
        </p:nvCxnSpPr>
        <p:spPr>
          <a:xfrm>
            <a:off x="658080" y="6373080"/>
            <a:ext cx="10872720" cy="360"/>
          </a:xfrm>
          <a:prstGeom prst="straightConnector1">
            <a:avLst/>
          </a:prstGeom>
          <a:ln w="7620">
            <a:solidFill>
              <a:srgbClr val="D4DDD6"/>
            </a:solidFill>
            <a:round/>
          </a:ln>
        </p:spPr>
      </p:cxnSp>
      <p:sp>
        <p:nvSpPr>
          <p:cNvPr id="146"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147" name="speaker footer"/>
          <p:cNvSpPr/>
          <p:nvPr/>
        </p:nvSpPr>
        <p:spPr>
          <a:xfrm>
            <a:off x="7223760" y="6473880"/>
            <a:ext cx="3474360" cy="182520"/>
          </a:xfrm>
          <a:prstGeom prst="rect">
            <a:avLst/>
          </a:prstGeom>
          <a:noFill/>
          <a:ln w="0">
            <a:noFill/>
          </a:ln>
        </p:spPr>
        <p:style>
          <a:lnRef idx="0"/>
          <a:fillRef idx="0"/>
          <a:effectRef idx="0"/>
          <a:fontRef idx="minor"/>
        </p:style>
        <p:txBody>
          <a:bodyPr lIns="0" tIns="7200" rIns="0" bIns="0" anchor="t">
            <a:noAutofit/>
          </a:bodyPr>
          <a:p>
            <a:pPr algn="r" defTabSz="457200">
              <a:lnSpc>
                <a:spcPts val="1074"/>
              </a:lnSpc>
            </a:pPr>
            <a:r>
              <a:rPr lang="en-US" sz="950" b="0" u="none" strike="noStrike">
                <a:solidFill>
                  <a:srgbClr val="5E6B65"/>
                </a:solidFill>
                <a:effectLst/>
                <a:uFillTx/>
                <a:latin typeface="Arial"/>
              </a:rPr>
              <a:t>Ruilin Sun</a:t>
            </a:r>
            <a:endParaRPr lang="en-US" sz="950" b="0" u="none" strike="noStrike">
              <a:solidFill>
                <a:srgbClr val="000000"/>
              </a:solidFill>
              <a:effectLst/>
              <a:uFillTx/>
              <a:latin typeface="Arial"/>
            </a:endParaRPr>
          </a:p>
        </p:txBody>
      </p:sp>
      <p:sp>
        <p:nvSpPr>
          <p:cNvPr id="148"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04 / 18</a:t>
            </a:r>
            <a:endParaRPr lang="en-US" sz="1000" b="0" u="none" strike="noStrike">
              <a:solidFill>
                <a:srgbClr val="000000"/>
              </a:solidFill>
              <a:effectLst/>
              <a:uFillTx/>
              <a:latin typeface="Arial"/>
            </a:endParaRPr>
          </a:p>
        </p:txBody>
      </p:sp>
      <p:sp>
        <p:nvSpPr>
          <p:cNvPr id="149"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F7358"/>
                </a:solidFill>
                <a:effectLst/>
                <a:uFillTx/>
                <a:latin typeface="Arial"/>
              </a:rPr>
              <a:t>Q1 / THE CROWDED TRADE</a:t>
            </a:r>
            <a:endParaRPr lang="en-US" sz="1150" b="0" u="none" strike="noStrike">
              <a:solidFill>
                <a:srgbClr val="000000"/>
              </a:solidFill>
              <a:effectLst/>
              <a:uFillTx/>
              <a:latin typeface="Arial"/>
            </a:endParaRPr>
          </a:p>
        </p:txBody>
      </p:sp>
      <p:sp>
        <p:nvSpPr>
          <p:cNvPr id="150" name="slide title"/>
          <p:cNvSpPr/>
          <p:nvPr/>
        </p:nvSpPr>
        <p:spPr>
          <a:xfrm>
            <a:off x="658440" y="859680"/>
            <a:ext cx="10835280" cy="676440"/>
          </a:xfrm>
          <a:prstGeom prst="rect">
            <a:avLst/>
          </a:prstGeom>
          <a:noFill/>
          <a:ln w="0">
            <a:noFill/>
          </a:ln>
        </p:spPr>
        <p:style>
          <a:lnRef idx="0"/>
          <a:fillRef idx="0"/>
          <a:effectRef idx="0"/>
          <a:fontRef idx="minor"/>
        </p:style>
        <p:txBody>
          <a:bodyPr lIns="0" tIns="25200" rIns="0" bIns="0" anchor="t">
            <a:noAutofit/>
          </a:bodyPr>
          <a:p>
            <a:pPr defTabSz="457200">
              <a:lnSpc>
                <a:spcPts val="3532"/>
              </a:lnSpc>
            </a:pPr>
            <a:r>
              <a:rPr lang="en-US" sz="3300" b="1" u="none" strike="noStrike">
                <a:solidFill>
                  <a:srgbClr val="17302B"/>
                </a:solidFill>
                <a:effectLst/>
                <a:uFillTx/>
                <a:latin typeface="Arial"/>
              </a:rPr>
              <a:t>Wall Street bet against it, all at once</a:t>
            </a:r>
            <a:endParaRPr lang="en-US" sz="3300" b="0" u="none" strike="noStrike">
              <a:solidFill>
                <a:srgbClr val="000000"/>
              </a:solidFill>
              <a:effectLst/>
              <a:uFillTx/>
              <a:latin typeface="Arial"/>
            </a:endParaRPr>
          </a:p>
        </p:txBody>
      </p:sp>
      <p:sp>
        <p:nvSpPr>
          <p:cNvPr id="151"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Melvin Capital and Citron shorted GameStop; the exit became dangerously crowded.</a:t>
            </a:r>
            <a:endParaRPr lang="en-US" sz="1700" b="0" u="none" strike="noStrike">
              <a:solidFill>
                <a:srgbClr val="000000"/>
              </a:solidFill>
              <a:effectLst/>
              <a:uFillTx/>
              <a:latin typeface="Arial"/>
            </a:endParaRPr>
          </a:p>
        </p:txBody>
      </p:sp>
      <p:sp>
        <p:nvSpPr>
          <p:cNvPr id="152" name="eyebrow"/>
          <p:cNvSpPr/>
          <p:nvPr/>
        </p:nvSpPr>
        <p:spPr>
          <a:xfrm>
            <a:off x="713160" y="2267640"/>
            <a:ext cx="484596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5E6B65"/>
                </a:solidFill>
                <a:effectLst/>
                <a:uFillTx/>
                <a:latin typeface="Arial"/>
              </a:rPr>
              <a:t>SHORT INTEREST / JAN 15, 2021</a:t>
            </a:r>
            <a:endParaRPr lang="en-US" sz="1150" b="0" u="none" strike="noStrike">
              <a:solidFill>
                <a:srgbClr val="000000"/>
              </a:solidFill>
              <a:effectLst/>
              <a:uFillTx/>
              <a:latin typeface="Arial"/>
            </a:endParaRPr>
          </a:p>
        </p:txBody>
      </p:sp>
      <p:sp>
        <p:nvSpPr>
          <p:cNvPr id="153" name="short interest hero"/>
          <p:cNvSpPr/>
          <p:nvPr/>
        </p:nvSpPr>
        <p:spPr>
          <a:xfrm>
            <a:off x="658440" y="2651760"/>
            <a:ext cx="5577480" cy="1279800"/>
          </a:xfrm>
          <a:prstGeom prst="rect">
            <a:avLst/>
          </a:prstGeom>
          <a:noFill/>
          <a:ln w="0">
            <a:noFill/>
          </a:ln>
        </p:spPr>
        <p:style>
          <a:lnRef idx="0"/>
          <a:fillRef idx="0"/>
          <a:effectRef idx="0"/>
          <a:fontRef idx="minor"/>
        </p:style>
        <p:txBody>
          <a:bodyPr lIns="0" tIns="64080" rIns="0" bIns="0" anchor="t">
            <a:noAutofit/>
          </a:bodyPr>
          <a:p>
            <a:pPr defTabSz="457200">
              <a:lnSpc>
                <a:spcPts val="9490"/>
              </a:lnSpc>
            </a:pPr>
            <a:r>
              <a:rPr lang="en-US" sz="8400" b="1" u="none" strike="noStrike">
                <a:solidFill>
                  <a:srgbClr val="855E26"/>
                </a:solidFill>
                <a:effectLst/>
                <a:uFillTx/>
                <a:latin typeface="Arial"/>
              </a:rPr>
              <a:t>102.1%</a:t>
            </a:r>
            <a:endParaRPr lang="en-US" sz="8400" b="0" u="none" strike="noStrike">
              <a:solidFill>
                <a:srgbClr val="000000"/>
              </a:solidFill>
              <a:effectLst/>
              <a:uFillTx/>
              <a:latin typeface="Arial"/>
            </a:endParaRPr>
          </a:p>
        </p:txBody>
      </p:sp>
      <p:sp>
        <p:nvSpPr>
          <p:cNvPr id="154" name="short interest definition"/>
          <p:cNvSpPr/>
          <p:nvPr/>
        </p:nvSpPr>
        <p:spPr>
          <a:xfrm>
            <a:off x="749880" y="4041720"/>
            <a:ext cx="4937400" cy="64872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0" u="none" strike="noStrike">
                <a:solidFill>
                  <a:srgbClr val="17302B"/>
                </a:solidFill>
                <a:effectLst/>
                <a:uFillTx/>
                <a:latin typeface="Arial"/>
              </a:rPr>
              <a:t>of tradable shares had been sold short</a:t>
            </a:r>
            <a:endParaRPr lang="en-US" sz="2200" b="0" u="none" strike="noStrike">
              <a:solidFill>
                <a:srgbClr val="000000"/>
              </a:solidFill>
              <a:effectLst/>
              <a:uFillTx/>
              <a:latin typeface="Arial"/>
            </a:endParaRPr>
          </a:p>
        </p:txBody>
      </p:sp>
      <p:sp>
        <p:nvSpPr>
          <p:cNvPr id="155" name="re-lending explanation"/>
          <p:cNvSpPr/>
          <p:nvPr/>
        </p:nvSpPr>
        <p:spPr>
          <a:xfrm>
            <a:off x="749880" y="4892040"/>
            <a:ext cx="4663080" cy="548280"/>
          </a:xfrm>
          <a:prstGeom prst="rect">
            <a:avLst/>
          </a:prstGeom>
          <a:noFill/>
          <a:ln w="0">
            <a:noFill/>
          </a:ln>
        </p:spPr>
        <p:style>
          <a:lnRef idx="0"/>
          <a:fillRef idx="0"/>
          <a:effectRef idx="0"/>
          <a:fontRef idx="minor"/>
        </p:style>
        <p:txBody>
          <a:bodyPr lIns="0" tIns="11880" rIns="0" bIns="0" anchor="t">
            <a:noAutofit/>
          </a:bodyPr>
          <a:p>
            <a:pPr defTabSz="457200">
              <a:lnSpc>
                <a:spcPts val="1752"/>
              </a:lnSpc>
            </a:pPr>
            <a:r>
              <a:rPr lang="en-US" sz="1550" b="0" u="none" strike="noStrike">
                <a:solidFill>
                  <a:srgbClr val="5E6B65"/>
                </a:solidFill>
                <a:effectLst/>
                <a:uFillTx/>
                <a:latin typeface="Arial"/>
              </a:rPr>
              <a:t>Over 100% is possible: a borrowed share can be</a:t>
            </a:r>
            <a:endParaRPr lang="en-US" sz="1550" b="0" u="none" strike="noStrike">
              <a:solidFill>
                <a:srgbClr val="000000"/>
              </a:solidFill>
              <a:effectLst/>
              <a:uFillTx/>
              <a:latin typeface="Arial"/>
            </a:endParaRPr>
          </a:p>
          <a:p>
            <a:pPr defTabSz="457200">
              <a:lnSpc>
                <a:spcPts val="1752"/>
              </a:lnSpc>
            </a:pPr>
            <a:r>
              <a:rPr lang="en-US" sz="1550" b="0" u="none" strike="noStrike">
                <a:solidFill>
                  <a:srgbClr val="5E6B65"/>
                </a:solidFill>
                <a:effectLst/>
                <a:uFillTx/>
                <a:latin typeface="Arial"/>
              </a:rPr>
              <a:t>re-lent and shorted again.</a:t>
            </a:r>
            <a:endParaRPr lang="en-US" sz="1550" b="0" u="none" strike="noStrike">
              <a:solidFill>
                <a:srgbClr val="000000"/>
              </a:solidFill>
              <a:effectLst/>
              <a:uFillTx/>
              <a:latin typeface="Arial"/>
            </a:endParaRPr>
          </a:p>
        </p:txBody>
      </p:sp>
      <p:cxnSp>
        <p:nvCxnSpPr>
          <p:cNvPr id="156" name="connector"/>
          <p:cNvCxnSpPr/>
          <p:nvPr/>
        </p:nvCxnSpPr>
        <p:spPr>
          <a:xfrm>
            <a:off x="6108120" y="2286000"/>
            <a:ext cx="360" cy="3228120"/>
          </a:xfrm>
          <a:prstGeom prst="straightConnector1">
            <a:avLst/>
          </a:prstGeom>
          <a:ln w="10160">
            <a:solidFill>
              <a:srgbClr val="D4DDD6"/>
            </a:solidFill>
            <a:round/>
          </a:ln>
        </p:spPr>
      </p:cxnSp>
      <p:sp>
        <p:nvSpPr>
          <p:cNvPr id="157" name="eyebrow"/>
          <p:cNvSpPr/>
          <p:nvPr/>
        </p:nvSpPr>
        <p:spPr>
          <a:xfrm>
            <a:off x="6602040" y="2267640"/>
            <a:ext cx="47545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5E6B65"/>
                </a:solidFill>
                <a:effectLst/>
                <a:uFillTx/>
                <a:latin typeface="Arial"/>
              </a:rPr>
              <a:t>THE SHORT TRADE</a:t>
            </a:r>
            <a:endParaRPr lang="en-US" sz="1150" b="0" u="none" strike="noStrike">
              <a:solidFill>
                <a:srgbClr val="000000"/>
              </a:solidFill>
              <a:effectLst/>
              <a:uFillTx/>
              <a:latin typeface="Arial"/>
            </a:endParaRPr>
          </a:p>
        </p:txBody>
      </p:sp>
      <p:sp>
        <p:nvSpPr>
          <p:cNvPr id="158" name="short trade sequence"/>
          <p:cNvSpPr/>
          <p:nvPr/>
        </p:nvSpPr>
        <p:spPr>
          <a:xfrm>
            <a:off x="6602040" y="2670120"/>
            <a:ext cx="4663080" cy="39276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1" u="none" strike="noStrike">
                <a:solidFill>
                  <a:srgbClr val="17302B"/>
                </a:solidFill>
                <a:effectLst/>
                <a:uFillTx/>
                <a:latin typeface="Arial"/>
              </a:rPr>
              <a:t>Borrow → sell now → buy back later</a:t>
            </a:r>
            <a:endParaRPr lang="en-US" sz="1800" b="0" u="none" strike="noStrike">
              <a:solidFill>
                <a:srgbClr val="000000"/>
              </a:solidFill>
              <a:effectLst/>
              <a:uFillTx/>
              <a:latin typeface="Arial"/>
            </a:endParaRPr>
          </a:p>
        </p:txBody>
      </p:sp>
      <p:sp>
        <p:nvSpPr>
          <p:cNvPr id="159" name="maximum gain"/>
          <p:cNvSpPr/>
          <p:nvPr/>
        </p:nvSpPr>
        <p:spPr>
          <a:xfrm>
            <a:off x="6583680" y="3337560"/>
            <a:ext cx="2157480" cy="612360"/>
          </a:xfrm>
          <a:prstGeom prst="rect">
            <a:avLst/>
          </a:prstGeom>
          <a:noFill/>
          <a:ln w="0">
            <a:noFill/>
          </a:ln>
        </p:spPr>
        <p:style>
          <a:lnRef idx="0"/>
          <a:fillRef idx="0"/>
          <a:effectRef idx="0"/>
          <a:fontRef idx="minor"/>
        </p:style>
        <p:txBody>
          <a:bodyPr lIns="0" tIns="28080" rIns="0" bIns="0" anchor="t">
            <a:noAutofit/>
          </a:bodyPr>
          <a:p>
            <a:pPr defTabSz="457200">
              <a:lnSpc>
                <a:spcPts val="4181"/>
              </a:lnSpc>
            </a:pPr>
            <a:r>
              <a:rPr lang="en-US" sz="3700" b="1" u="none" strike="noStrike">
                <a:solidFill>
                  <a:srgbClr val="2F7358"/>
                </a:solidFill>
                <a:effectLst/>
                <a:uFillTx/>
                <a:latin typeface="Arial"/>
              </a:rPr>
              <a:t>+100%</a:t>
            </a:r>
            <a:endParaRPr lang="en-US" sz="3700" b="0" u="none" strike="noStrike">
              <a:solidFill>
                <a:srgbClr val="000000"/>
              </a:solidFill>
              <a:effectLst/>
              <a:uFillTx/>
              <a:latin typeface="Arial"/>
            </a:endParaRPr>
          </a:p>
        </p:txBody>
      </p:sp>
      <p:sp>
        <p:nvSpPr>
          <p:cNvPr id="160" name="unbounded loss"/>
          <p:cNvSpPr/>
          <p:nvPr/>
        </p:nvSpPr>
        <p:spPr>
          <a:xfrm>
            <a:off x="9399960" y="3273480"/>
            <a:ext cx="1919880" cy="749520"/>
          </a:xfrm>
          <a:prstGeom prst="rect">
            <a:avLst/>
          </a:prstGeom>
          <a:noFill/>
          <a:ln w="0">
            <a:noFill/>
          </a:ln>
        </p:spPr>
        <p:style>
          <a:lnRef idx="0"/>
          <a:fillRef idx="0"/>
          <a:effectRef idx="0"/>
          <a:fontRef idx="minor"/>
        </p:style>
        <p:txBody>
          <a:bodyPr lIns="0" tIns="35640" rIns="0" bIns="0" anchor="t">
            <a:noAutofit/>
          </a:bodyPr>
          <a:p>
            <a:pPr defTabSz="457200">
              <a:lnSpc>
                <a:spcPts val="5309"/>
              </a:lnSpc>
            </a:pPr>
            <a:r>
              <a:rPr lang="en-US" sz="4700" b="1" u="none" strike="noStrike">
                <a:solidFill>
                  <a:srgbClr val="B13F36"/>
                </a:solidFill>
                <a:effectLst/>
                <a:uFillTx/>
                <a:latin typeface="Arial"/>
              </a:rPr>
              <a:t>∞</a:t>
            </a:r>
            <a:endParaRPr lang="en-US" sz="4700" b="0" u="none" strike="noStrike">
              <a:solidFill>
                <a:srgbClr val="000000"/>
              </a:solidFill>
              <a:effectLst/>
              <a:uFillTx/>
              <a:latin typeface="Arial"/>
            </a:endParaRPr>
          </a:p>
        </p:txBody>
      </p:sp>
      <p:sp>
        <p:nvSpPr>
          <p:cNvPr id="161" name="gain explanation"/>
          <p:cNvSpPr/>
          <p:nvPr/>
        </p:nvSpPr>
        <p:spPr>
          <a:xfrm>
            <a:off x="6602040" y="3996000"/>
            <a:ext cx="2212560" cy="566640"/>
          </a:xfrm>
          <a:prstGeom prst="rect">
            <a:avLst/>
          </a:prstGeom>
          <a:noFill/>
          <a:ln w="0">
            <a:noFill/>
          </a:ln>
        </p:spPr>
        <p:style>
          <a:lnRef idx="0"/>
          <a:fillRef idx="0"/>
          <a:effectRef idx="0"/>
          <a:fontRef idx="minor"/>
        </p:style>
        <p:txBody>
          <a:bodyPr lIns="0" tIns="11880" rIns="0" bIns="0" anchor="t">
            <a:noAutofit/>
          </a:bodyPr>
          <a:p>
            <a:pPr defTabSz="457200">
              <a:lnSpc>
                <a:spcPts val="1752"/>
              </a:lnSpc>
            </a:pPr>
            <a:r>
              <a:rPr lang="en-US" sz="1550" b="0" u="none" strike="noStrike">
                <a:solidFill>
                  <a:srgbClr val="5E6B65"/>
                </a:solidFill>
                <a:effectLst/>
                <a:uFillTx/>
                <a:latin typeface="Arial"/>
              </a:rPr>
              <a:t>Best case: the stock</a:t>
            </a:r>
            <a:endParaRPr lang="en-US" sz="1550" b="0" u="none" strike="noStrike">
              <a:solidFill>
                <a:srgbClr val="000000"/>
              </a:solidFill>
              <a:effectLst/>
              <a:uFillTx/>
              <a:latin typeface="Arial"/>
            </a:endParaRPr>
          </a:p>
          <a:p>
            <a:pPr defTabSz="457200">
              <a:lnSpc>
                <a:spcPts val="1752"/>
              </a:lnSpc>
            </a:pPr>
            <a:r>
              <a:rPr lang="en-US" sz="1550" b="0" u="none" strike="noStrike">
                <a:solidFill>
                  <a:srgbClr val="5E6B65"/>
                </a:solidFill>
                <a:effectLst/>
                <a:uFillTx/>
                <a:latin typeface="Arial"/>
              </a:rPr>
              <a:t>goes to zero</a:t>
            </a:r>
            <a:endParaRPr lang="en-US" sz="1550" b="0" u="none" strike="noStrike">
              <a:solidFill>
                <a:srgbClr val="000000"/>
              </a:solidFill>
              <a:effectLst/>
              <a:uFillTx/>
              <a:latin typeface="Arial"/>
            </a:endParaRPr>
          </a:p>
        </p:txBody>
      </p:sp>
      <p:sp>
        <p:nvSpPr>
          <p:cNvPr id="162" name="loss explanation"/>
          <p:cNvSpPr/>
          <p:nvPr/>
        </p:nvSpPr>
        <p:spPr>
          <a:xfrm>
            <a:off x="9399960" y="3996000"/>
            <a:ext cx="2011320" cy="566640"/>
          </a:xfrm>
          <a:prstGeom prst="rect">
            <a:avLst/>
          </a:prstGeom>
          <a:noFill/>
          <a:ln w="0">
            <a:noFill/>
          </a:ln>
        </p:spPr>
        <p:style>
          <a:lnRef idx="0"/>
          <a:fillRef idx="0"/>
          <a:effectRef idx="0"/>
          <a:fontRef idx="minor"/>
        </p:style>
        <p:txBody>
          <a:bodyPr lIns="0" tIns="11880" rIns="0" bIns="0" anchor="t">
            <a:noAutofit/>
          </a:bodyPr>
          <a:p>
            <a:pPr defTabSz="457200">
              <a:lnSpc>
                <a:spcPts val="1752"/>
              </a:lnSpc>
            </a:pPr>
            <a:r>
              <a:rPr lang="en-US" sz="1550" b="0" u="none" strike="noStrike">
                <a:solidFill>
                  <a:srgbClr val="5E6B65"/>
                </a:solidFill>
                <a:effectLst/>
                <a:uFillTx/>
                <a:latin typeface="Arial"/>
              </a:rPr>
              <a:t>Worst case: a price</a:t>
            </a:r>
            <a:endParaRPr lang="en-US" sz="1550" b="0" u="none" strike="noStrike">
              <a:solidFill>
                <a:srgbClr val="000000"/>
              </a:solidFill>
              <a:effectLst/>
              <a:uFillTx/>
              <a:latin typeface="Arial"/>
            </a:endParaRPr>
          </a:p>
          <a:p>
            <a:pPr defTabSz="457200">
              <a:lnSpc>
                <a:spcPts val="1752"/>
              </a:lnSpc>
            </a:pPr>
            <a:r>
              <a:rPr lang="en-US" sz="1550" b="0" u="none" strike="noStrike">
                <a:solidFill>
                  <a:srgbClr val="5E6B65"/>
                </a:solidFill>
                <a:effectLst/>
                <a:uFillTx/>
                <a:latin typeface="Arial"/>
              </a:rPr>
              <a:t>has no ceiling</a:t>
            </a:r>
            <a:endParaRPr lang="en-US" sz="1550" b="0" u="none" strike="noStrike">
              <a:solidFill>
                <a:srgbClr val="000000"/>
              </a:solidFill>
              <a:effectLst/>
              <a:uFillTx/>
              <a:latin typeface="Arial"/>
            </a:endParaRPr>
          </a:p>
        </p:txBody>
      </p:sp>
      <p:cxnSp>
        <p:nvCxnSpPr>
          <p:cNvPr id="163" name="connector"/>
          <p:cNvCxnSpPr/>
          <p:nvPr/>
        </p:nvCxnSpPr>
        <p:spPr>
          <a:xfrm>
            <a:off x="6601680" y="4745520"/>
            <a:ext cx="4837680" cy="360"/>
          </a:xfrm>
          <a:prstGeom prst="straightConnector1">
            <a:avLst/>
          </a:prstGeom>
          <a:ln w="10160">
            <a:solidFill>
              <a:srgbClr val="D4DDD6"/>
            </a:solidFill>
            <a:round/>
          </a:ln>
        </p:spPr>
      </p:cxnSp>
      <p:sp>
        <p:nvSpPr>
          <p:cNvPr id="164" name="days to cover"/>
          <p:cNvSpPr/>
          <p:nvPr/>
        </p:nvSpPr>
        <p:spPr>
          <a:xfrm>
            <a:off x="6602040" y="4965120"/>
            <a:ext cx="2468520" cy="520920"/>
          </a:xfrm>
          <a:prstGeom prst="rect">
            <a:avLst/>
          </a:prstGeom>
          <a:noFill/>
          <a:ln w="0">
            <a:noFill/>
          </a:ln>
        </p:spPr>
        <p:style>
          <a:lnRef idx="0"/>
          <a:fillRef idx="0"/>
          <a:effectRef idx="0"/>
          <a:fontRef idx="minor"/>
        </p:style>
        <p:txBody>
          <a:bodyPr lIns="0" tIns="21960" rIns="0" bIns="0" anchor="t">
            <a:noAutofit/>
          </a:bodyPr>
          <a:p>
            <a:pPr defTabSz="457200">
              <a:lnSpc>
                <a:spcPts val="3277"/>
              </a:lnSpc>
            </a:pPr>
            <a:r>
              <a:rPr lang="en-US" sz="2900" b="1" u="none" strike="noStrike">
                <a:solidFill>
                  <a:srgbClr val="17302B"/>
                </a:solidFill>
                <a:effectLst/>
                <a:uFillTx/>
                <a:latin typeface="Arial"/>
              </a:rPr>
              <a:t>11.6 days</a:t>
            </a:r>
            <a:endParaRPr lang="en-US" sz="2900" b="0" u="none" strike="noStrike">
              <a:solidFill>
                <a:srgbClr val="000000"/>
              </a:solidFill>
              <a:effectLst/>
              <a:uFillTx/>
              <a:latin typeface="Arial"/>
            </a:endParaRPr>
          </a:p>
        </p:txBody>
      </p:sp>
      <p:sp>
        <p:nvSpPr>
          <p:cNvPr id="165" name="days to cover basis"/>
          <p:cNvSpPr/>
          <p:nvPr/>
        </p:nvSpPr>
        <p:spPr>
          <a:xfrm>
            <a:off x="9180720" y="4965120"/>
            <a:ext cx="2267280" cy="621360"/>
          </a:xfrm>
          <a:prstGeom prst="rect">
            <a:avLst/>
          </a:prstGeom>
          <a:noFill/>
          <a:ln w="0">
            <a:noFill/>
          </a:ln>
        </p:spPr>
        <p:style>
          <a:lnRef idx="0"/>
          <a:fillRef idx="0"/>
          <a:effectRef idx="0"/>
          <a:fontRef idx="minor"/>
        </p:style>
        <p:txBody>
          <a:bodyPr lIns="0" tIns="11160" rIns="0" bIns="0" anchor="t">
            <a:noAutofit/>
          </a:bodyPr>
          <a:p>
            <a:pPr defTabSz="457200">
              <a:lnSpc>
                <a:spcPts val="1638"/>
              </a:lnSpc>
            </a:pPr>
            <a:r>
              <a:rPr lang="en-US" sz="1450" b="0" u="none" strike="noStrike">
                <a:solidFill>
                  <a:srgbClr val="5E6B65"/>
                </a:solidFill>
                <a:effectLst/>
                <a:uFillTx/>
                <a:latin typeface="Arial"/>
              </a:rPr>
              <a:t>of normal volume to cover</a:t>
            </a:r>
            <a:endParaRPr lang="en-US" sz="1450" b="0" u="none" strike="noStrike">
              <a:solidFill>
                <a:srgbClr val="000000"/>
              </a:solidFill>
              <a:effectLst/>
              <a:uFillTx/>
              <a:latin typeface="Arial"/>
            </a:endParaRPr>
          </a:p>
          <a:p>
            <a:pPr defTabSz="457200">
              <a:lnSpc>
                <a:spcPts val="1638"/>
              </a:lnSpc>
            </a:pPr>
            <a:r>
              <a:rPr lang="en-US" sz="1450" b="0" u="none" strike="noStrike">
                <a:solidFill>
                  <a:srgbClr val="5E6B65"/>
                </a:solidFill>
                <a:effectLst/>
                <a:uFillTx/>
                <a:latin typeface="Arial"/>
              </a:rPr>
              <a:t>all shorts (Mar 2020)</a:t>
            </a:r>
            <a:endParaRPr lang="en-US" sz="1450" b="0" u="none" strike="noStrike">
              <a:solidFill>
                <a:srgbClr val="000000"/>
              </a:solidFill>
              <a:effectLst/>
              <a:uFillTx/>
              <a:latin typeface="Arial"/>
            </a:endParaRPr>
          </a:p>
        </p:txBody>
      </p:sp>
      <p:sp>
        <p:nvSpPr>
          <p:cNvPr id="166" name="conclusion mark"/>
          <p:cNvSpPr/>
          <p:nvPr/>
        </p:nvSpPr>
        <p:spPr>
          <a:xfrm>
            <a:off x="658440" y="5833800"/>
            <a:ext cx="50040" cy="365400"/>
          </a:xfrm>
          <a:prstGeom prst="rect">
            <a:avLst/>
          </a:prstGeom>
          <a:solidFill>
            <a:srgbClr val="855E26"/>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67" name="takeaway"/>
          <p:cNvSpPr/>
          <p:nvPr/>
        </p:nvSpPr>
        <p:spPr>
          <a:xfrm>
            <a:off x="877680" y="5806440"/>
            <a:ext cx="10560960" cy="493560"/>
          </a:xfrm>
          <a:prstGeom prst="rect">
            <a:avLst/>
          </a:prstGeom>
          <a:noFill/>
          <a:ln w="0">
            <a:noFill/>
          </a:ln>
        </p:spPr>
        <p:style>
          <a:lnRef idx="0"/>
          <a:fillRef idx="0"/>
          <a:effectRef idx="0"/>
          <a:fontRef idx="minor"/>
        </p:style>
        <p:txBody>
          <a:bodyPr lIns="0" tIns="15840" rIns="0" bIns="0" anchor="t">
            <a:noAutofit/>
          </a:bodyPr>
          <a:p>
            <a:pPr defTabSz="457200">
              <a:lnSpc>
                <a:spcPts val="2310"/>
              </a:lnSpc>
            </a:pPr>
            <a:r>
              <a:rPr lang="en-US" sz="2100" b="1" u="none" strike="noStrike">
                <a:solidFill>
                  <a:srgbClr val="17302B"/>
                </a:solidFill>
                <a:effectLst/>
                <a:uFillTx/>
                <a:latin typeface="Arial"/>
              </a:rPr>
              <a:t>A packed room, one small door. All it needed was a fire alarm.</a:t>
            </a:r>
            <a:endParaRPr lang="en-US"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A"/>
        </a:solidFill>
      </p:bgPr>
    </p:bg>
    <p:spTree>
      <p:nvGrpSpPr>
        <p:cNvPr id="1" name=""/>
        <p:cNvGrpSpPr/>
        <p:nvPr/>
      </p:nvGrpSpPr>
      <p:grpSpPr>
        <a:xfrm>
          <a:off x="0" y="0"/>
          <a:ext cx="0" cy="0"/>
          <a:chOff x="0" y="0"/>
          <a:chExt cx="0" cy="0"/>
        </a:xfrm>
      </p:grpSpPr>
      <p:cxnSp>
        <p:nvCxnSpPr>
          <p:cNvPr id="168" name="footer rule"/>
          <p:cNvCxnSpPr/>
          <p:nvPr/>
        </p:nvCxnSpPr>
        <p:spPr>
          <a:xfrm>
            <a:off x="658080" y="6373080"/>
            <a:ext cx="10872720" cy="360"/>
          </a:xfrm>
          <a:prstGeom prst="straightConnector1">
            <a:avLst/>
          </a:prstGeom>
          <a:ln w="7620">
            <a:solidFill>
              <a:srgbClr val="D4DDD6"/>
            </a:solidFill>
            <a:round/>
          </a:ln>
        </p:spPr>
      </p:cxnSp>
      <p:sp>
        <p:nvSpPr>
          <p:cNvPr id="169"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170" name="speaker footer"/>
          <p:cNvSpPr/>
          <p:nvPr/>
        </p:nvSpPr>
        <p:spPr>
          <a:xfrm>
            <a:off x="7223760" y="6473880"/>
            <a:ext cx="3474360" cy="182520"/>
          </a:xfrm>
          <a:prstGeom prst="rect">
            <a:avLst/>
          </a:prstGeom>
          <a:noFill/>
          <a:ln w="0">
            <a:noFill/>
          </a:ln>
        </p:spPr>
        <p:style>
          <a:lnRef idx="0"/>
          <a:fillRef idx="0"/>
          <a:effectRef idx="0"/>
          <a:fontRef idx="minor"/>
        </p:style>
        <p:txBody>
          <a:bodyPr lIns="0" tIns="7200" rIns="0" bIns="0" anchor="t">
            <a:noAutofit/>
          </a:bodyPr>
          <a:p>
            <a:pPr algn="r" defTabSz="457200">
              <a:lnSpc>
                <a:spcPts val="1074"/>
              </a:lnSpc>
            </a:pPr>
            <a:r>
              <a:rPr lang="en-US" sz="950" b="0" u="none" strike="noStrike">
                <a:solidFill>
                  <a:srgbClr val="5E6B65"/>
                </a:solidFill>
                <a:effectLst/>
                <a:uFillTx/>
                <a:latin typeface="Arial"/>
              </a:rPr>
              <a:t>Liu Yinghan</a:t>
            </a:r>
            <a:endParaRPr lang="en-US" sz="950" b="0" u="none" strike="noStrike">
              <a:solidFill>
                <a:srgbClr val="000000"/>
              </a:solidFill>
              <a:effectLst/>
              <a:uFillTx/>
              <a:latin typeface="Arial"/>
            </a:endParaRPr>
          </a:p>
        </p:txBody>
      </p:sp>
      <p:sp>
        <p:nvSpPr>
          <p:cNvPr id="171"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05 / 18</a:t>
            </a:r>
            <a:endParaRPr lang="en-US" sz="1000" b="0" u="none" strike="noStrike">
              <a:solidFill>
                <a:srgbClr val="000000"/>
              </a:solidFill>
              <a:effectLst/>
              <a:uFillTx/>
              <a:latin typeface="Arial"/>
            </a:endParaRPr>
          </a:p>
        </p:txBody>
      </p:sp>
      <p:sp>
        <p:nvSpPr>
          <p:cNvPr id="172"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F7358"/>
                </a:solidFill>
                <a:effectLst/>
                <a:uFillTx/>
                <a:latin typeface="Arial"/>
              </a:rPr>
              <a:t>Q1 / THE RETAIL ARMY</a:t>
            </a:r>
            <a:endParaRPr lang="en-US" sz="1150" b="0" u="none" strike="noStrike">
              <a:solidFill>
                <a:srgbClr val="000000"/>
              </a:solidFill>
              <a:effectLst/>
              <a:uFillTx/>
              <a:latin typeface="Arial"/>
            </a:endParaRPr>
          </a:p>
        </p:txBody>
      </p:sp>
      <p:sp>
        <p:nvSpPr>
          <p:cNvPr id="173" name="slide title"/>
          <p:cNvSpPr/>
          <p:nvPr/>
        </p:nvSpPr>
        <p:spPr>
          <a:xfrm>
            <a:off x="658440" y="859680"/>
            <a:ext cx="10835280" cy="676440"/>
          </a:xfrm>
          <a:prstGeom prst="rect">
            <a:avLst/>
          </a:prstGeom>
          <a:noFill/>
          <a:ln w="0">
            <a:noFill/>
          </a:ln>
        </p:spPr>
        <p:style>
          <a:lnRef idx="0"/>
          <a:fillRef idx="0"/>
          <a:effectRef idx="0"/>
          <a:fontRef idx="minor"/>
        </p:style>
        <p:txBody>
          <a:bodyPr lIns="0" tIns="25920" rIns="0" bIns="0" anchor="t">
            <a:noAutofit/>
          </a:bodyPr>
          <a:p>
            <a:pPr defTabSz="457200">
              <a:lnSpc>
                <a:spcPts val="3637"/>
              </a:lnSpc>
            </a:pPr>
            <a:r>
              <a:rPr lang="en-US" sz="3400" b="1" u="none" strike="noStrike">
                <a:solidFill>
                  <a:srgbClr val="17302B"/>
                </a:solidFill>
                <a:effectLst/>
                <a:uFillTx/>
                <a:latin typeface="Arial"/>
              </a:rPr>
              <a:t>Money, time and a cause built a retail army</a:t>
            </a:r>
            <a:endParaRPr lang="en-US" sz="3400" b="0" u="none" strike="noStrike">
              <a:solidFill>
                <a:srgbClr val="000000"/>
              </a:solidFill>
              <a:effectLst/>
              <a:uFillTx/>
              <a:latin typeface="Arial"/>
            </a:endParaRPr>
          </a:p>
        </p:txBody>
      </p:sp>
      <p:sp>
        <p:nvSpPr>
          <p:cNvPr id="174"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Profit motive combined with powerful anti-Wall Street sentiment.</a:t>
            </a:r>
            <a:endParaRPr lang="en-US" sz="1700" b="0" u="none" strike="noStrike">
              <a:solidFill>
                <a:srgbClr val="000000"/>
              </a:solidFill>
              <a:effectLst/>
              <a:uFillTx/>
              <a:latin typeface="Arial"/>
            </a:endParaRPr>
          </a:p>
        </p:txBody>
      </p:sp>
      <p:sp>
        <p:nvSpPr>
          <p:cNvPr id="175" name="reason number"/>
          <p:cNvSpPr/>
          <p:nvPr/>
        </p:nvSpPr>
        <p:spPr>
          <a:xfrm>
            <a:off x="713160" y="2267640"/>
            <a:ext cx="575640" cy="456840"/>
          </a:xfrm>
          <a:prstGeom prst="rect">
            <a:avLst/>
          </a:prstGeom>
          <a:noFill/>
          <a:ln w="0">
            <a:noFill/>
          </a:ln>
        </p:spPr>
        <p:style>
          <a:lnRef idx="0"/>
          <a:fillRef idx="0"/>
          <a:effectRef idx="0"/>
          <a:fontRef idx="minor"/>
        </p:style>
        <p:txBody>
          <a:bodyPr lIns="0" tIns="19800" rIns="0" bIns="0" anchor="t">
            <a:noAutofit/>
          </a:bodyPr>
          <a:p>
            <a:pPr defTabSz="457200">
              <a:lnSpc>
                <a:spcPts val="2937"/>
              </a:lnSpc>
            </a:pPr>
            <a:r>
              <a:rPr lang="en-US" sz="2600" b="1" u="none" strike="noStrike">
                <a:solidFill>
                  <a:srgbClr val="2F7358"/>
                </a:solidFill>
                <a:effectLst/>
                <a:uFillTx/>
                <a:latin typeface="Arial"/>
              </a:rPr>
              <a:t>01</a:t>
            </a:r>
            <a:endParaRPr lang="en-US" sz="2600" b="0" u="none" strike="noStrike">
              <a:solidFill>
                <a:srgbClr val="000000"/>
              </a:solidFill>
              <a:effectLst/>
              <a:uFillTx/>
              <a:latin typeface="Arial"/>
            </a:endParaRPr>
          </a:p>
        </p:txBody>
      </p:sp>
      <p:sp>
        <p:nvSpPr>
          <p:cNvPr id="176" name="reason title"/>
          <p:cNvSpPr/>
          <p:nvPr/>
        </p:nvSpPr>
        <p:spPr>
          <a:xfrm>
            <a:off x="1481400" y="2267640"/>
            <a:ext cx="6354720" cy="35640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1" u="none" strike="noStrike">
                <a:solidFill>
                  <a:srgbClr val="17302B"/>
                </a:solidFill>
                <a:effectLst/>
                <a:uFillTx/>
                <a:latin typeface="Arial"/>
              </a:rPr>
              <a:t>Cash and time</a:t>
            </a:r>
            <a:endParaRPr lang="en-US" sz="2200" b="0" u="none" strike="noStrike">
              <a:solidFill>
                <a:srgbClr val="000000"/>
              </a:solidFill>
              <a:effectLst/>
              <a:uFillTx/>
              <a:latin typeface="Arial"/>
            </a:endParaRPr>
          </a:p>
        </p:txBody>
      </p:sp>
      <p:sp>
        <p:nvSpPr>
          <p:cNvPr id="177" name="reason explanation"/>
          <p:cNvSpPr/>
          <p:nvPr/>
        </p:nvSpPr>
        <p:spPr>
          <a:xfrm>
            <a:off x="1481400" y="2706480"/>
            <a:ext cx="5943240" cy="59400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0" u="none" strike="noStrike">
                <a:solidFill>
                  <a:srgbClr val="5E6B65"/>
                </a:solidFill>
                <a:effectLst/>
                <a:uFillTx/>
                <a:latin typeface="Arial"/>
              </a:rPr>
              <a:t>Government stimulus cheques and lockdown left new traders</a:t>
            </a:r>
            <a:endParaRPr lang="en-US" sz="1700" b="0" u="none" strike="noStrike">
              <a:solidFill>
                <a:srgbClr val="000000"/>
              </a:solidFill>
              <a:effectLst/>
              <a:uFillTx/>
              <a:latin typeface="Arial"/>
            </a:endParaRPr>
          </a:p>
          <a:p>
            <a:pPr defTabSz="457200">
              <a:lnSpc>
                <a:spcPts val="1919"/>
              </a:lnSpc>
            </a:pPr>
            <a:r>
              <a:rPr lang="en-US" sz="1700" b="0" u="none" strike="noStrike">
                <a:solidFill>
                  <a:srgbClr val="5E6B65"/>
                </a:solidFill>
                <a:effectLst/>
                <a:uFillTx/>
                <a:latin typeface="Arial"/>
              </a:rPr>
              <a:t>with extra cash and time.</a:t>
            </a:r>
            <a:endParaRPr lang="en-US" sz="1700" b="0" u="none" strike="noStrike">
              <a:solidFill>
                <a:srgbClr val="000000"/>
              </a:solidFill>
              <a:effectLst/>
              <a:uFillTx/>
              <a:latin typeface="Arial"/>
            </a:endParaRPr>
          </a:p>
        </p:txBody>
      </p:sp>
      <p:sp>
        <p:nvSpPr>
          <p:cNvPr id="178" name="reason number"/>
          <p:cNvSpPr/>
          <p:nvPr/>
        </p:nvSpPr>
        <p:spPr>
          <a:xfrm>
            <a:off x="713160" y="3310200"/>
            <a:ext cx="575640" cy="456840"/>
          </a:xfrm>
          <a:prstGeom prst="rect">
            <a:avLst/>
          </a:prstGeom>
          <a:noFill/>
          <a:ln w="0">
            <a:noFill/>
          </a:ln>
        </p:spPr>
        <p:style>
          <a:lnRef idx="0"/>
          <a:fillRef idx="0"/>
          <a:effectRef idx="0"/>
          <a:fontRef idx="minor"/>
        </p:style>
        <p:txBody>
          <a:bodyPr lIns="0" tIns="19800" rIns="0" bIns="0" anchor="t">
            <a:noAutofit/>
          </a:bodyPr>
          <a:p>
            <a:pPr defTabSz="457200">
              <a:lnSpc>
                <a:spcPts val="2937"/>
              </a:lnSpc>
            </a:pPr>
            <a:r>
              <a:rPr lang="en-US" sz="2600" b="1" u="none" strike="noStrike">
                <a:solidFill>
                  <a:srgbClr val="2F7358"/>
                </a:solidFill>
                <a:effectLst/>
                <a:uFillTx/>
                <a:latin typeface="Arial"/>
              </a:rPr>
              <a:t>02</a:t>
            </a:r>
            <a:endParaRPr lang="en-US" sz="2600" b="0" u="none" strike="noStrike">
              <a:solidFill>
                <a:srgbClr val="000000"/>
              </a:solidFill>
              <a:effectLst/>
              <a:uFillTx/>
              <a:latin typeface="Arial"/>
            </a:endParaRPr>
          </a:p>
        </p:txBody>
      </p:sp>
      <p:sp>
        <p:nvSpPr>
          <p:cNvPr id="179" name="reason title"/>
          <p:cNvSpPr/>
          <p:nvPr/>
        </p:nvSpPr>
        <p:spPr>
          <a:xfrm>
            <a:off x="1481400" y="3310200"/>
            <a:ext cx="6354720" cy="35640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1" u="none" strike="noStrike">
                <a:solidFill>
                  <a:srgbClr val="17302B"/>
                </a:solidFill>
                <a:effectLst/>
                <a:uFillTx/>
                <a:latin typeface="Arial"/>
              </a:rPr>
              <a:t>Zero-commission access</a:t>
            </a:r>
            <a:endParaRPr lang="en-US" sz="2200" b="0" u="none" strike="noStrike">
              <a:solidFill>
                <a:srgbClr val="000000"/>
              </a:solidFill>
              <a:effectLst/>
              <a:uFillTx/>
              <a:latin typeface="Arial"/>
            </a:endParaRPr>
          </a:p>
        </p:txBody>
      </p:sp>
      <p:sp>
        <p:nvSpPr>
          <p:cNvPr id="180" name="reason explanation"/>
          <p:cNvSpPr/>
          <p:nvPr/>
        </p:nvSpPr>
        <p:spPr>
          <a:xfrm>
            <a:off x="1481400" y="3749040"/>
            <a:ext cx="5943240" cy="59400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0" u="none" strike="noStrike">
                <a:solidFill>
                  <a:srgbClr val="5E6B65"/>
                </a:solidFill>
                <a:effectLst/>
                <a:uFillTx/>
                <a:latin typeface="Arial"/>
              </a:rPr>
              <a:t>Apps such as Robinhood removed the cost barrier for</a:t>
            </a:r>
            <a:endParaRPr lang="en-US" sz="1700" b="0" u="none" strike="noStrike">
              <a:solidFill>
                <a:srgbClr val="000000"/>
              </a:solidFill>
              <a:effectLst/>
              <a:uFillTx/>
              <a:latin typeface="Arial"/>
            </a:endParaRPr>
          </a:p>
          <a:p>
            <a:pPr defTabSz="457200">
              <a:lnSpc>
                <a:spcPts val="1919"/>
              </a:lnSpc>
            </a:pPr>
            <a:r>
              <a:rPr lang="en-US" sz="1700" b="0" u="none" strike="noStrike">
                <a:solidFill>
                  <a:srgbClr val="5E6B65"/>
                </a:solidFill>
                <a:effectLst/>
                <a:uFillTx/>
                <a:latin typeface="Arial"/>
              </a:rPr>
              <a:t>everyday investors.</a:t>
            </a:r>
            <a:endParaRPr lang="en-US" sz="1700" b="0" u="none" strike="noStrike">
              <a:solidFill>
                <a:srgbClr val="000000"/>
              </a:solidFill>
              <a:effectLst/>
              <a:uFillTx/>
              <a:latin typeface="Arial"/>
            </a:endParaRPr>
          </a:p>
        </p:txBody>
      </p:sp>
      <p:sp>
        <p:nvSpPr>
          <p:cNvPr id="181" name="reason number"/>
          <p:cNvSpPr/>
          <p:nvPr/>
        </p:nvSpPr>
        <p:spPr>
          <a:xfrm>
            <a:off x="713160" y="4352400"/>
            <a:ext cx="575640" cy="456840"/>
          </a:xfrm>
          <a:prstGeom prst="rect">
            <a:avLst/>
          </a:prstGeom>
          <a:noFill/>
          <a:ln w="0">
            <a:noFill/>
          </a:ln>
        </p:spPr>
        <p:style>
          <a:lnRef idx="0"/>
          <a:fillRef idx="0"/>
          <a:effectRef idx="0"/>
          <a:fontRef idx="minor"/>
        </p:style>
        <p:txBody>
          <a:bodyPr lIns="0" tIns="19800" rIns="0" bIns="0" anchor="t">
            <a:noAutofit/>
          </a:bodyPr>
          <a:p>
            <a:pPr defTabSz="457200">
              <a:lnSpc>
                <a:spcPts val="2937"/>
              </a:lnSpc>
            </a:pPr>
            <a:r>
              <a:rPr lang="en-US" sz="2600" b="1" u="none" strike="noStrike">
                <a:solidFill>
                  <a:srgbClr val="2F7358"/>
                </a:solidFill>
                <a:effectLst/>
                <a:uFillTx/>
                <a:latin typeface="Arial"/>
              </a:rPr>
              <a:t>03</a:t>
            </a:r>
            <a:endParaRPr lang="en-US" sz="2600" b="0" u="none" strike="noStrike">
              <a:solidFill>
                <a:srgbClr val="000000"/>
              </a:solidFill>
              <a:effectLst/>
              <a:uFillTx/>
              <a:latin typeface="Arial"/>
            </a:endParaRPr>
          </a:p>
        </p:txBody>
      </p:sp>
      <p:sp>
        <p:nvSpPr>
          <p:cNvPr id="182" name="reason title"/>
          <p:cNvSpPr/>
          <p:nvPr/>
        </p:nvSpPr>
        <p:spPr>
          <a:xfrm>
            <a:off x="1481400" y="4352400"/>
            <a:ext cx="6354720" cy="35640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1" u="none" strike="noStrike">
                <a:solidFill>
                  <a:srgbClr val="17302B"/>
                </a:solidFill>
                <a:effectLst/>
                <a:uFillTx/>
                <a:latin typeface="Arial"/>
              </a:rPr>
              <a:t>Social proof and FOMO</a:t>
            </a:r>
            <a:endParaRPr lang="en-US" sz="2200" b="0" u="none" strike="noStrike">
              <a:solidFill>
                <a:srgbClr val="000000"/>
              </a:solidFill>
              <a:effectLst/>
              <a:uFillTx/>
              <a:latin typeface="Arial"/>
            </a:endParaRPr>
          </a:p>
        </p:txBody>
      </p:sp>
      <p:sp>
        <p:nvSpPr>
          <p:cNvPr id="183" name="reason explanation"/>
          <p:cNvSpPr/>
          <p:nvPr/>
        </p:nvSpPr>
        <p:spPr>
          <a:xfrm>
            <a:off x="1481400" y="4791600"/>
            <a:ext cx="5943240" cy="59400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0" u="none" strike="noStrike">
                <a:solidFill>
                  <a:srgbClr val="5E6B65"/>
                </a:solidFill>
                <a:effectLst/>
                <a:uFillTx/>
                <a:latin typeface="Arial"/>
              </a:rPr>
              <a:t>Keith Gill’s visible success on WallStreetBets attracted</a:t>
            </a:r>
            <a:endParaRPr lang="en-US" sz="1700" b="0" u="none" strike="noStrike">
              <a:solidFill>
                <a:srgbClr val="000000"/>
              </a:solidFill>
              <a:effectLst/>
              <a:uFillTx/>
              <a:latin typeface="Arial"/>
            </a:endParaRPr>
          </a:p>
          <a:p>
            <a:pPr defTabSz="457200">
              <a:lnSpc>
                <a:spcPts val="1919"/>
              </a:lnSpc>
            </a:pPr>
            <a:r>
              <a:rPr lang="en-US" sz="1700" b="0" u="none" strike="noStrike">
                <a:solidFill>
                  <a:srgbClr val="5E6B65"/>
                </a:solidFill>
                <a:effectLst/>
                <a:uFillTx/>
                <a:latin typeface="Arial"/>
              </a:rPr>
              <a:t>followers and fueled greed.</a:t>
            </a:r>
            <a:endParaRPr lang="en-US" sz="1700" b="0" u="none" strike="noStrike">
              <a:solidFill>
                <a:srgbClr val="000000"/>
              </a:solidFill>
              <a:effectLst/>
              <a:uFillTx/>
              <a:latin typeface="Arial"/>
            </a:endParaRPr>
          </a:p>
        </p:txBody>
      </p:sp>
      <p:sp>
        <p:nvSpPr>
          <p:cNvPr id="184" name="retail evidence panel"/>
          <p:cNvSpPr/>
          <p:nvPr/>
        </p:nvSpPr>
        <p:spPr>
          <a:xfrm>
            <a:off x="8229600" y="2240280"/>
            <a:ext cx="3254760" cy="3209040"/>
          </a:xfrm>
          <a:prstGeom prst="rect">
            <a:avLst/>
          </a:prstGeom>
          <a:solidFill>
            <a:srgbClr val="EAF2EC"/>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85" name="eyebrow"/>
          <p:cNvSpPr/>
          <p:nvPr/>
        </p:nvSpPr>
        <p:spPr>
          <a:xfrm>
            <a:off x="8458200" y="2450520"/>
            <a:ext cx="283428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F7358"/>
                </a:solidFill>
                <a:effectLst/>
                <a:uFillTx/>
                <a:latin typeface="Arial"/>
              </a:rPr>
              <a:t>FIRST-TIME INVESTORS</a:t>
            </a:r>
            <a:endParaRPr lang="en-US" sz="1150" b="0" u="none" strike="noStrike">
              <a:solidFill>
                <a:srgbClr val="000000"/>
              </a:solidFill>
              <a:effectLst/>
              <a:uFillTx/>
              <a:latin typeface="Arial"/>
            </a:endParaRPr>
          </a:p>
        </p:txBody>
      </p:sp>
      <p:sp>
        <p:nvSpPr>
          <p:cNvPr id="186" name="first-time investor statistic"/>
          <p:cNvSpPr/>
          <p:nvPr/>
        </p:nvSpPr>
        <p:spPr>
          <a:xfrm>
            <a:off x="8430840" y="2752200"/>
            <a:ext cx="2806920" cy="849960"/>
          </a:xfrm>
          <a:prstGeom prst="rect">
            <a:avLst/>
          </a:prstGeom>
          <a:noFill/>
          <a:ln w="0">
            <a:noFill/>
          </a:ln>
        </p:spPr>
        <p:style>
          <a:lnRef idx="0"/>
          <a:fillRef idx="0"/>
          <a:effectRef idx="0"/>
          <a:fontRef idx="minor"/>
        </p:style>
        <p:txBody>
          <a:bodyPr lIns="0" tIns="41040" rIns="0" bIns="0" anchor="t">
            <a:noAutofit/>
          </a:bodyPr>
          <a:p>
            <a:pPr defTabSz="457200">
              <a:lnSpc>
                <a:spcPts val="6103"/>
              </a:lnSpc>
            </a:pPr>
            <a:r>
              <a:rPr lang="en-US" sz="5400" b="1" u="none" strike="noStrike">
                <a:solidFill>
                  <a:srgbClr val="2F7358"/>
                </a:solidFill>
                <a:effectLst/>
                <a:uFillTx/>
                <a:latin typeface="Arial"/>
              </a:rPr>
              <a:t>50%</a:t>
            </a:r>
            <a:endParaRPr lang="en-US" sz="5400" b="0" u="none" strike="noStrike">
              <a:solidFill>
                <a:srgbClr val="000000"/>
              </a:solidFill>
              <a:effectLst/>
              <a:uFillTx/>
              <a:latin typeface="Arial"/>
            </a:endParaRPr>
          </a:p>
        </p:txBody>
      </p:sp>
      <p:sp>
        <p:nvSpPr>
          <p:cNvPr id="187" name="first-time investor basis"/>
          <p:cNvSpPr/>
          <p:nvPr/>
        </p:nvSpPr>
        <p:spPr>
          <a:xfrm>
            <a:off x="8458200" y="3657600"/>
            <a:ext cx="2733840" cy="59400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0" u="none" strike="noStrike">
                <a:solidFill>
                  <a:srgbClr val="5E6B65"/>
                </a:solidFill>
                <a:effectLst/>
                <a:uFillTx/>
                <a:latin typeface="Arial"/>
              </a:rPr>
              <a:t>of Robinhood’s new 2020</a:t>
            </a:r>
            <a:endParaRPr lang="en-US" sz="1700" b="0" u="none" strike="noStrike">
              <a:solidFill>
                <a:srgbClr val="000000"/>
              </a:solidFill>
              <a:effectLst/>
              <a:uFillTx/>
              <a:latin typeface="Arial"/>
            </a:endParaRPr>
          </a:p>
          <a:p>
            <a:pPr defTabSz="457200">
              <a:lnSpc>
                <a:spcPts val="1919"/>
              </a:lnSpc>
            </a:pPr>
            <a:r>
              <a:rPr lang="en-US" sz="1700" b="0" u="none" strike="noStrike">
                <a:solidFill>
                  <a:srgbClr val="5E6B65"/>
                </a:solidFill>
                <a:effectLst/>
                <a:uFillTx/>
                <a:latin typeface="Arial"/>
              </a:rPr>
              <a:t>users</a:t>
            </a:r>
            <a:endParaRPr lang="en-US" sz="1700" b="0" u="none" strike="noStrike">
              <a:solidFill>
                <a:srgbClr val="000000"/>
              </a:solidFill>
              <a:effectLst/>
              <a:uFillTx/>
              <a:latin typeface="Arial"/>
            </a:endParaRPr>
          </a:p>
        </p:txBody>
      </p:sp>
      <p:cxnSp>
        <p:nvCxnSpPr>
          <p:cNvPr id="188" name="connector"/>
          <p:cNvCxnSpPr/>
          <p:nvPr/>
        </p:nvCxnSpPr>
        <p:spPr>
          <a:xfrm>
            <a:off x="8458200" y="4425480"/>
            <a:ext cx="2807280" cy="360"/>
          </a:xfrm>
          <a:prstGeom prst="straightConnector1">
            <a:avLst/>
          </a:prstGeom>
          <a:ln w="8890">
            <a:solidFill>
              <a:srgbClr val="C9DCCE"/>
            </a:solidFill>
            <a:round/>
          </a:ln>
        </p:spPr>
      </p:cxnSp>
      <p:sp>
        <p:nvSpPr>
          <p:cNvPr id="189" name="Keith Gill option gain"/>
          <p:cNvSpPr/>
          <p:nvPr/>
        </p:nvSpPr>
        <p:spPr>
          <a:xfrm>
            <a:off x="8458200" y="4608720"/>
            <a:ext cx="2770200" cy="374400"/>
          </a:xfrm>
          <a:prstGeom prst="rect">
            <a:avLst/>
          </a:prstGeom>
          <a:noFill/>
          <a:ln w="0">
            <a:noFill/>
          </a:ln>
        </p:spPr>
        <p:style>
          <a:lnRef idx="0"/>
          <a:fillRef idx="0"/>
          <a:effectRef idx="0"/>
          <a:fontRef idx="minor"/>
        </p:style>
        <p:txBody>
          <a:bodyPr lIns="0" tIns="18360" rIns="0" bIns="0" anchor="t">
            <a:noAutofit/>
          </a:bodyPr>
          <a:p>
            <a:pPr defTabSz="457200">
              <a:lnSpc>
                <a:spcPts val="2710"/>
              </a:lnSpc>
            </a:pPr>
            <a:r>
              <a:rPr lang="en-US" sz="2400" b="1" u="none" strike="noStrike">
                <a:solidFill>
                  <a:srgbClr val="2F7358"/>
                </a:solidFill>
                <a:effectLst/>
                <a:uFillTx/>
                <a:latin typeface="Arial"/>
              </a:rPr>
              <a:t>$53K → $11M</a:t>
            </a:r>
            <a:endParaRPr lang="en-US" sz="2400" b="0" u="none" strike="noStrike">
              <a:solidFill>
                <a:srgbClr val="000000"/>
              </a:solidFill>
              <a:effectLst/>
              <a:uFillTx/>
              <a:latin typeface="Arial"/>
            </a:endParaRPr>
          </a:p>
        </p:txBody>
      </p:sp>
      <p:sp>
        <p:nvSpPr>
          <p:cNvPr id="190" name="option trade basis"/>
          <p:cNvSpPr/>
          <p:nvPr/>
        </p:nvSpPr>
        <p:spPr>
          <a:xfrm>
            <a:off x="8458200" y="5047560"/>
            <a:ext cx="2742840" cy="246600"/>
          </a:xfrm>
          <a:prstGeom prst="rect">
            <a:avLst/>
          </a:prstGeom>
          <a:noFill/>
          <a:ln w="0">
            <a:noFill/>
          </a:ln>
        </p:spPr>
        <p:style>
          <a:lnRef idx="0"/>
          <a:fillRef idx="0"/>
          <a:effectRef idx="0"/>
          <a:fontRef idx="minor"/>
        </p:style>
        <p:txBody>
          <a:bodyPr lIns="0" tIns="10800" rIns="0" bIns="0" anchor="t">
            <a:noAutofit/>
          </a:bodyPr>
          <a:p>
            <a:pPr defTabSz="457200">
              <a:lnSpc>
                <a:spcPts val="1582"/>
              </a:lnSpc>
            </a:pPr>
            <a:r>
              <a:rPr lang="en-US" sz="1400" b="0" u="none" strike="noStrike">
                <a:solidFill>
                  <a:srgbClr val="5E6B65"/>
                </a:solidFill>
                <a:effectLst/>
                <a:uFillTx/>
                <a:latin typeface="Arial"/>
              </a:rPr>
              <a:t>Keith Gill’s option trades</a:t>
            </a:r>
            <a:endParaRPr lang="en-US" sz="1400" b="0" u="none" strike="noStrike">
              <a:solidFill>
                <a:srgbClr val="000000"/>
              </a:solidFill>
              <a:effectLst/>
              <a:uFillTx/>
              <a:latin typeface="Arial"/>
            </a:endParaRPr>
          </a:p>
        </p:txBody>
      </p:sp>
      <p:sp>
        <p:nvSpPr>
          <p:cNvPr id="191" name="conclusion mark"/>
          <p:cNvSpPr/>
          <p:nvPr/>
        </p:nvSpPr>
        <p:spPr>
          <a:xfrm>
            <a:off x="658440" y="5833800"/>
            <a:ext cx="50040" cy="365400"/>
          </a:xfrm>
          <a:prstGeom prst="rect">
            <a:avLst/>
          </a:prstGeom>
          <a:solidFill>
            <a:srgbClr val="2F7358"/>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92" name="takeaway"/>
          <p:cNvSpPr/>
          <p:nvPr/>
        </p:nvSpPr>
        <p:spPr>
          <a:xfrm>
            <a:off x="877680" y="5806440"/>
            <a:ext cx="10560960" cy="493560"/>
          </a:xfrm>
          <a:prstGeom prst="rect">
            <a:avLst/>
          </a:prstGeom>
          <a:noFill/>
          <a:ln w="0">
            <a:noFill/>
          </a:ln>
        </p:spPr>
        <p:style>
          <a:lnRef idx="0"/>
          <a:fillRef idx="0"/>
          <a:effectRef idx="0"/>
          <a:fontRef idx="minor"/>
        </p:style>
        <p:txBody>
          <a:bodyPr lIns="0" tIns="14400" rIns="0" bIns="0" anchor="t">
            <a:noAutofit/>
          </a:bodyPr>
          <a:p>
            <a:pPr defTabSz="457200">
              <a:lnSpc>
                <a:spcPts val="2089"/>
              </a:lnSpc>
            </a:pPr>
            <a:r>
              <a:rPr lang="en-US" sz="1900" b="1" u="none" strike="noStrike">
                <a:solidFill>
                  <a:srgbClr val="17302B"/>
                </a:solidFill>
                <a:effectLst/>
                <a:uFillTx/>
                <a:latin typeface="Arial"/>
              </a:rPr>
              <a:t>Free time + easy access + highly visible success stories formed a retail army.</a:t>
            </a:r>
            <a:endParaRPr lang="en-US"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A"/>
        </a:solidFill>
      </p:bgPr>
    </p:bg>
    <p:spTree>
      <p:nvGrpSpPr>
        <p:cNvPr id="1" name=""/>
        <p:cNvGrpSpPr/>
        <p:nvPr/>
      </p:nvGrpSpPr>
      <p:grpSpPr>
        <a:xfrm>
          <a:off x="0" y="0"/>
          <a:ext cx="0" cy="0"/>
          <a:chOff x="0" y="0"/>
          <a:chExt cx="0" cy="0"/>
        </a:xfrm>
      </p:grpSpPr>
      <p:cxnSp>
        <p:nvCxnSpPr>
          <p:cNvPr id="193" name="footer rule"/>
          <p:cNvCxnSpPr/>
          <p:nvPr/>
        </p:nvCxnSpPr>
        <p:spPr>
          <a:xfrm>
            <a:off x="658080" y="6373080"/>
            <a:ext cx="10872720" cy="360"/>
          </a:xfrm>
          <a:prstGeom prst="straightConnector1">
            <a:avLst/>
          </a:prstGeom>
          <a:ln w="7620">
            <a:solidFill>
              <a:srgbClr val="D4DDD6"/>
            </a:solidFill>
            <a:round/>
          </a:ln>
        </p:spPr>
      </p:cxnSp>
      <p:sp>
        <p:nvSpPr>
          <p:cNvPr id="194"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195" name="speaker footer"/>
          <p:cNvSpPr/>
          <p:nvPr/>
        </p:nvSpPr>
        <p:spPr>
          <a:xfrm>
            <a:off x="7223760" y="6473880"/>
            <a:ext cx="3474360" cy="182520"/>
          </a:xfrm>
          <a:prstGeom prst="rect">
            <a:avLst/>
          </a:prstGeom>
          <a:noFill/>
          <a:ln w="0">
            <a:noFill/>
          </a:ln>
        </p:spPr>
        <p:style>
          <a:lnRef idx="0"/>
          <a:fillRef idx="0"/>
          <a:effectRef idx="0"/>
          <a:fontRef idx="minor"/>
        </p:style>
        <p:txBody>
          <a:bodyPr lIns="0" tIns="7200" rIns="0" bIns="0" anchor="t">
            <a:noAutofit/>
          </a:bodyPr>
          <a:p>
            <a:pPr algn="r" defTabSz="457200">
              <a:lnSpc>
                <a:spcPts val="1074"/>
              </a:lnSpc>
            </a:pPr>
            <a:r>
              <a:rPr lang="en-US" sz="950" b="0" u="none" strike="noStrike">
                <a:solidFill>
                  <a:srgbClr val="5E6B65"/>
                </a:solidFill>
                <a:effectLst/>
                <a:uFillTx/>
                <a:latin typeface="Arial"/>
              </a:rPr>
              <a:t>Liu Yinghan</a:t>
            </a:r>
            <a:endParaRPr lang="en-US" sz="950" b="0" u="none" strike="noStrike">
              <a:solidFill>
                <a:srgbClr val="000000"/>
              </a:solidFill>
              <a:effectLst/>
              <a:uFillTx/>
              <a:latin typeface="Arial"/>
            </a:endParaRPr>
          </a:p>
        </p:txBody>
      </p:sp>
      <p:sp>
        <p:nvSpPr>
          <p:cNvPr id="196"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06 / 18</a:t>
            </a:r>
            <a:endParaRPr lang="en-US" sz="1000" b="0" u="none" strike="noStrike">
              <a:solidFill>
                <a:srgbClr val="000000"/>
              </a:solidFill>
              <a:effectLst/>
              <a:uFillTx/>
              <a:latin typeface="Arial"/>
            </a:endParaRPr>
          </a:p>
        </p:txBody>
      </p:sp>
      <p:sp>
        <p:nvSpPr>
          <p:cNvPr id="197"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F7358"/>
                </a:solidFill>
                <a:effectLst/>
                <a:uFillTx/>
                <a:latin typeface="Arial"/>
              </a:rPr>
              <a:t>Q1 / THE SQUEEZE MECHANISM</a:t>
            </a:r>
            <a:endParaRPr lang="en-US" sz="1150" b="0" u="none" strike="noStrike">
              <a:solidFill>
                <a:srgbClr val="000000"/>
              </a:solidFill>
              <a:effectLst/>
              <a:uFillTx/>
              <a:latin typeface="Arial"/>
            </a:endParaRPr>
          </a:p>
        </p:txBody>
      </p:sp>
      <p:sp>
        <p:nvSpPr>
          <p:cNvPr id="198" name="slide title"/>
          <p:cNvSpPr/>
          <p:nvPr/>
        </p:nvSpPr>
        <p:spPr>
          <a:xfrm>
            <a:off x="658440" y="859680"/>
            <a:ext cx="10835280" cy="676440"/>
          </a:xfrm>
          <a:prstGeom prst="rect">
            <a:avLst/>
          </a:prstGeom>
          <a:noFill/>
          <a:ln w="0">
            <a:noFill/>
          </a:ln>
        </p:spPr>
        <p:style>
          <a:lnRef idx="0"/>
          <a:fillRef idx="0"/>
          <a:effectRef idx="0"/>
          <a:fontRef idx="minor"/>
        </p:style>
        <p:txBody>
          <a:bodyPr lIns="0" tIns="25200" rIns="0" bIns="0" anchor="t">
            <a:noAutofit/>
          </a:bodyPr>
          <a:p>
            <a:pPr defTabSz="457200">
              <a:lnSpc>
                <a:spcPts val="3532"/>
              </a:lnSpc>
            </a:pPr>
            <a:r>
              <a:rPr lang="en-US" sz="3300" b="1" u="none" strike="noStrike">
                <a:solidFill>
                  <a:srgbClr val="17302B"/>
                </a:solidFill>
                <a:effectLst/>
                <a:uFillTx/>
                <a:latin typeface="Arial"/>
              </a:rPr>
              <a:t>Rising prices triggered even more buying</a:t>
            </a:r>
            <a:endParaRPr lang="en-US" sz="3300" b="0" u="none" strike="noStrike">
              <a:solidFill>
                <a:srgbClr val="000000"/>
              </a:solidFill>
              <a:effectLst/>
              <a:uFillTx/>
              <a:latin typeface="Arial"/>
            </a:endParaRPr>
          </a:p>
        </p:txBody>
      </p:sp>
      <p:sp>
        <p:nvSpPr>
          <p:cNvPr id="199"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Retail investors, short sellers and option sellers reinforced the same upward spiral.</a:t>
            </a:r>
            <a:endParaRPr lang="en-US" sz="1700" b="0" u="none" strike="noStrike">
              <a:solidFill>
                <a:srgbClr val="000000"/>
              </a:solidFill>
              <a:effectLst/>
              <a:uFillTx/>
              <a:latin typeface="Arial"/>
            </a:endParaRPr>
          </a:p>
        </p:txBody>
      </p:sp>
      <p:sp>
        <p:nvSpPr>
          <p:cNvPr id="200" name="eyebrow"/>
          <p:cNvSpPr/>
          <p:nvPr/>
        </p:nvSpPr>
        <p:spPr>
          <a:xfrm>
            <a:off x="713160" y="2267640"/>
            <a:ext cx="29257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F7358"/>
                </a:solidFill>
                <a:effectLst/>
                <a:uFillTx/>
                <a:latin typeface="Arial"/>
              </a:rPr>
              <a:t>THE FIRST PUSH</a:t>
            </a:r>
            <a:endParaRPr lang="en-US" sz="1150" b="0" u="none" strike="noStrike">
              <a:solidFill>
                <a:srgbClr val="000000"/>
              </a:solidFill>
              <a:effectLst/>
              <a:uFillTx/>
              <a:latin typeface="Arial"/>
            </a:endParaRPr>
          </a:p>
        </p:txBody>
      </p:sp>
      <p:sp>
        <p:nvSpPr>
          <p:cNvPr id="201" name="retail input"/>
          <p:cNvSpPr/>
          <p:nvPr/>
        </p:nvSpPr>
        <p:spPr>
          <a:xfrm>
            <a:off x="713160" y="2651760"/>
            <a:ext cx="2925720" cy="603000"/>
          </a:xfrm>
          <a:prstGeom prst="rect">
            <a:avLst/>
          </a:prstGeom>
          <a:noFill/>
          <a:ln w="0">
            <a:noFill/>
          </a:ln>
        </p:spPr>
        <p:style>
          <a:lnRef idx="0"/>
          <a:fillRef idx="0"/>
          <a:effectRef idx="0"/>
          <a:fontRef idx="minor"/>
        </p:style>
        <p:txBody>
          <a:bodyPr lIns="0" tIns="19080" rIns="0" bIns="0" anchor="t">
            <a:noAutofit/>
          </a:bodyPr>
          <a:p>
            <a:pPr defTabSz="457200">
              <a:lnSpc>
                <a:spcPts val="2823"/>
              </a:lnSpc>
            </a:pPr>
            <a:r>
              <a:rPr lang="en-US" sz="2500" b="1" u="none" strike="noStrike">
                <a:solidFill>
                  <a:srgbClr val="17302B"/>
                </a:solidFill>
                <a:effectLst/>
                <a:uFillTx/>
                <a:latin typeface="Arial"/>
              </a:rPr>
              <a:t>Retail buy-in</a:t>
            </a:r>
            <a:endParaRPr lang="en-US" sz="2500" b="0" u="none" strike="noStrike">
              <a:solidFill>
                <a:srgbClr val="000000"/>
              </a:solidFill>
              <a:effectLst/>
              <a:uFillTx/>
              <a:latin typeface="Arial"/>
            </a:endParaRPr>
          </a:p>
        </p:txBody>
      </p:sp>
      <p:sp>
        <p:nvSpPr>
          <p:cNvPr id="202" name="retail input explanation"/>
          <p:cNvSpPr/>
          <p:nvPr/>
        </p:nvSpPr>
        <p:spPr>
          <a:xfrm>
            <a:off x="713160" y="3346560"/>
            <a:ext cx="2559960" cy="56664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0" u="none" strike="noStrike">
                <a:solidFill>
                  <a:srgbClr val="5E6B65"/>
                </a:solidFill>
                <a:effectLst/>
                <a:uFillTx/>
                <a:latin typeface="Arial"/>
              </a:rPr>
              <a:t>Buy GME shares</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and options</a:t>
            </a:r>
            <a:endParaRPr lang="en-US" sz="1800" b="0" u="none" strike="noStrike">
              <a:solidFill>
                <a:srgbClr val="000000"/>
              </a:solidFill>
              <a:effectLst/>
              <a:uFillTx/>
              <a:latin typeface="Arial"/>
            </a:endParaRPr>
          </a:p>
        </p:txBody>
      </p:sp>
      <p:sp>
        <p:nvSpPr>
          <p:cNvPr id="203" name="WSB new subscriber stat"/>
          <p:cNvSpPr/>
          <p:nvPr/>
        </p:nvSpPr>
        <p:spPr>
          <a:xfrm>
            <a:off x="713160" y="4453200"/>
            <a:ext cx="2605680" cy="529920"/>
          </a:xfrm>
          <a:prstGeom prst="rect">
            <a:avLst/>
          </a:prstGeom>
          <a:noFill/>
          <a:ln w="0">
            <a:noFill/>
          </a:ln>
        </p:spPr>
        <p:style>
          <a:lnRef idx="0"/>
          <a:fillRef idx="0"/>
          <a:effectRef idx="0"/>
          <a:fontRef idx="minor"/>
        </p:style>
        <p:txBody>
          <a:bodyPr lIns="0" tIns="20520" rIns="0" bIns="0" anchor="t">
            <a:noAutofit/>
          </a:bodyPr>
          <a:p>
            <a:pPr defTabSz="457200">
              <a:lnSpc>
                <a:spcPts val="3050"/>
              </a:lnSpc>
            </a:pPr>
            <a:r>
              <a:rPr lang="en-US" sz="2700" b="1" u="none" strike="noStrike">
                <a:solidFill>
                  <a:srgbClr val="2F7358"/>
                </a:solidFill>
                <a:effectLst/>
                <a:uFillTx/>
                <a:latin typeface="Arial"/>
              </a:rPr>
              <a:t>+1.1 million</a:t>
            </a:r>
            <a:endParaRPr lang="en-US" sz="2700" b="0" u="none" strike="noStrike">
              <a:solidFill>
                <a:srgbClr val="000000"/>
              </a:solidFill>
              <a:effectLst/>
              <a:uFillTx/>
              <a:latin typeface="Arial"/>
            </a:endParaRPr>
          </a:p>
        </p:txBody>
      </p:sp>
      <p:sp>
        <p:nvSpPr>
          <p:cNvPr id="204" name="WSB subscriber basis"/>
          <p:cNvSpPr/>
          <p:nvPr/>
        </p:nvSpPr>
        <p:spPr>
          <a:xfrm>
            <a:off x="713160" y="4992480"/>
            <a:ext cx="2651400" cy="575640"/>
          </a:xfrm>
          <a:prstGeom prst="rect">
            <a:avLst/>
          </a:prstGeom>
          <a:noFill/>
          <a:ln w="0">
            <a:noFill/>
          </a:ln>
        </p:spPr>
        <p:style>
          <a:lnRef idx="0"/>
          <a:fillRef idx="0"/>
          <a:effectRef idx="0"/>
          <a:fontRef idx="minor"/>
        </p:style>
        <p:txBody>
          <a:bodyPr lIns="0" tIns="11880" rIns="0" bIns="0" anchor="t">
            <a:noAutofit/>
          </a:bodyPr>
          <a:p>
            <a:pPr defTabSz="457200">
              <a:lnSpc>
                <a:spcPts val="1752"/>
              </a:lnSpc>
            </a:pPr>
            <a:r>
              <a:rPr lang="en-US" sz="1550" b="0" u="none" strike="noStrike">
                <a:solidFill>
                  <a:srgbClr val="5E6B65"/>
                </a:solidFill>
                <a:effectLst/>
                <a:uFillTx/>
                <a:latin typeface="Arial"/>
              </a:rPr>
              <a:t>new WSB subscribers in a</a:t>
            </a:r>
            <a:endParaRPr lang="en-US" sz="1550" b="0" u="none" strike="noStrike">
              <a:solidFill>
                <a:srgbClr val="000000"/>
              </a:solidFill>
              <a:effectLst/>
              <a:uFillTx/>
              <a:latin typeface="Arial"/>
            </a:endParaRPr>
          </a:p>
          <a:p>
            <a:pPr defTabSz="457200">
              <a:lnSpc>
                <a:spcPts val="1752"/>
              </a:lnSpc>
            </a:pPr>
            <a:r>
              <a:rPr lang="en-US" sz="1550" b="0" u="none" strike="noStrike">
                <a:solidFill>
                  <a:srgbClr val="5E6B65"/>
                </a:solidFill>
                <a:effectLst/>
                <a:uFillTx/>
                <a:latin typeface="Arial"/>
              </a:rPr>
              <a:t>single day</a:t>
            </a:r>
            <a:endParaRPr lang="en-US" sz="1550" b="0" u="none" strike="noStrike">
              <a:solidFill>
                <a:srgbClr val="000000"/>
              </a:solidFill>
              <a:effectLst/>
              <a:uFillTx/>
              <a:latin typeface="Arial"/>
            </a:endParaRPr>
          </a:p>
        </p:txBody>
      </p:sp>
      <p:sp>
        <p:nvSpPr>
          <p:cNvPr id="205" name="circle"/>
          <p:cNvSpPr/>
          <p:nvPr/>
        </p:nvSpPr>
        <p:spPr>
          <a:xfrm>
            <a:off x="3666600" y="2898720"/>
            <a:ext cx="1728000" cy="1728000"/>
          </a:xfrm>
          <a:prstGeom prst="ellipse">
            <a:avLst/>
          </a:prstGeom>
          <a:solidFill>
            <a:srgbClr val="EAF2EC"/>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06" name="price feedback hub"/>
          <p:cNvSpPr/>
          <p:nvPr/>
        </p:nvSpPr>
        <p:spPr>
          <a:xfrm>
            <a:off x="3785760" y="3319200"/>
            <a:ext cx="1490040" cy="740160"/>
          </a:xfrm>
          <a:prstGeom prst="rect">
            <a:avLst/>
          </a:prstGeom>
          <a:noFill/>
          <a:ln w="0">
            <a:noFill/>
          </a:ln>
        </p:spPr>
        <p:style>
          <a:lnRef idx="0"/>
          <a:fillRef idx="0"/>
          <a:effectRef idx="0"/>
          <a:fontRef idx="minor"/>
        </p:style>
        <p:txBody>
          <a:bodyPr lIns="0" tIns="14400" rIns="0" bIns="0" anchor="t">
            <a:noAutofit/>
          </a:bodyPr>
          <a:p>
            <a:pPr algn="ctr" defTabSz="457200">
              <a:lnSpc>
                <a:spcPts val="2146"/>
              </a:lnSpc>
            </a:pPr>
            <a:r>
              <a:rPr lang="en-US" sz="1900" b="1" u="none" strike="noStrike">
                <a:solidFill>
                  <a:srgbClr val="2F7358"/>
                </a:solidFill>
                <a:effectLst/>
                <a:uFillTx/>
                <a:latin typeface="Arial"/>
              </a:rPr>
              <a:t>GME</a:t>
            </a:r>
            <a:endParaRPr lang="en-US" sz="1900" b="0" u="none" strike="noStrike">
              <a:solidFill>
                <a:srgbClr val="000000"/>
              </a:solidFill>
              <a:effectLst/>
              <a:uFillTx/>
              <a:latin typeface="Arial"/>
            </a:endParaRPr>
          </a:p>
          <a:p>
            <a:pPr algn="ctr" defTabSz="457200">
              <a:lnSpc>
                <a:spcPts val="2146"/>
              </a:lnSpc>
            </a:pPr>
            <a:r>
              <a:rPr lang="en-US" sz="1900" b="1" u="none" strike="noStrike">
                <a:solidFill>
                  <a:srgbClr val="2F7358"/>
                </a:solidFill>
                <a:effectLst/>
                <a:uFillTx/>
                <a:latin typeface="Arial"/>
              </a:rPr>
              <a:t>price rises</a:t>
            </a:r>
            <a:endParaRPr lang="en-US" sz="1900" b="0" u="none" strike="noStrike">
              <a:solidFill>
                <a:srgbClr val="000000"/>
              </a:solidFill>
              <a:effectLst/>
              <a:uFillTx/>
              <a:latin typeface="Arial"/>
            </a:endParaRPr>
          </a:p>
        </p:txBody>
      </p:sp>
      <p:cxnSp>
        <p:nvCxnSpPr>
          <p:cNvPr id="207" name="retail input arrow"/>
          <p:cNvCxnSpPr/>
          <p:nvPr/>
        </p:nvCxnSpPr>
        <p:spPr>
          <a:xfrm>
            <a:off x="3072240" y="3767040"/>
            <a:ext cx="494280" cy="360"/>
          </a:xfrm>
          <a:prstGeom prst="straightConnector1">
            <a:avLst/>
          </a:prstGeom>
          <a:ln w="20320">
            <a:solidFill>
              <a:srgbClr val="2F7358"/>
            </a:solidFill>
            <a:round/>
            <a:tailEnd len="med" type="triangle" w="med"/>
          </a:ln>
        </p:spPr>
      </p:cxnSp>
      <p:cxnSp>
        <p:nvCxnSpPr>
          <p:cNvPr id="208" name="short covering branch"/>
          <p:cNvCxnSpPr/>
          <p:nvPr/>
        </p:nvCxnSpPr>
        <p:spPr>
          <a:xfrm>
            <a:off x="5468040" y="3474720"/>
            <a:ext cx="293040" cy="360"/>
          </a:xfrm>
          <a:prstGeom prst="straightConnector1">
            <a:avLst/>
          </a:prstGeom>
          <a:ln w="19050">
            <a:solidFill>
              <a:srgbClr val="2F7358"/>
            </a:solidFill>
            <a:round/>
          </a:ln>
        </p:spPr>
      </p:cxnSp>
      <p:cxnSp>
        <p:nvCxnSpPr>
          <p:cNvPr id="209" name="short covering branch"/>
          <p:cNvCxnSpPr/>
          <p:nvPr/>
        </p:nvCxnSpPr>
        <p:spPr>
          <a:xfrm flipV="1">
            <a:off x="5760720" y="2715480"/>
            <a:ext cx="360" cy="759600"/>
          </a:xfrm>
          <a:prstGeom prst="straightConnector1">
            <a:avLst/>
          </a:prstGeom>
          <a:ln w="19050">
            <a:solidFill>
              <a:srgbClr val="2F7358"/>
            </a:solidFill>
            <a:round/>
          </a:ln>
        </p:spPr>
      </p:cxnSp>
      <p:cxnSp>
        <p:nvCxnSpPr>
          <p:cNvPr id="210" name="short covering branch"/>
          <p:cNvCxnSpPr/>
          <p:nvPr/>
        </p:nvCxnSpPr>
        <p:spPr>
          <a:xfrm>
            <a:off x="5760720" y="2715480"/>
            <a:ext cx="366120" cy="360"/>
          </a:xfrm>
          <a:prstGeom prst="straightConnector1">
            <a:avLst/>
          </a:prstGeom>
          <a:ln w="19050">
            <a:solidFill>
              <a:srgbClr val="2F7358"/>
            </a:solidFill>
            <a:round/>
            <a:tailEnd len="med" type="triangle" w="med"/>
          </a:ln>
        </p:spPr>
      </p:cxnSp>
      <p:cxnSp>
        <p:nvCxnSpPr>
          <p:cNvPr id="211" name="option hedge branch"/>
          <p:cNvCxnSpPr/>
          <p:nvPr/>
        </p:nvCxnSpPr>
        <p:spPr>
          <a:xfrm>
            <a:off x="5468040" y="4050720"/>
            <a:ext cx="293040" cy="360"/>
          </a:xfrm>
          <a:prstGeom prst="straightConnector1">
            <a:avLst/>
          </a:prstGeom>
          <a:ln w="19050">
            <a:solidFill>
              <a:srgbClr val="2F7358"/>
            </a:solidFill>
            <a:round/>
          </a:ln>
        </p:spPr>
      </p:cxnSp>
      <p:cxnSp>
        <p:nvCxnSpPr>
          <p:cNvPr id="212" name="option hedge branch"/>
          <p:cNvCxnSpPr/>
          <p:nvPr/>
        </p:nvCxnSpPr>
        <p:spPr>
          <a:xfrm>
            <a:off x="5760720" y="4050720"/>
            <a:ext cx="360" cy="439200"/>
          </a:xfrm>
          <a:prstGeom prst="straightConnector1">
            <a:avLst/>
          </a:prstGeom>
          <a:ln w="19050">
            <a:solidFill>
              <a:srgbClr val="2F7358"/>
            </a:solidFill>
            <a:round/>
          </a:ln>
        </p:spPr>
      </p:cxnSp>
      <p:cxnSp>
        <p:nvCxnSpPr>
          <p:cNvPr id="213" name="option hedge branch"/>
          <p:cNvCxnSpPr/>
          <p:nvPr/>
        </p:nvCxnSpPr>
        <p:spPr>
          <a:xfrm>
            <a:off x="5760720" y="4489560"/>
            <a:ext cx="366120" cy="360"/>
          </a:xfrm>
          <a:prstGeom prst="straightConnector1">
            <a:avLst/>
          </a:prstGeom>
          <a:ln w="19050">
            <a:solidFill>
              <a:srgbClr val="2F7358"/>
            </a:solidFill>
            <a:round/>
            <a:tailEnd len="med" type="triangle" w="med"/>
          </a:ln>
        </p:spPr>
      </p:cxnSp>
      <p:sp>
        <p:nvSpPr>
          <p:cNvPr id="214" name="eyebrow"/>
          <p:cNvSpPr/>
          <p:nvPr/>
        </p:nvSpPr>
        <p:spPr>
          <a:xfrm>
            <a:off x="6309360" y="2249280"/>
            <a:ext cx="207540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F7358"/>
                </a:solidFill>
                <a:effectLst/>
                <a:uFillTx/>
                <a:latin typeface="Arial"/>
              </a:rPr>
              <a:t>FORCED BUYING</a:t>
            </a:r>
            <a:endParaRPr lang="en-US" sz="1150" b="0" u="none" strike="noStrike">
              <a:solidFill>
                <a:srgbClr val="000000"/>
              </a:solidFill>
              <a:effectLst/>
              <a:uFillTx/>
              <a:latin typeface="Arial"/>
            </a:endParaRPr>
          </a:p>
        </p:txBody>
      </p:sp>
      <p:sp>
        <p:nvSpPr>
          <p:cNvPr id="215" name="forced short covering"/>
          <p:cNvSpPr/>
          <p:nvPr/>
        </p:nvSpPr>
        <p:spPr>
          <a:xfrm>
            <a:off x="6309360" y="2615040"/>
            <a:ext cx="1983960" cy="639720"/>
          </a:xfrm>
          <a:prstGeom prst="rect">
            <a:avLst/>
          </a:prstGeom>
          <a:noFill/>
          <a:ln w="0">
            <a:noFill/>
          </a:ln>
        </p:spPr>
        <p:style>
          <a:lnRef idx="0"/>
          <a:fillRef idx="0"/>
          <a:effectRef idx="0"/>
          <a:fontRef idx="minor"/>
        </p:style>
        <p:txBody>
          <a:bodyPr lIns="0" tIns="15840" rIns="0" bIns="0" anchor="t">
            <a:noAutofit/>
          </a:bodyPr>
          <a:p>
            <a:pPr defTabSz="457200">
              <a:lnSpc>
                <a:spcPts val="2373"/>
              </a:lnSpc>
            </a:pPr>
            <a:r>
              <a:rPr lang="en-US" sz="2100" b="1" u="none" strike="noStrike">
                <a:solidFill>
                  <a:srgbClr val="17302B"/>
                </a:solidFill>
                <a:effectLst/>
                <a:uFillTx/>
                <a:latin typeface="Arial"/>
              </a:rPr>
              <a:t>Shorts cover</a:t>
            </a:r>
            <a:endParaRPr lang="en-US" sz="2100" b="0" u="none" strike="noStrike">
              <a:solidFill>
                <a:srgbClr val="000000"/>
              </a:solidFill>
              <a:effectLst/>
              <a:uFillTx/>
              <a:latin typeface="Arial"/>
            </a:endParaRPr>
          </a:p>
        </p:txBody>
      </p:sp>
      <p:sp>
        <p:nvSpPr>
          <p:cNvPr id="216" name="short covering explanation"/>
          <p:cNvSpPr/>
          <p:nvPr/>
        </p:nvSpPr>
        <p:spPr>
          <a:xfrm>
            <a:off x="6309360" y="3246120"/>
            <a:ext cx="1983960" cy="822600"/>
          </a:xfrm>
          <a:prstGeom prst="rect">
            <a:avLst/>
          </a:prstGeom>
          <a:noFill/>
          <a:ln w="0">
            <a:noFill/>
          </a:ln>
        </p:spPr>
        <p:style>
          <a:lnRef idx="0"/>
          <a:fillRef idx="0"/>
          <a:effectRef idx="0"/>
          <a:fontRef idx="minor"/>
        </p:style>
        <p:txBody>
          <a:bodyPr lIns="0" tIns="12600" rIns="0" bIns="0" anchor="t">
            <a:noAutofit/>
          </a:bodyPr>
          <a:p>
            <a:pPr defTabSz="457200">
              <a:lnSpc>
                <a:spcPts val="1865"/>
              </a:lnSpc>
            </a:pPr>
            <a:r>
              <a:rPr lang="en-US" sz="1650" b="0" u="none" strike="noStrike">
                <a:solidFill>
                  <a:srgbClr val="5E6B65"/>
                </a:solidFill>
                <a:effectLst/>
                <a:uFillTx/>
                <a:latin typeface="Arial"/>
              </a:rPr>
              <a:t>Hedge funds buy</a:t>
            </a:r>
            <a:endParaRPr lang="en-US" sz="1650" b="0" u="none" strike="noStrike">
              <a:solidFill>
                <a:srgbClr val="000000"/>
              </a:solidFill>
              <a:effectLst/>
              <a:uFillTx/>
              <a:latin typeface="Arial"/>
            </a:endParaRPr>
          </a:p>
          <a:p>
            <a:pPr defTabSz="457200">
              <a:lnSpc>
                <a:spcPts val="1865"/>
              </a:lnSpc>
            </a:pPr>
            <a:r>
              <a:rPr lang="en-US" sz="1650" b="0" u="none" strike="noStrike">
                <a:solidFill>
                  <a:srgbClr val="5E6B65"/>
                </a:solidFill>
                <a:effectLst/>
                <a:uFillTx/>
                <a:latin typeface="Arial"/>
              </a:rPr>
              <a:t>shares back to cover</a:t>
            </a:r>
            <a:endParaRPr lang="en-US" sz="1650" b="0" u="none" strike="noStrike">
              <a:solidFill>
                <a:srgbClr val="000000"/>
              </a:solidFill>
              <a:effectLst/>
              <a:uFillTx/>
              <a:latin typeface="Arial"/>
            </a:endParaRPr>
          </a:p>
          <a:p>
            <a:pPr defTabSz="457200">
              <a:lnSpc>
                <a:spcPts val="1865"/>
              </a:lnSpc>
            </a:pPr>
            <a:r>
              <a:rPr lang="en-US" sz="1650" b="0" u="none" strike="noStrike">
                <a:solidFill>
                  <a:srgbClr val="5E6B65"/>
                </a:solidFill>
                <a:effectLst/>
                <a:uFillTx/>
                <a:latin typeface="Arial"/>
              </a:rPr>
              <a:t>losses.</a:t>
            </a:r>
            <a:endParaRPr lang="en-US" sz="1650" b="0" u="none" strike="noStrike">
              <a:solidFill>
                <a:srgbClr val="000000"/>
              </a:solidFill>
              <a:effectLst/>
              <a:uFillTx/>
              <a:latin typeface="Arial"/>
            </a:endParaRPr>
          </a:p>
        </p:txBody>
      </p:sp>
      <p:sp>
        <p:nvSpPr>
          <p:cNvPr id="217" name="option hedging"/>
          <p:cNvSpPr/>
          <p:nvPr/>
        </p:nvSpPr>
        <p:spPr>
          <a:xfrm>
            <a:off x="6309360" y="4215240"/>
            <a:ext cx="1983960" cy="630720"/>
          </a:xfrm>
          <a:prstGeom prst="rect">
            <a:avLst/>
          </a:prstGeom>
          <a:noFill/>
          <a:ln w="0">
            <a:noFill/>
          </a:ln>
        </p:spPr>
        <p:style>
          <a:lnRef idx="0"/>
          <a:fillRef idx="0"/>
          <a:effectRef idx="0"/>
          <a:fontRef idx="minor"/>
        </p:style>
        <p:txBody>
          <a:bodyPr lIns="0" tIns="15840" rIns="0" bIns="0" anchor="t">
            <a:noAutofit/>
          </a:bodyPr>
          <a:p>
            <a:pPr defTabSz="457200">
              <a:lnSpc>
                <a:spcPts val="2373"/>
              </a:lnSpc>
            </a:pPr>
            <a:r>
              <a:rPr lang="en-US" sz="2100" b="1" u="none" strike="noStrike">
                <a:solidFill>
                  <a:srgbClr val="17302B"/>
                </a:solidFill>
                <a:effectLst/>
                <a:uFillTx/>
                <a:latin typeface="Arial"/>
              </a:rPr>
              <a:t>Option sellers</a:t>
            </a:r>
            <a:endParaRPr lang="en-US" sz="2100" b="0" u="none" strike="noStrike">
              <a:solidFill>
                <a:srgbClr val="000000"/>
              </a:solidFill>
              <a:effectLst/>
              <a:uFillTx/>
              <a:latin typeface="Arial"/>
            </a:endParaRPr>
          </a:p>
          <a:p>
            <a:pPr defTabSz="457200">
              <a:lnSpc>
                <a:spcPts val="2373"/>
              </a:lnSpc>
            </a:pPr>
            <a:r>
              <a:rPr lang="en-US" sz="2100" b="1" u="none" strike="noStrike">
                <a:solidFill>
                  <a:srgbClr val="17302B"/>
                </a:solidFill>
                <a:effectLst/>
                <a:uFillTx/>
                <a:latin typeface="Arial"/>
              </a:rPr>
              <a:t>hedge</a:t>
            </a:r>
            <a:endParaRPr lang="en-US" sz="2100" b="0" u="none" strike="noStrike">
              <a:solidFill>
                <a:srgbClr val="000000"/>
              </a:solidFill>
              <a:effectLst/>
              <a:uFillTx/>
              <a:latin typeface="Arial"/>
            </a:endParaRPr>
          </a:p>
        </p:txBody>
      </p:sp>
      <p:sp>
        <p:nvSpPr>
          <p:cNvPr id="218" name="option hedge explanation"/>
          <p:cNvSpPr/>
          <p:nvPr/>
        </p:nvSpPr>
        <p:spPr>
          <a:xfrm>
            <a:off x="6309360" y="4827960"/>
            <a:ext cx="1983960" cy="685440"/>
          </a:xfrm>
          <a:prstGeom prst="rect">
            <a:avLst/>
          </a:prstGeom>
          <a:noFill/>
          <a:ln w="0">
            <a:noFill/>
          </a:ln>
        </p:spPr>
        <p:style>
          <a:lnRef idx="0"/>
          <a:fillRef idx="0"/>
          <a:effectRef idx="0"/>
          <a:fontRef idx="minor"/>
        </p:style>
        <p:txBody>
          <a:bodyPr lIns="0" tIns="12240" rIns="0" bIns="0" anchor="t">
            <a:noAutofit/>
          </a:bodyPr>
          <a:p>
            <a:pPr defTabSz="457200">
              <a:lnSpc>
                <a:spcPts val="1806"/>
              </a:lnSpc>
            </a:pPr>
            <a:r>
              <a:rPr lang="en-US" sz="1600" b="0" u="none" strike="noStrike">
                <a:solidFill>
                  <a:srgbClr val="5E6B65"/>
                </a:solidFill>
                <a:effectLst/>
                <a:uFillTx/>
                <a:latin typeface="Arial"/>
              </a:rPr>
              <a:t>Market makers buy</a:t>
            </a:r>
            <a:endParaRPr lang="en-US" sz="1600" b="0" u="none" strike="noStrike">
              <a:solidFill>
                <a:srgbClr val="000000"/>
              </a:solidFill>
              <a:effectLst/>
              <a:uFillTx/>
              <a:latin typeface="Arial"/>
            </a:endParaRPr>
          </a:p>
          <a:p>
            <a:pPr defTabSz="457200">
              <a:lnSpc>
                <a:spcPts val="1806"/>
              </a:lnSpc>
            </a:pPr>
            <a:r>
              <a:rPr lang="en-US" sz="1600" b="0" u="none" strike="noStrike">
                <a:solidFill>
                  <a:srgbClr val="5E6B65"/>
                </a:solidFill>
                <a:effectLst/>
                <a:uFillTx/>
                <a:latin typeface="Arial"/>
              </a:rPr>
              <a:t>shares to manage</a:t>
            </a:r>
            <a:endParaRPr lang="en-US" sz="1600" b="0" u="none" strike="noStrike">
              <a:solidFill>
                <a:srgbClr val="000000"/>
              </a:solidFill>
              <a:effectLst/>
              <a:uFillTx/>
              <a:latin typeface="Arial"/>
            </a:endParaRPr>
          </a:p>
          <a:p>
            <a:pPr defTabSz="457200">
              <a:lnSpc>
                <a:spcPts val="1806"/>
              </a:lnSpc>
            </a:pPr>
            <a:r>
              <a:rPr lang="en-US" sz="1600" b="0" u="none" strike="noStrike">
                <a:solidFill>
                  <a:srgbClr val="5E6B65"/>
                </a:solidFill>
                <a:effectLst/>
                <a:uFillTx/>
                <a:latin typeface="Arial"/>
              </a:rPr>
              <a:t>call-option risk.</a:t>
            </a:r>
            <a:endParaRPr lang="en-US" sz="1600" b="0" u="none" strike="noStrike">
              <a:solidFill>
                <a:srgbClr val="000000"/>
              </a:solidFill>
              <a:effectLst/>
              <a:uFillTx/>
              <a:latin typeface="Arial"/>
            </a:endParaRPr>
          </a:p>
        </p:txBody>
      </p:sp>
      <p:cxnSp>
        <p:nvCxnSpPr>
          <p:cNvPr id="219" name="mandatory buying feedback"/>
          <p:cNvCxnSpPr/>
          <p:nvPr/>
        </p:nvCxnSpPr>
        <p:spPr>
          <a:xfrm flipH="1">
            <a:off x="4544280" y="5641560"/>
            <a:ext cx="1838520" cy="360"/>
          </a:xfrm>
          <a:prstGeom prst="straightConnector1">
            <a:avLst/>
          </a:prstGeom>
          <a:ln w="17780">
            <a:solidFill>
              <a:srgbClr val="2F7358"/>
            </a:solidFill>
            <a:round/>
          </a:ln>
        </p:spPr>
      </p:cxnSp>
      <p:cxnSp>
        <p:nvCxnSpPr>
          <p:cNvPr id="220" name="mandatory buying feedback"/>
          <p:cNvCxnSpPr/>
          <p:nvPr/>
        </p:nvCxnSpPr>
        <p:spPr>
          <a:xfrm flipV="1">
            <a:off x="4544280" y="4745520"/>
            <a:ext cx="360" cy="896400"/>
          </a:xfrm>
          <a:prstGeom prst="straightConnector1">
            <a:avLst/>
          </a:prstGeom>
          <a:ln w="17780">
            <a:solidFill>
              <a:srgbClr val="2F7358"/>
            </a:solidFill>
            <a:round/>
            <a:tailEnd len="med" type="triangle" w="med"/>
          </a:ln>
        </p:spPr>
      </p:cxnSp>
      <p:sp>
        <p:nvSpPr>
          <p:cNvPr id="221" name="feedback arrow label"/>
          <p:cNvSpPr/>
          <p:nvPr/>
        </p:nvSpPr>
        <p:spPr>
          <a:xfrm>
            <a:off x="4700160" y="5779080"/>
            <a:ext cx="3401280" cy="282960"/>
          </a:xfrm>
          <a:prstGeom prst="rect">
            <a:avLst/>
          </a:prstGeom>
          <a:noFill/>
          <a:ln w="0">
            <a:noFill/>
          </a:ln>
        </p:spPr>
        <p:style>
          <a:lnRef idx="0"/>
          <a:fillRef idx="0"/>
          <a:effectRef idx="0"/>
          <a:fontRef idx="minor"/>
        </p:style>
        <p:txBody>
          <a:bodyPr lIns="0" tIns="10800" rIns="0" bIns="0" anchor="t">
            <a:noAutofit/>
          </a:bodyPr>
          <a:p>
            <a:pPr defTabSz="457200">
              <a:lnSpc>
                <a:spcPts val="1582"/>
              </a:lnSpc>
            </a:pPr>
            <a:r>
              <a:rPr lang="en-US" sz="1400" b="1" u="none" strike="noStrike">
                <a:solidFill>
                  <a:srgbClr val="2F7358"/>
                </a:solidFill>
                <a:effectLst/>
                <a:uFillTx/>
                <a:latin typeface="Arial"/>
              </a:rPr>
              <a:t>More mandatory buying</a:t>
            </a:r>
            <a:endParaRPr lang="en-US" sz="1400" b="0" u="none" strike="noStrike">
              <a:solidFill>
                <a:srgbClr val="000000"/>
              </a:solidFill>
              <a:effectLst/>
              <a:uFillTx/>
              <a:latin typeface="Arial"/>
            </a:endParaRPr>
          </a:p>
        </p:txBody>
      </p:sp>
      <p:sp>
        <p:nvSpPr>
          <p:cNvPr id="222" name="squeeze outcome panel"/>
          <p:cNvSpPr/>
          <p:nvPr/>
        </p:nvSpPr>
        <p:spPr>
          <a:xfrm>
            <a:off x="8860680" y="2231280"/>
            <a:ext cx="2614680" cy="3812760"/>
          </a:xfrm>
          <a:prstGeom prst="rect">
            <a:avLst/>
          </a:prstGeom>
          <a:solidFill>
            <a:srgbClr val="132F2A"/>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23" name="eyebrow"/>
          <p:cNvSpPr/>
          <p:nvPr/>
        </p:nvSpPr>
        <p:spPr>
          <a:xfrm>
            <a:off x="9089280" y="2459880"/>
            <a:ext cx="219420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AFC6BA"/>
                </a:solidFill>
                <a:effectLst/>
                <a:uFillTx/>
                <a:latin typeface="Arial"/>
              </a:rPr>
              <a:t>THE OUTCOME</a:t>
            </a:r>
            <a:endParaRPr lang="en-US" sz="1150" b="0" u="none" strike="noStrike">
              <a:solidFill>
                <a:srgbClr val="000000"/>
              </a:solidFill>
              <a:effectLst/>
              <a:uFillTx/>
              <a:latin typeface="Arial"/>
            </a:endParaRPr>
          </a:p>
        </p:txBody>
      </p:sp>
      <p:sp>
        <p:nvSpPr>
          <p:cNvPr id="224" name="price surge stat"/>
          <p:cNvSpPr/>
          <p:nvPr/>
        </p:nvSpPr>
        <p:spPr>
          <a:xfrm>
            <a:off x="9089280" y="2853000"/>
            <a:ext cx="2194200" cy="767880"/>
          </a:xfrm>
          <a:prstGeom prst="rect">
            <a:avLst/>
          </a:prstGeom>
          <a:noFill/>
          <a:ln w="0">
            <a:noFill/>
          </a:ln>
        </p:spPr>
        <p:style>
          <a:lnRef idx="0"/>
          <a:fillRef idx="0"/>
          <a:effectRef idx="0"/>
          <a:fontRef idx="minor"/>
        </p:style>
        <p:txBody>
          <a:bodyPr lIns="0" tIns="32760" rIns="0" bIns="0" anchor="t">
            <a:noAutofit/>
          </a:bodyPr>
          <a:p>
            <a:pPr defTabSz="457200">
              <a:lnSpc>
                <a:spcPts val="4859"/>
              </a:lnSpc>
            </a:pPr>
            <a:r>
              <a:rPr lang="en-US" sz="4300" b="1" u="none" strike="noStrike">
                <a:solidFill>
                  <a:srgbClr val="E6C792"/>
                </a:solidFill>
                <a:effectLst/>
                <a:uFillTx/>
                <a:latin typeface="Arial"/>
              </a:rPr>
              <a:t>707.6%</a:t>
            </a:r>
            <a:endParaRPr lang="en-US" sz="4300" b="0" u="none" strike="noStrike">
              <a:solidFill>
                <a:srgbClr val="000000"/>
              </a:solidFill>
              <a:effectLst/>
              <a:uFillTx/>
              <a:latin typeface="Arial"/>
            </a:endParaRPr>
          </a:p>
        </p:txBody>
      </p:sp>
      <p:sp>
        <p:nvSpPr>
          <p:cNvPr id="225" name="price surge date"/>
          <p:cNvSpPr/>
          <p:nvPr/>
        </p:nvSpPr>
        <p:spPr>
          <a:xfrm>
            <a:off x="9089280" y="3639240"/>
            <a:ext cx="2148480" cy="585000"/>
          </a:xfrm>
          <a:prstGeom prst="rect">
            <a:avLst/>
          </a:prstGeom>
          <a:noFill/>
          <a:ln w="0">
            <a:noFill/>
          </a:ln>
        </p:spPr>
        <p:style>
          <a:lnRef idx="0"/>
          <a:fillRef idx="0"/>
          <a:effectRef idx="0"/>
          <a:fontRef idx="minor"/>
        </p:style>
        <p:txBody>
          <a:bodyPr lIns="0" tIns="11880" rIns="0" bIns="0" anchor="t">
            <a:noAutofit/>
          </a:bodyPr>
          <a:p>
            <a:pPr defTabSz="457200">
              <a:lnSpc>
                <a:spcPts val="1752"/>
              </a:lnSpc>
            </a:pPr>
            <a:r>
              <a:rPr lang="en-US" sz="1550" b="0" u="none" strike="noStrike">
                <a:solidFill>
                  <a:srgbClr val="D8E5DD"/>
                </a:solidFill>
                <a:effectLst/>
                <a:uFillTx/>
                <a:latin typeface="Arial"/>
              </a:rPr>
              <a:t>GME gain</a:t>
            </a:r>
            <a:endParaRPr lang="en-US" sz="1550" b="0" u="none" strike="noStrike">
              <a:solidFill>
                <a:srgbClr val="000000"/>
              </a:solidFill>
              <a:effectLst/>
              <a:uFillTx/>
              <a:latin typeface="Arial"/>
            </a:endParaRPr>
          </a:p>
          <a:p>
            <a:pPr defTabSz="457200">
              <a:lnSpc>
                <a:spcPts val="1752"/>
              </a:lnSpc>
            </a:pPr>
            <a:r>
              <a:rPr lang="en-US" sz="1550" b="0" u="none" strike="noStrike">
                <a:solidFill>
                  <a:srgbClr val="D8E5DD"/>
                </a:solidFill>
                <a:effectLst/>
                <a:uFillTx/>
                <a:latin typeface="Arial"/>
              </a:rPr>
              <a:t>Jan 22–27, 2021</a:t>
            </a:r>
            <a:endParaRPr lang="en-US" sz="1550" b="0" u="none" strike="noStrike">
              <a:solidFill>
                <a:srgbClr val="000000"/>
              </a:solidFill>
              <a:effectLst/>
              <a:uFillTx/>
              <a:latin typeface="Arial"/>
            </a:endParaRPr>
          </a:p>
        </p:txBody>
      </p:sp>
      <p:cxnSp>
        <p:nvCxnSpPr>
          <p:cNvPr id="226" name="connector"/>
          <p:cNvCxnSpPr/>
          <p:nvPr/>
        </p:nvCxnSpPr>
        <p:spPr>
          <a:xfrm>
            <a:off x="9088920" y="4462200"/>
            <a:ext cx="2158560" cy="360"/>
          </a:xfrm>
          <a:prstGeom prst="straightConnector1">
            <a:avLst/>
          </a:prstGeom>
          <a:ln w="8890">
            <a:solidFill>
              <a:srgbClr val="416356"/>
            </a:solidFill>
            <a:round/>
          </a:ln>
        </p:spPr>
      </p:cxnSp>
      <p:sp>
        <p:nvSpPr>
          <p:cNvPr id="227" name="Melvin loss stat"/>
          <p:cNvSpPr/>
          <p:nvPr/>
        </p:nvSpPr>
        <p:spPr>
          <a:xfrm>
            <a:off x="9089280" y="4690800"/>
            <a:ext cx="2102760" cy="658080"/>
          </a:xfrm>
          <a:prstGeom prst="rect">
            <a:avLst/>
          </a:prstGeom>
          <a:noFill/>
          <a:ln w="0">
            <a:noFill/>
          </a:ln>
        </p:spPr>
        <p:style>
          <a:lnRef idx="0"/>
          <a:fillRef idx="0"/>
          <a:effectRef idx="0"/>
          <a:fontRef idx="minor"/>
        </p:style>
        <p:txBody>
          <a:bodyPr lIns="0" tIns="26640" rIns="0" bIns="0" anchor="t">
            <a:noAutofit/>
          </a:bodyPr>
          <a:p>
            <a:pPr defTabSz="457200">
              <a:lnSpc>
                <a:spcPts val="3954"/>
              </a:lnSpc>
            </a:pPr>
            <a:r>
              <a:rPr lang="en-US" sz="3500" b="1" u="none" strike="noStrike">
                <a:solidFill>
                  <a:srgbClr val="F0B2A7"/>
                </a:solidFill>
                <a:effectLst/>
                <a:uFillTx/>
                <a:latin typeface="Arial"/>
              </a:rPr>
              <a:t>−54.4%</a:t>
            </a:r>
            <a:endParaRPr lang="en-US" sz="3500" b="0" u="none" strike="noStrike">
              <a:solidFill>
                <a:srgbClr val="000000"/>
              </a:solidFill>
              <a:effectLst/>
              <a:uFillTx/>
              <a:latin typeface="Arial"/>
            </a:endParaRPr>
          </a:p>
        </p:txBody>
      </p:sp>
      <p:sp>
        <p:nvSpPr>
          <p:cNvPr id="228" name="Melvin loss basis"/>
          <p:cNvSpPr/>
          <p:nvPr/>
        </p:nvSpPr>
        <p:spPr>
          <a:xfrm>
            <a:off x="9089280" y="5394960"/>
            <a:ext cx="2139480" cy="529920"/>
          </a:xfrm>
          <a:prstGeom prst="rect">
            <a:avLst/>
          </a:prstGeom>
          <a:noFill/>
          <a:ln w="0">
            <a:noFill/>
          </a:ln>
        </p:spPr>
        <p:style>
          <a:lnRef idx="0"/>
          <a:fillRef idx="0"/>
          <a:effectRef idx="0"/>
          <a:fontRef idx="minor"/>
        </p:style>
        <p:txBody>
          <a:bodyPr lIns="0" tIns="11160" rIns="0" bIns="0" anchor="t">
            <a:noAutofit/>
          </a:bodyPr>
          <a:p>
            <a:pPr defTabSz="457200">
              <a:lnSpc>
                <a:spcPts val="1638"/>
              </a:lnSpc>
            </a:pPr>
            <a:r>
              <a:rPr lang="en-US" sz="1450" b="0" u="none" strike="noStrike">
                <a:solidFill>
                  <a:srgbClr val="D8E5DD"/>
                </a:solidFill>
                <a:effectLst/>
                <a:uFillTx/>
                <a:latin typeface="Arial"/>
              </a:rPr>
              <a:t>Melvin’s January loss;</a:t>
            </a:r>
            <a:endParaRPr lang="en-US" sz="1450" b="0" u="none" strike="noStrike">
              <a:solidFill>
                <a:srgbClr val="000000"/>
              </a:solidFill>
              <a:effectLst/>
              <a:uFillTx/>
              <a:latin typeface="Arial"/>
            </a:endParaRPr>
          </a:p>
          <a:p>
            <a:pPr defTabSz="457200">
              <a:lnSpc>
                <a:spcPts val="1638"/>
              </a:lnSpc>
            </a:pPr>
            <a:r>
              <a:rPr lang="en-US" sz="1450" b="0" u="none" strike="noStrike">
                <a:solidFill>
                  <a:srgbClr val="D8E5DD"/>
                </a:solidFill>
                <a:effectLst/>
                <a:uFillTx/>
                <a:latin typeface="Arial"/>
              </a:rPr>
              <a:t>$2.75bn bailout</a:t>
            </a:r>
            <a:endParaRPr lang="en-US" sz="14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A"/>
        </a:solidFill>
      </p:bgPr>
    </p:bg>
    <p:spTree>
      <p:nvGrpSpPr>
        <p:cNvPr id="1" name=""/>
        <p:cNvGrpSpPr/>
        <p:nvPr/>
      </p:nvGrpSpPr>
      <p:grpSpPr>
        <a:xfrm>
          <a:off x="0" y="0"/>
          <a:ext cx="0" cy="0"/>
          <a:chOff x="0" y="0"/>
          <a:chExt cx="0" cy="0"/>
        </a:xfrm>
      </p:grpSpPr>
      <p:cxnSp>
        <p:nvCxnSpPr>
          <p:cNvPr id="229" name="footer rule"/>
          <p:cNvCxnSpPr/>
          <p:nvPr/>
        </p:nvCxnSpPr>
        <p:spPr>
          <a:xfrm>
            <a:off x="658080" y="6373080"/>
            <a:ext cx="10872720" cy="360"/>
          </a:xfrm>
          <a:prstGeom prst="straightConnector1">
            <a:avLst/>
          </a:prstGeom>
          <a:ln w="7620">
            <a:solidFill>
              <a:srgbClr val="D4DDD6"/>
            </a:solidFill>
            <a:round/>
          </a:ln>
        </p:spPr>
      </p:cxnSp>
      <p:sp>
        <p:nvSpPr>
          <p:cNvPr id="230"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231" name="speaker footer"/>
          <p:cNvSpPr/>
          <p:nvPr/>
        </p:nvSpPr>
        <p:spPr>
          <a:xfrm>
            <a:off x="7223760" y="6473880"/>
            <a:ext cx="3474360" cy="182520"/>
          </a:xfrm>
          <a:prstGeom prst="rect">
            <a:avLst/>
          </a:prstGeom>
          <a:noFill/>
          <a:ln w="0">
            <a:noFill/>
          </a:ln>
        </p:spPr>
        <p:style>
          <a:lnRef idx="0"/>
          <a:fillRef idx="0"/>
          <a:effectRef idx="0"/>
          <a:fontRef idx="minor"/>
        </p:style>
        <p:txBody>
          <a:bodyPr lIns="0" tIns="7200" rIns="0" bIns="0" anchor="t">
            <a:noAutofit/>
          </a:bodyPr>
          <a:p>
            <a:pPr algn="r" defTabSz="457200">
              <a:lnSpc>
                <a:spcPts val="1074"/>
              </a:lnSpc>
            </a:pPr>
            <a:r>
              <a:rPr lang="en-US" sz="950" b="0" u="none" strike="noStrike">
                <a:solidFill>
                  <a:srgbClr val="5E6B65"/>
                </a:solidFill>
                <a:effectLst/>
                <a:uFillTx/>
                <a:latin typeface="Arial"/>
              </a:rPr>
              <a:t>Cao Zihan</a:t>
            </a:r>
            <a:endParaRPr lang="en-US" sz="950" b="0" u="none" strike="noStrike">
              <a:solidFill>
                <a:srgbClr val="000000"/>
              </a:solidFill>
              <a:effectLst/>
              <a:uFillTx/>
              <a:latin typeface="Arial"/>
            </a:endParaRPr>
          </a:p>
        </p:txBody>
      </p:sp>
      <p:sp>
        <p:nvSpPr>
          <p:cNvPr id="232"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07 / 18</a:t>
            </a:r>
            <a:endParaRPr lang="en-US" sz="1000" b="0" u="none" strike="noStrike">
              <a:solidFill>
                <a:srgbClr val="000000"/>
              </a:solidFill>
              <a:effectLst/>
              <a:uFillTx/>
              <a:latin typeface="Arial"/>
            </a:endParaRPr>
          </a:p>
        </p:txBody>
      </p:sp>
      <p:sp>
        <p:nvSpPr>
          <p:cNvPr id="233"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855E26"/>
                </a:solidFill>
                <a:effectLst/>
                <a:uFillTx/>
                <a:latin typeface="Arial"/>
              </a:rPr>
              <a:t>Q2 / THE RISK</a:t>
            </a:r>
            <a:endParaRPr lang="en-US" sz="1150" b="0" u="none" strike="noStrike">
              <a:solidFill>
                <a:srgbClr val="000000"/>
              </a:solidFill>
              <a:effectLst/>
              <a:uFillTx/>
              <a:latin typeface="Arial"/>
            </a:endParaRPr>
          </a:p>
        </p:txBody>
      </p:sp>
      <p:sp>
        <p:nvSpPr>
          <p:cNvPr id="234" name="slide title"/>
          <p:cNvSpPr/>
          <p:nvPr/>
        </p:nvSpPr>
        <p:spPr>
          <a:xfrm>
            <a:off x="658440" y="859680"/>
            <a:ext cx="10835280" cy="676440"/>
          </a:xfrm>
          <a:prstGeom prst="rect">
            <a:avLst/>
          </a:prstGeom>
          <a:noFill/>
          <a:ln w="0">
            <a:noFill/>
          </a:ln>
        </p:spPr>
        <p:style>
          <a:lnRef idx="0"/>
          <a:fillRef idx="0"/>
          <a:effectRef idx="0"/>
          <a:fontRef idx="minor"/>
        </p:style>
        <p:txBody>
          <a:bodyPr lIns="0" tIns="25200" rIns="0" bIns="0" anchor="t">
            <a:noAutofit/>
          </a:bodyPr>
          <a:p>
            <a:pPr defTabSz="457200">
              <a:lnSpc>
                <a:spcPts val="3532"/>
              </a:lnSpc>
            </a:pPr>
            <a:r>
              <a:rPr lang="en-US" sz="3300" b="1" u="none" strike="noStrike">
                <a:solidFill>
                  <a:srgbClr val="17302B"/>
                </a:solidFill>
                <a:effectLst/>
                <a:uFillTx/>
                <a:latin typeface="Arial"/>
              </a:rPr>
              <a:t>Excessive short selling can amplify a rally</a:t>
            </a:r>
            <a:endParaRPr lang="en-US" sz="3300" b="0" u="none" strike="noStrike">
              <a:solidFill>
                <a:srgbClr val="000000"/>
              </a:solidFill>
              <a:effectLst/>
              <a:uFillTx/>
              <a:latin typeface="Arial"/>
            </a:endParaRPr>
          </a:p>
        </p:txBody>
      </p:sp>
      <p:sp>
        <p:nvSpPr>
          <p:cNvPr id="235"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Crowded short positions create a feedback mechanism—and large losses.</a:t>
            </a:r>
            <a:endParaRPr lang="en-US" sz="1700" b="0" u="none" strike="noStrike">
              <a:solidFill>
                <a:srgbClr val="000000"/>
              </a:solidFill>
              <a:effectLst/>
              <a:uFillTx/>
              <a:latin typeface="Arial"/>
            </a:endParaRPr>
          </a:p>
        </p:txBody>
      </p:sp>
      <p:sp>
        <p:nvSpPr>
          <p:cNvPr id="236" name="eyebrow"/>
          <p:cNvSpPr/>
          <p:nvPr/>
        </p:nvSpPr>
        <p:spPr>
          <a:xfrm>
            <a:off x="713160" y="2258640"/>
            <a:ext cx="310860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855E26"/>
                </a:solidFill>
                <a:effectLst/>
                <a:uFillTx/>
                <a:latin typeface="Arial"/>
              </a:rPr>
              <a:t>GME SHORT INTEREST</a:t>
            </a:r>
            <a:endParaRPr lang="en-US" sz="1150" b="0" u="none" strike="noStrike">
              <a:solidFill>
                <a:srgbClr val="000000"/>
              </a:solidFill>
              <a:effectLst/>
              <a:uFillTx/>
              <a:latin typeface="Arial"/>
            </a:endParaRPr>
          </a:p>
        </p:txBody>
      </p:sp>
      <p:sp>
        <p:nvSpPr>
          <p:cNvPr id="237" name="excessive short interest"/>
          <p:cNvSpPr/>
          <p:nvPr/>
        </p:nvSpPr>
        <p:spPr>
          <a:xfrm>
            <a:off x="658440" y="2688480"/>
            <a:ext cx="3419640" cy="849960"/>
          </a:xfrm>
          <a:prstGeom prst="rect">
            <a:avLst/>
          </a:prstGeom>
          <a:noFill/>
          <a:ln w="0">
            <a:noFill/>
          </a:ln>
        </p:spPr>
        <p:style>
          <a:lnRef idx="0"/>
          <a:fillRef idx="0"/>
          <a:effectRef idx="0"/>
          <a:fontRef idx="minor"/>
        </p:style>
        <p:txBody>
          <a:bodyPr lIns="0" tIns="39600" rIns="0" bIns="0" anchor="t">
            <a:noAutofit/>
          </a:bodyPr>
          <a:p>
            <a:pPr defTabSz="457200">
              <a:lnSpc>
                <a:spcPts val="5876"/>
              </a:lnSpc>
            </a:pPr>
            <a:r>
              <a:rPr lang="en-US" sz="5200" b="1" u="none" strike="noStrike">
                <a:solidFill>
                  <a:srgbClr val="855E26"/>
                </a:solidFill>
                <a:effectLst/>
                <a:uFillTx/>
                <a:latin typeface="Arial"/>
              </a:rPr>
              <a:t>102.1%</a:t>
            </a:r>
            <a:endParaRPr lang="en-US" sz="5200" b="0" u="none" strike="noStrike">
              <a:solidFill>
                <a:srgbClr val="000000"/>
              </a:solidFill>
              <a:effectLst/>
              <a:uFillTx/>
              <a:latin typeface="Arial"/>
            </a:endParaRPr>
          </a:p>
        </p:txBody>
      </p:sp>
      <p:sp>
        <p:nvSpPr>
          <p:cNvPr id="238" name="short interest basis"/>
          <p:cNvSpPr/>
          <p:nvPr/>
        </p:nvSpPr>
        <p:spPr>
          <a:xfrm>
            <a:off x="713160" y="3620880"/>
            <a:ext cx="3154320" cy="53928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0" u="none" strike="noStrike">
                <a:solidFill>
                  <a:srgbClr val="5E6B65"/>
                </a:solidFill>
                <a:effectLst/>
                <a:uFillTx/>
                <a:latin typeface="Arial"/>
              </a:rPr>
              <a:t>of public float</a:t>
            </a:r>
            <a:endParaRPr lang="en-US" sz="1700" b="0" u="none" strike="noStrike">
              <a:solidFill>
                <a:srgbClr val="000000"/>
              </a:solidFill>
              <a:effectLst/>
              <a:uFillTx/>
              <a:latin typeface="Arial"/>
            </a:endParaRPr>
          </a:p>
          <a:p>
            <a:pPr defTabSz="457200">
              <a:lnSpc>
                <a:spcPts val="1919"/>
              </a:lnSpc>
            </a:pPr>
            <a:r>
              <a:rPr lang="en-US" sz="1700" b="0" u="none" strike="noStrike">
                <a:solidFill>
                  <a:srgbClr val="5E6B65"/>
                </a:solidFill>
                <a:effectLst/>
                <a:uFillTx/>
                <a:latin typeface="Arial"/>
              </a:rPr>
              <a:t>15 January 2021</a:t>
            </a:r>
            <a:endParaRPr lang="en-US" sz="1700" b="0" u="none" strike="noStrike">
              <a:solidFill>
                <a:srgbClr val="000000"/>
              </a:solidFill>
              <a:effectLst/>
              <a:uFillTx/>
              <a:latin typeface="Arial"/>
            </a:endParaRPr>
          </a:p>
        </p:txBody>
      </p:sp>
      <p:cxnSp>
        <p:nvCxnSpPr>
          <p:cNvPr id="239" name="connector"/>
          <p:cNvCxnSpPr/>
          <p:nvPr/>
        </p:nvCxnSpPr>
        <p:spPr>
          <a:xfrm>
            <a:off x="713160" y="4516920"/>
            <a:ext cx="2981160" cy="360"/>
          </a:xfrm>
          <a:prstGeom prst="straightConnector1">
            <a:avLst/>
          </a:prstGeom>
          <a:ln w="10160">
            <a:solidFill>
              <a:srgbClr val="D4DDD6"/>
            </a:solidFill>
            <a:round/>
          </a:ln>
        </p:spPr>
      </p:cxnSp>
      <p:sp>
        <p:nvSpPr>
          <p:cNvPr id="240" name="eyebrow"/>
          <p:cNvSpPr/>
          <p:nvPr/>
        </p:nvSpPr>
        <p:spPr>
          <a:xfrm>
            <a:off x="713160" y="4718160"/>
            <a:ext cx="320004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5E6B65"/>
                </a:solidFill>
                <a:effectLst/>
                <a:uFillTx/>
                <a:latin typeface="Arial"/>
              </a:rPr>
              <a:t>SHORT INTEREST OVER TIME</a:t>
            </a:r>
            <a:endParaRPr lang="en-US" sz="1150" b="0" u="none" strike="noStrike">
              <a:solidFill>
                <a:srgbClr val="000000"/>
              </a:solidFill>
              <a:effectLst/>
              <a:uFillTx/>
              <a:latin typeface="Arial"/>
            </a:endParaRPr>
          </a:p>
        </p:txBody>
      </p:sp>
      <p:sp>
        <p:nvSpPr>
          <p:cNvPr id="241" name="historical short interest"/>
          <p:cNvSpPr/>
          <p:nvPr/>
        </p:nvSpPr>
        <p:spPr>
          <a:xfrm>
            <a:off x="713160" y="5083920"/>
            <a:ext cx="1051200" cy="38376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1" u="none" strike="noStrike">
                <a:solidFill>
                  <a:srgbClr val="855E26"/>
                </a:solidFill>
                <a:effectLst/>
                <a:uFillTx/>
                <a:latin typeface="Arial"/>
              </a:rPr>
              <a:t>92.5%</a:t>
            </a:r>
            <a:endParaRPr lang="en-US" sz="1800" b="0" u="none" strike="noStrike">
              <a:solidFill>
                <a:srgbClr val="000000"/>
              </a:solidFill>
              <a:effectLst/>
              <a:uFillTx/>
              <a:latin typeface="Arial"/>
            </a:endParaRPr>
          </a:p>
        </p:txBody>
      </p:sp>
      <p:sp>
        <p:nvSpPr>
          <p:cNvPr id="242" name="short interest date"/>
          <p:cNvSpPr/>
          <p:nvPr/>
        </p:nvSpPr>
        <p:spPr>
          <a:xfrm>
            <a:off x="713160" y="5513760"/>
            <a:ext cx="1005480" cy="255600"/>
          </a:xfrm>
          <a:prstGeom prst="rect">
            <a:avLst/>
          </a:prstGeom>
          <a:noFill/>
          <a:ln w="0">
            <a:noFill/>
          </a:ln>
        </p:spPr>
        <p:style>
          <a:lnRef idx="0"/>
          <a:fillRef idx="0"/>
          <a:effectRef idx="0"/>
          <a:fontRef idx="minor"/>
        </p:style>
        <p:txBody>
          <a:bodyPr lIns="0" tIns="7920" rIns="0" bIns="0" anchor="t">
            <a:noAutofit/>
          </a:bodyPr>
          <a:p>
            <a:pPr defTabSz="457200">
              <a:lnSpc>
                <a:spcPts val="1176"/>
              </a:lnSpc>
            </a:pPr>
            <a:r>
              <a:rPr lang="en-US" sz="1040" b="0" u="none" strike="noStrike">
                <a:solidFill>
                  <a:srgbClr val="5E6B65"/>
                </a:solidFill>
                <a:effectLst/>
                <a:uFillTx/>
                <a:latin typeface="Arial"/>
              </a:rPr>
              <a:t>31 Mar 2020</a:t>
            </a:r>
            <a:endParaRPr lang="en-US" sz="1040" b="0" u="none" strike="noStrike">
              <a:solidFill>
                <a:srgbClr val="000000"/>
              </a:solidFill>
              <a:effectLst/>
              <a:uFillTx/>
              <a:latin typeface="Arial"/>
            </a:endParaRPr>
          </a:p>
        </p:txBody>
      </p:sp>
      <p:sp>
        <p:nvSpPr>
          <p:cNvPr id="243" name="historical short interest"/>
          <p:cNvSpPr/>
          <p:nvPr/>
        </p:nvSpPr>
        <p:spPr>
          <a:xfrm>
            <a:off x="1810440" y="5083920"/>
            <a:ext cx="1051200" cy="38376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1" u="none" strike="noStrike">
                <a:solidFill>
                  <a:srgbClr val="855E26"/>
                </a:solidFill>
                <a:effectLst/>
                <a:uFillTx/>
                <a:latin typeface="Arial"/>
              </a:rPr>
              <a:t>102.1%</a:t>
            </a:r>
            <a:endParaRPr lang="en-US" sz="1800" b="0" u="none" strike="noStrike">
              <a:solidFill>
                <a:srgbClr val="000000"/>
              </a:solidFill>
              <a:effectLst/>
              <a:uFillTx/>
              <a:latin typeface="Arial"/>
            </a:endParaRPr>
          </a:p>
        </p:txBody>
      </p:sp>
      <p:sp>
        <p:nvSpPr>
          <p:cNvPr id="244" name="short interest date"/>
          <p:cNvSpPr/>
          <p:nvPr/>
        </p:nvSpPr>
        <p:spPr>
          <a:xfrm>
            <a:off x="1810440" y="5513760"/>
            <a:ext cx="1005480" cy="255600"/>
          </a:xfrm>
          <a:prstGeom prst="rect">
            <a:avLst/>
          </a:prstGeom>
          <a:noFill/>
          <a:ln w="0">
            <a:noFill/>
          </a:ln>
        </p:spPr>
        <p:style>
          <a:lnRef idx="0"/>
          <a:fillRef idx="0"/>
          <a:effectRef idx="0"/>
          <a:fontRef idx="minor"/>
        </p:style>
        <p:txBody>
          <a:bodyPr lIns="0" tIns="7920" rIns="0" bIns="0" anchor="t">
            <a:noAutofit/>
          </a:bodyPr>
          <a:p>
            <a:pPr defTabSz="457200">
              <a:lnSpc>
                <a:spcPts val="1176"/>
              </a:lnSpc>
            </a:pPr>
            <a:r>
              <a:rPr lang="en-US" sz="1040" b="0" u="none" strike="noStrike">
                <a:solidFill>
                  <a:srgbClr val="5E6B65"/>
                </a:solidFill>
                <a:effectLst/>
                <a:uFillTx/>
                <a:latin typeface="Arial"/>
              </a:rPr>
              <a:t>15 Jan 2021</a:t>
            </a:r>
            <a:endParaRPr lang="en-US" sz="1040" b="0" u="none" strike="noStrike">
              <a:solidFill>
                <a:srgbClr val="000000"/>
              </a:solidFill>
              <a:effectLst/>
              <a:uFillTx/>
              <a:latin typeface="Arial"/>
            </a:endParaRPr>
          </a:p>
        </p:txBody>
      </p:sp>
      <p:sp>
        <p:nvSpPr>
          <p:cNvPr id="245" name="historical short interest"/>
          <p:cNvSpPr/>
          <p:nvPr/>
        </p:nvSpPr>
        <p:spPr>
          <a:xfrm>
            <a:off x="2953440" y="5083920"/>
            <a:ext cx="1051200" cy="38376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1" u="none" strike="noStrike">
                <a:solidFill>
                  <a:srgbClr val="855E26"/>
                </a:solidFill>
                <a:effectLst/>
                <a:uFillTx/>
                <a:latin typeface="Arial"/>
              </a:rPr>
              <a:t>35.4%</a:t>
            </a:r>
            <a:endParaRPr lang="en-US" sz="1800" b="0" u="none" strike="noStrike">
              <a:solidFill>
                <a:srgbClr val="000000"/>
              </a:solidFill>
              <a:effectLst/>
              <a:uFillTx/>
              <a:latin typeface="Arial"/>
            </a:endParaRPr>
          </a:p>
        </p:txBody>
      </p:sp>
      <p:sp>
        <p:nvSpPr>
          <p:cNvPr id="246" name="short interest date"/>
          <p:cNvSpPr/>
          <p:nvPr/>
        </p:nvSpPr>
        <p:spPr>
          <a:xfrm>
            <a:off x="2953440" y="5513760"/>
            <a:ext cx="1005480" cy="255600"/>
          </a:xfrm>
          <a:prstGeom prst="rect">
            <a:avLst/>
          </a:prstGeom>
          <a:noFill/>
          <a:ln w="0">
            <a:noFill/>
          </a:ln>
        </p:spPr>
        <p:style>
          <a:lnRef idx="0"/>
          <a:fillRef idx="0"/>
          <a:effectRef idx="0"/>
          <a:fontRef idx="minor"/>
        </p:style>
        <p:txBody>
          <a:bodyPr lIns="0" tIns="7920" rIns="0" bIns="0" anchor="t">
            <a:noAutofit/>
          </a:bodyPr>
          <a:p>
            <a:pPr defTabSz="457200">
              <a:lnSpc>
                <a:spcPts val="1176"/>
              </a:lnSpc>
            </a:pPr>
            <a:r>
              <a:rPr lang="en-US" sz="1040" b="0" u="none" strike="noStrike">
                <a:solidFill>
                  <a:srgbClr val="5E6B65"/>
                </a:solidFill>
                <a:effectLst/>
                <a:uFillTx/>
                <a:latin typeface="Arial"/>
              </a:rPr>
              <a:t>29 Jan 2021</a:t>
            </a:r>
            <a:endParaRPr lang="en-US" sz="1040" b="0" u="none" strike="noStrike">
              <a:solidFill>
                <a:srgbClr val="000000"/>
              </a:solidFill>
              <a:effectLst/>
              <a:uFillTx/>
              <a:latin typeface="Arial"/>
            </a:endParaRPr>
          </a:p>
        </p:txBody>
      </p:sp>
      <p:cxnSp>
        <p:nvCxnSpPr>
          <p:cNvPr id="247" name="connector"/>
          <p:cNvCxnSpPr/>
          <p:nvPr/>
        </p:nvCxnSpPr>
        <p:spPr>
          <a:xfrm>
            <a:off x="4343400" y="2240280"/>
            <a:ext cx="360" cy="3401640"/>
          </a:xfrm>
          <a:prstGeom prst="straightConnector1">
            <a:avLst/>
          </a:prstGeom>
          <a:ln w="8890">
            <a:solidFill>
              <a:srgbClr val="D4DDD6"/>
            </a:solidFill>
            <a:round/>
          </a:ln>
        </p:spPr>
      </p:cxnSp>
      <p:sp>
        <p:nvSpPr>
          <p:cNvPr id="248" name="eyebrow"/>
          <p:cNvSpPr/>
          <p:nvPr/>
        </p:nvSpPr>
        <p:spPr>
          <a:xfrm>
            <a:off x="4800600" y="2258640"/>
            <a:ext cx="649188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855E26"/>
                </a:solidFill>
                <a:effectLst/>
                <a:uFillTx/>
                <a:latin typeface="Arial"/>
              </a:rPr>
              <a:t>POTENTIAL SHORT-COVERING FEEDBACK</a:t>
            </a:r>
            <a:endParaRPr lang="en-US" sz="1150" b="0" u="none" strike="noStrike">
              <a:solidFill>
                <a:srgbClr val="000000"/>
              </a:solidFill>
              <a:effectLst/>
              <a:uFillTx/>
              <a:latin typeface="Arial"/>
            </a:endParaRPr>
          </a:p>
        </p:txBody>
      </p:sp>
      <p:sp>
        <p:nvSpPr>
          <p:cNvPr id="249" name="circle"/>
          <p:cNvSpPr/>
          <p:nvPr/>
        </p:nvSpPr>
        <p:spPr>
          <a:xfrm>
            <a:off x="4800600" y="2706480"/>
            <a:ext cx="402120" cy="402120"/>
          </a:xfrm>
          <a:prstGeom prst="ellipse">
            <a:avLst/>
          </a:prstGeom>
          <a:solidFill>
            <a:srgbClr val="F4EDDE"/>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50" name="step number"/>
          <p:cNvSpPr/>
          <p:nvPr/>
        </p:nvSpPr>
        <p:spPr>
          <a:xfrm>
            <a:off x="4800600" y="2766240"/>
            <a:ext cx="402120" cy="228240"/>
          </a:xfrm>
          <a:prstGeom prst="rect">
            <a:avLst/>
          </a:prstGeom>
          <a:noFill/>
          <a:ln w="0">
            <a:noFill/>
          </a:ln>
        </p:spPr>
        <p:style>
          <a:lnRef idx="0"/>
          <a:fillRef idx="0"/>
          <a:effectRef idx="0"/>
          <a:fontRef idx="minor"/>
        </p:style>
        <p:txBody>
          <a:bodyPr lIns="0" tIns="9360" rIns="0" bIns="0" anchor="t">
            <a:noAutofit/>
          </a:bodyPr>
          <a:p>
            <a:pPr algn="ctr" defTabSz="457200">
              <a:lnSpc>
                <a:spcPts val="1412"/>
              </a:lnSpc>
            </a:pPr>
            <a:r>
              <a:rPr lang="en-US" sz="1250" b="1" u="none" strike="noStrike">
                <a:solidFill>
                  <a:srgbClr val="855E26"/>
                </a:solidFill>
                <a:effectLst/>
                <a:uFillTx/>
                <a:latin typeface="Arial"/>
              </a:rPr>
              <a:t>1</a:t>
            </a:r>
            <a:endParaRPr lang="en-US" sz="1250" b="0" u="none" strike="noStrike">
              <a:solidFill>
                <a:srgbClr val="000000"/>
              </a:solidFill>
              <a:effectLst/>
              <a:uFillTx/>
              <a:latin typeface="Arial"/>
            </a:endParaRPr>
          </a:p>
        </p:txBody>
      </p:sp>
      <p:sp>
        <p:nvSpPr>
          <p:cNvPr id="251" name="feedback step title"/>
          <p:cNvSpPr/>
          <p:nvPr/>
        </p:nvSpPr>
        <p:spPr>
          <a:xfrm>
            <a:off x="4800600" y="3246120"/>
            <a:ext cx="2029680" cy="365400"/>
          </a:xfrm>
          <a:prstGeom prst="rect">
            <a:avLst/>
          </a:prstGeom>
          <a:noFill/>
          <a:ln w="0">
            <a:noFill/>
          </a:ln>
        </p:spPr>
        <p:style>
          <a:lnRef idx="0"/>
          <a:fillRef idx="0"/>
          <a:effectRef idx="0"/>
          <a:fontRef idx="minor"/>
        </p:style>
        <p:txBody>
          <a:bodyPr lIns="0" tIns="15840" rIns="0" bIns="0" anchor="t">
            <a:noAutofit/>
          </a:bodyPr>
          <a:p>
            <a:pPr defTabSz="457200">
              <a:lnSpc>
                <a:spcPts val="2373"/>
              </a:lnSpc>
            </a:pPr>
            <a:r>
              <a:rPr lang="en-US" sz="2100" b="1" u="none" strike="noStrike">
                <a:solidFill>
                  <a:srgbClr val="17302B"/>
                </a:solidFill>
                <a:effectLst/>
                <a:uFillTx/>
                <a:latin typeface="Arial"/>
              </a:rPr>
              <a:t>Price rises</a:t>
            </a:r>
            <a:endParaRPr lang="en-US" sz="2100" b="0" u="none" strike="noStrike">
              <a:solidFill>
                <a:srgbClr val="000000"/>
              </a:solidFill>
              <a:effectLst/>
              <a:uFillTx/>
              <a:latin typeface="Arial"/>
            </a:endParaRPr>
          </a:p>
        </p:txBody>
      </p:sp>
      <p:sp>
        <p:nvSpPr>
          <p:cNvPr id="252" name="feedback step explanation"/>
          <p:cNvSpPr/>
          <p:nvPr/>
        </p:nvSpPr>
        <p:spPr>
          <a:xfrm>
            <a:off x="4800600" y="3712320"/>
            <a:ext cx="1938240" cy="731160"/>
          </a:xfrm>
          <a:prstGeom prst="rect">
            <a:avLst/>
          </a:prstGeom>
          <a:noFill/>
          <a:ln w="0">
            <a:noFill/>
          </a:ln>
        </p:spPr>
        <p:style>
          <a:lnRef idx="0"/>
          <a:fillRef idx="0"/>
          <a:effectRef idx="0"/>
          <a:fontRef idx="minor"/>
        </p:style>
        <p:txBody>
          <a:bodyPr lIns="0" tIns="12240" rIns="0" bIns="0" anchor="t">
            <a:noAutofit/>
          </a:bodyPr>
          <a:p>
            <a:pPr defTabSz="457200">
              <a:lnSpc>
                <a:spcPts val="1806"/>
              </a:lnSpc>
            </a:pPr>
            <a:r>
              <a:rPr lang="en-US" sz="1600" b="0" u="none" strike="noStrike">
                <a:solidFill>
                  <a:srgbClr val="5E6B65"/>
                </a:solidFill>
                <a:effectLst/>
                <a:uFillTx/>
                <a:latin typeface="Arial"/>
              </a:rPr>
              <a:t>Short sellers’ losses</a:t>
            </a:r>
            <a:endParaRPr lang="en-US" sz="1600" b="0" u="none" strike="noStrike">
              <a:solidFill>
                <a:srgbClr val="000000"/>
              </a:solidFill>
              <a:effectLst/>
              <a:uFillTx/>
              <a:latin typeface="Arial"/>
            </a:endParaRPr>
          </a:p>
          <a:p>
            <a:pPr defTabSz="457200">
              <a:lnSpc>
                <a:spcPts val="1806"/>
              </a:lnSpc>
            </a:pPr>
            <a:r>
              <a:rPr lang="en-US" sz="1600" b="0" u="none" strike="noStrike">
                <a:solidFill>
                  <a:srgbClr val="5E6B65"/>
                </a:solidFill>
                <a:effectLst/>
                <a:uFillTx/>
                <a:latin typeface="Arial"/>
              </a:rPr>
              <a:t>increase.</a:t>
            </a:r>
            <a:endParaRPr lang="en-US" sz="1600" b="0" u="none" strike="noStrike">
              <a:solidFill>
                <a:srgbClr val="000000"/>
              </a:solidFill>
              <a:effectLst/>
              <a:uFillTx/>
              <a:latin typeface="Arial"/>
            </a:endParaRPr>
          </a:p>
        </p:txBody>
      </p:sp>
      <p:sp>
        <p:nvSpPr>
          <p:cNvPr id="253" name="circle"/>
          <p:cNvSpPr/>
          <p:nvPr/>
        </p:nvSpPr>
        <p:spPr>
          <a:xfrm>
            <a:off x="7260480" y="2706480"/>
            <a:ext cx="402120" cy="402120"/>
          </a:xfrm>
          <a:prstGeom prst="ellipse">
            <a:avLst/>
          </a:prstGeom>
          <a:solidFill>
            <a:srgbClr val="F4EDDE"/>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54" name="step number"/>
          <p:cNvSpPr/>
          <p:nvPr/>
        </p:nvSpPr>
        <p:spPr>
          <a:xfrm>
            <a:off x="7260480" y="2766240"/>
            <a:ext cx="402120" cy="228240"/>
          </a:xfrm>
          <a:prstGeom prst="rect">
            <a:avLst/>
          </a:prstGeom>
          <a:noFill/>
          <a:ln w="0">
            <a:noFill/>
          </a:ln>
        </p:spPr>
        <p:style>
          <a:lnRef idx="0"/>
          <a:fillRef idx="0"/>
          <a:effectRef idx="0"/>
          <a:fontRef idx="minor"/>
        </p:style>
        <p:txBody>
          <a:bodyPr lIns="0" tIns="9360" rIns="0" bIns="0" anchor="t">
            <a:noAutofit/>
          </a:bodyPr>
          <a:p>
            <a:pPr algn="ctr" defTabSz="457200">
              <a:lnSpc>
                <a:spcPts val="1412"/>
              </a:lnSpc>
            </a:pPr>
            <a:r>
              <a:rPr lang="en-US" sz="1250" b="1" u="none" strike="noStrike">
                <a:solidFill>
                  <a:srgbClr val="855E26"/>
                </a:solidFill>
                <a:effectLst/>
                <a:uFillTx/>
                <a:latin typeface="Arial"/>
              </a:rPr>
              <a:t>2</a:t>
            </a:r>
            <a:endParaRPr lang="en-US" sz="1250" b="0" u="none" strike="noStrike">
              <a:solidFill>
                <a:srgbClr val="000000"/>
              </a:solidFill>
              <a:effectLst/>
              <a:uFillTx/>
              <a:latin typeface="Arial"/>
            </a:endParaRPr>
          </a:p>
        </p:txBody>
      </p:sp>
      <p:sp>
        <p:nvSpPr>
          <p:cNvPr id="255" name="feedback step title"/>
          <p:cNvSpPr/>
          <p:nvPr/>
        </p:nvSpPr>
        <p:spPr>
          <a:xfrm>
            <a:off x="7260480" y="3246120"/>
            <a:ext cx="2029680" cy="365400"/>
          </a:xfrm>
          <a:prstGeom prst="rect">
            <a:avLst/>
          </a:prstGeom>
          <a:noFill/>
          <a:ln w="0">
            <a:noFill/>
          </a:ln>
        </p:spPr>
        <p:style>
          <a:lnRef idx="0"/>
          <a:fillRef idx="0"/>
          <a:effectRef idx="0"/>
          <a:fontRef idx="minor"/>
        </p:style>
        <p:txBody>
          <a:bodyPr lIns="0" tIns="15840" rIns="0" bIns="0" anchor="t">
            <a:noAutofit/>
          </a:bodyPr>
          <a:p>
            <a:pPr defTabSz="457200">
              <a:lnSpc>
                <a:spcPts val="2373"/>
              </a:lnSpc>
            </a:pPr>
            <a:r>
              <a:rPr lang="en-US" sz="2100" b="1" u="none" strike="noStrike">
                <a:solidFill>
                  <a:srgbClr val="17302B"/>
                </a:solidFill>
                <a:effectLst/>
                <a:uFillTx/>
                <a:latin typeface="Arial"/>
              </a:rPr>
              <a:t>Shorts cover</a:t>
            </a:r>
            <a:endParaRPr lang="en-US" sz="2100" b="0" u="none" strike="noStrike">
              <a:solidFill>
                <a:srgbClr val="000000"/>
              </a:solidFill>
              <a:effectLst/>
              <a:uFillTx/>
              <a:latin typeface="Arial"/>
            </a:endParaRPr>
          </a:p>
        </p:txBody>
      </p:sp>
      <p:sp>
        <p:nvSpPr>
          <p:cNvPr id="256" name="feedback step explanation"/>
          <p:cNvSpPr/>
          <p:nvPr/>
        </p:nvSpPr>
        <p:spPr>
          <a:xfrm>
            <a:off x="7260480" y="3712320"/>
            <a:ext cx="1938240" cy="731160"/>
          </a:xfrm>
          <a:prstGeom prst="rect">
            <a:avLst/>
          </a:prstGeom>
          <a:noFill/>
          <a:ln w="0">
            <a:noFill/>
          </a:ln>
        </p:spPr>
        <p:style>
          <a:lnRef idx="0"/>
          <a:fillRef idx="0"/>
          <a:effectRef idx="0"/>
          <a:fontRef idx="minor"/>
        </p:style>
        <p:txBody>
          <a:bodyPr lIns="0" tIns="12240" rIns="0" bIns="0" anchor="t">
            <a:noAutofit/>
          </a:bodyPr>
          <a:p>
            <a:pPr defTabSz="457200">
              <a:lnSpc>
                <a:spcPts val="1806"/>
              </a:lnSpc>
            </a:pPr>
            <a:r>
              <a:rPr lang="en-US" sz="1600" b="0" u="none" strike="noStrike">
                <a:solidFill>
                  <a:srgbClr val="5E6B65"/>
                </a:solidFill>
                <a:effectLst/>
                <a:uFillTx/>
                <a:latin typeface="Arial"/>
              </a:rPr>
              <a:t>They buy shares to</a:t>
            </a:r>
            <a:endParaRPr lang="en-US" sz="1600" b="0" u="none" strike="noStrike">
              <a:solidFill>
                <a:srgbClr val="000000"/>
              </a:solidFill>
              <a:effectLst/>
              <a:uFillTx/>
              <a:latin typeface="Arial"/>
            </a:endParaRPr>
          </a:p>
          <a:p>
            <a:pPr defTabSz="457200">
              <a:lnSpc>
                <a:spcPts val="1806"/>
              </a:lnSpc>
            </a:pPr>
            <a:r>
              <a:rPr lang="en-US" sz="1600" b="0" u="none" strike="noStrike">
                <a:solidFill>
                  <a:srgbClr val="5E6B65"/>
                </a:solidFill>
                <a:effectLst/>
                <a:uFillTx/>
                <a:latin typeface="Arial"/>
              </a:rPr>
              <a:t>close positions.</a:t>
            </a:r>
            <a:endParaRPr lang="en-US" sz="1600" b="0" u="none" strike="noStrike">
              <a:solidFill>
                <a:srgbClr val="000000"/>
              </a:solidFill>
              <a:effectLst/>
              <a:uFillTx/>
              <a:latin typeface="Arial"/>
            </a:endParaRPr>
          </a:p>
        </p:txBody>
      </p:sp>
      <p:sp>
        <p:nvSpPr>
          <p:cNvPr id="257" name="circle"/>
          <p:cNvSpPr/>
          <p:nvPr/>
        </p:nvSpPr>
        <p:spPr>
          <a:xfrm>
            <a:off x="9601200" y="2706480"/>
            <a:ext cx="402120" cy="402120"/>
          </a:xfrm>
          <a:prstGeom prst="ellipse">
            <a:avLst/>
          </a:prstGeom>
          <a:solidFill>
            <a:srgbClr val="F4EDDE"/>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58" name="step number"/>
          <p:cNvSpPr/>
          <p:nvPr/>
        </p:nvSpPr>
        <p:spPr>
          <a:xfrm>
            <a:off x="9601200" y="2766240"/>
            <a:ext cx="402120" cy="228240"/>
          </a:xfrm>
          <a:prstGeom prst="rect">
            <a:avLst/>
          </a:prstGeom>
          <a:noFill/>
          <a:ln w="0">
            <a:noFill/>
          </a:ln>
        </p:spPr>
        <p:style>
          <a:lnRef idx="0"/>
          <a:fillRef idx="0"/>
          <a:effectRef idx="0"/>
          <a:fontRef idx="minor"/>
        </p:style>
        <p:txBody>
          <a:bodyPr lIns="0" tIns="9360" rIns="0" bIns="0" anchor="t">
            <a:noAutofit/>
          </a:bodyPr>
          <a:p>
            <a:pPr algn="ctr" defTabSz="457200">
              <a:lnSpc>
                <a:spcPts val="1412"/>
              </a:lnSpc>
            </a:pPr>
            <a:r>
              <a:rPr lang="en-US" sz="1250" b="1" u="none" strike="noStrike">
                <a:solidFill>
                  <a:srgbClr val="855E26"/>
                </a:solidFill>
                <a:effectLst/>
                <a:uFillTx/>
                <a:latin typeface="Arial"/>
              </a:rPr>
              <a:t>3</a:t>
            </a:r>
            <a:endParaRPr lang="en-US" sz="1250" b="0" u="none" strike="noStrike">
              <a:solidFill>
                <a:srgbClr val="000000"/>
              </a:solidFill>
              <a:effectLst/>
              <a:uFillTx/>
              <a:latin typeface="Arial"/>
            </a:endParaRPr>
          </a:p>
        </p:txBody>
      </p:sp>
      <p:sp>
        <p:nvSpPr>
          <p:cNvPr id="259" name="feedback step title"/>
          <p:cNvSpPr/>
          <p:nvPr/>
        </p:nvSpPr>
        <p:spPr>
          <a:xfrm>
            <a:off x="9601200" y="3246120"/>
            <a:ext cx="2029680" cy="365400"/>
          </a:xfrm>
          <a:prstGeom prst="rect">
            <a:avLst/>
          </a:prstGeom>
          <a:noFill/>
          <a:ln w="0">
            <a:noFill/>
          </a:ln>
        </p:spPr>
        <p:style>
          <a:lnRef idx="0"/>
          <a:fillRef idx="0"/>
          <a:effectRef idx="0"/>
          <a:fontRef idx="minor"/>
        </p:style>
        <p:txBody>
          <a:bodyPr lIns="0" tIns="15840" rIns="0" bIns="0" anchor="t">
            <a:noAutofit/>
          </a:bodyPr>
          <a:p>
            <a:pPr defTabSz="457200">
              <a:lnSpc>
                <a:spcPts val="2373"/>
              </a:lnSpc>
            </a:pPr>
            <a:r>
              <a:rPr lang="en-US" sz="2100" b="1" u="none" strike="noStrike">
                <a:solidFill>
                  <a:srgbClr val="17302B"/>
                </a:solidFill>
                <a:effectLst/>
                <a:uFillTx/>
                <a:latin typeface="Arial"/>
              </a:rPr>
              <a:t>Buying grows</a:t>
            </a:r>
            <a:endParaRPr lang="en-US" sz="2100" b="0" u="none" strike="noStrike">
              <a:solidFill>
                <a:srgbClr val="000000"/>
              </a:solidFill>
              <a:effectLst/>
              <a:uFillTx/>
              <a:latin typeface="Arial"/>
            </a:endParaRPr>
          </a:p>
        </p:txBody>
      </p:sp>
      <p:sp>
        <p:nvSpPr>
          <p:cNvPr id="260" name="feedback step explanation"/>
          <p:cNvSpPr/>
          <p:nvPr/>
        </p:nvSpPr>
        <p:spPr>
          <a:xfrm>
            <a:off x="9601200" y="3712320"/>
            <a:ext cx="1938240" cy="731160"/>
          </a:xfrm>
          <a:prstGeom prst="rect">
            <a:avLst/>
          </a:prstGeom>
          <a:noFill/>
          <a:ln w="0">
            <a:noFill/>
          </a:ln>
        </p:spPr>
        <p:style>
          <a:lnRef idx="0"/>
          <a:fillRef idx="0"/>
          <a:effectRef idx="0"/>
          <a:fontRef idx="minor"/>
        </p:style>
        <p:txBody>
          <a:bodyPr lIns="0" tIns="12240" rIns="0" bIns="0" anchor="t">
            <a:noAutofit/>
          </a:bodyPr>
          <a:p>
            <a:pPr defTabSz="457200">
              <a:lnSpc>
                <a:spcPts val="1806"/>
              </a:lnSpc>
            </a:pPr>
            <a:r>
              <a:rPr lang="en-US" sz="1600" b="0" u="none" strike="noStrike">
                <a:solidFill>
                  <a:srgbClr val="5E6B65"/>
                </a:solidFill>
                <a:effectLst/>
                <a:uFillTx/>
                <a:latin typeface="Arial"/>
              </a:rPr>
              <a:t>Additional demand</a:t>
            </a:r>
            <a:endParaRPr lang="en-US" sz="1600" b="0" u="none" strike="noStrike">
              <a:solidFill>
                <a:srgbClr val="000000"/>
              </a:solidFill>
              <a:effectLst/>
              <a:uFillTx/>
              <a:latin typeface="Arial"/>
            </a:endParaRPr>
          </a:p>
          <a:p>
            <a:pPr defTabSz="457200">
              <a:lnSpc>
                <a:spcPts val="1806"/>
              </a:lnSpc>
            </a:pPr>
            <a:r>
              <a:rPr lang="en-US" sz="1600" b="0" u="none" strike="noStrike">
                <a:solidFill>
                  <a:srgbClr val="5E6B65"/>
                </a:solidFill>
                <a:effectLst/>
                <a:uFillTx/>
                <a:latin typeface="Arial"/>
              </a:rPr>
              <a:t>can push prices</a:t>
            </a:r>
            <a:endParaRPr lang="en-US" sz="1600" b="0" u="none" strike="noStrike">
              <a:solidFill>
                <a:srgbClr val="000000"/>
              </a:solidFill>
              <a:effectLst/>
              <a:uFillTx/>
              <a:latin typeface="Arial"/>
            </a:endParaRPr>
          </a:p>
          <a:p>
            <a:pPr defTabSz="457200">
              <a:lnSpc>
                <a:spcPts val="1806"/>
              </a:lnSpc>
            </a:pPr>
            <a:r>
              <a:rPr lang="en-US" sz="1600" b="0" u="none" strike="noStrike">
                <a:solidFill>
                  <a:srgbClr val="5E6B65"/>
                </a:solidFill>
                <a:effectLst/>
                <a:uFillTx/>
                <a:latin typeface="Arial"/>
              </a:rPr>
              <a:t>higher.</a:t>
            </a:r>
            <a:endParaRPr lang="en-US" sz="1600" b="0" u="none" strike="noStrike">
              <a:solidFill>
                <a:srgbClr val="000000"/>
              </a:solidFill>
              <a:effectLst/>
              <a:uFillTx/>
              <a:latin typeface="Arial"/>
            </a:endParaRPr>
          </a:p>
        </p:txBody>
      </p:sp>
      <p:cxnSp>
        <p:nvCxnSpPr>
          <p:cNvPr id="261" name="connector"/>
          <p:cNvCxnSpPr/>
          <p:nvPr/>
        </p:nvCxnSpPr>
        <p:spPr>
          <a:xfrm>
            <a:off x="6885360" y="3456360"/>
            <a:ext cx="256320" cy="360"/>
          </a:xfrm>
          <a:prstGeom prst="straightConnector1">
            <a:avLst/>
          </a:prstGeom>
          <a:ln w="15240">
            <a:solidFill>
              <a:srgbClr val="855E26"/>
            </a:solidFill>
            <a:round/>
            <a:tailEnd len="med" type="triangle" w="med"/>
          </a:ln>
        </p:spPr>
      </p:cxnSp>
      <p:cxnSp>
        <p:nvCxnSpPr>
          <p:cNvPr id="262" name="connector"/>
          <p:cNvCxnSpPr/>
          <p:nvPr/>
        </p:nvCxnSpPr>
        <p:spPr>
          <a:xfrm>
            <a:off x="9317520" y="3456360"/>
            <a:ext cx="201600" cy="360"/>
          </a:xfrm>
          <a:prstGeom prst="straightConnector1">
            <a:avLst/>
          </a:prstGeom>
          <a:ln w="15240">
            <a:solidFill>
              <a:srgbClr val="855E26"/>
            </a:solidFill>
            <a:round/>
            <a:tailEnd len="med" type="triangle" w="med"/>
          </a:ln>
        </p:spPr>
      </p:cxnSp>
      <p:cxnSp>
        <p:nvCxnSpPr>
          <p:cNvPr id="263" name="connector"/>
          <p:cNvCxnSpPr/>
          <p:nvPr/>
        </p:nvCxnSpPr>
        <p:spPr>
          <a:xfrm>
            <a:off x="4800600" y="4608360"/>
            <a:ext cx="6675480" cy="360"/>
          </a:xfrm>
          <a:prstGeom prst="straightConnector1">
            <a:avLst/>
          </a:prstGeom>
          <a:ln w="8890">
            <a:solidFill>
              <a:srgbClr val="D4DDD6"/>
            </a:solidFill>
            <a:round/>
          </a:ln>
        </p:spPr>
      </p:cxnSp>
      <p:sp>
        <p:nvSpPr>
          <p:cNvPr id="264" name="crowding risk title"/>
          <p:cNvSpPr/>
          <p:nvPr/>
        </p:nvSpPr>
        <p:spPr>
          <a:xfrm>
            <a:off x="4800600" y="4827960"/>
            <a:ext cx="3062880" cy="356400"/>
          </a:xfrm>
          <a:prstGeom prst="rect">
            <a:avLst/>
          </a:prstGeom>
          <a:noFill/>
          <a:ln w="0">
            <a:noFill/>
          </a:ln>
        </p:spPr>
        <p:style>
          <a:lnRef idx="0"/>
          <a:fillRef idx="0"/>
          <a:effectRef idx="0"/>
          <a:fontRef idx="minor"/>
        </p:style>
        <p:txBody>
          <a:bodyPr lIns="0" tIns="15840" rIns="0" bIns="0" anchor="t">
            <a:noAutofit/>
          </a:bodyPr>
          <a:p>
            <a:pPr defTabSz="457200">
              <a:lnSpc>
                <a:spcPts val="2373"/>
              </a:lnSpc>
            </a:pPr>
            <a:r>
              <a:rPr lang="en-US" sz="2100" b="1" u="none" strike="noStrike">
                <a:solidFill>
                  <a:srgbClr val="17302B"/>
                </a:solidFill>
                <a:effectLst/>
                <a:uFillTx/>
                <a:latin typeface="Arial"/>
              </a:rPr>
              <a:t>Crowded positions</a:t>
            </a:r>
            <a:endParaRPr lang="en-US" sz="2100" b="0" u="none" strike="noStrike">
              <a:solidFill>
                <a:srgbClr val="000000"/>
              </a:solidFill>
              <a:effectLst/>
              <a:uFillTx/>
              <a:latin typeface="Arial"/>
            </a:endParaRPr>
          </a:p>
        </p:txBody>
      </p:sp>
      <p:sp>
        <p:nvSpPr>
          <p:cNvPr id="265" name="crowding risk"/>
          <p:cNvSpPr/>
          <p:nvPr/>
        </p:nvSpPr>
        <p:spPr>
          <a:xfrm>
            <a:off x="4800600" y="5276160"/>
            <a:ext cx="3062880" cy="502560"/>
          </a:xfrm>
          <a:prstGeom prst="rect">
            <a:avLst/>
          </a:prstGeom>
          <a:noFill/>
          <a:ln w="0">
            <a:noFill/>
          </a:ln>
        </p:spPr>
        <p:style>
          <a:lnRef idx="0"/>
          <a:fillRef idx="0"/>
          <a:effectRef idx="0"/>
          <a:fontRef idx="minor"/>
        </p:style>
        <p:txBody>
          <a:bodyPr lIns="0" tIns="12240" rIns="0" bIns="0" anchor="t">
            <a:noAutofit/>
          </a:bodyPr>
          <a:p>
            <a:pPr defTabSz="457200">
              <a:lnSpc>
                <a:spcPts val="1806"/>
              </a:lnSpc>
            </a:pPr>
            <a:r>
              <a:rPr lang="en-US" sz="1600" b="0" u="none" strike="noStrike">
                <a:solidFill>
                  <a:srgbClr val="5E6B65"/>
                </a:solidFill>
                <a:effectLst/>
                <a:uFillTx/>
                <a:latin typeface="Arial"/>
              </a:rPr>
              <a:t>Covering can amplify an existing</a:t>
            </a:r>
            <a:endParaRPr lang="en-US" sz="1600" b="0" u="none" strike="noStrike">
              <a:solidFill>
                <a:srgbClr val="000000"/>
              </a:solidFill>
              <a:effectLst/>
              <a:uFillTx/>
              <a:latin typeface="Arial"/>
            </a:endParaRPr>
          </a:p>
          <a:p>
            <a:pPr defTabSz="457200">
              <a:lnSpc>
                <a:spcPts val="1806"/>
              </a:lnSpc>
            </a:pPr>
            <a:r>
              <a:rPr lang="en-US" sz="1600" b="0" u="none" strike="noStrike">
                <a:solidFill>
                  <a:srgbClr val="5E6B65"/>
                </a:solidFill>
                <a:effectLst/>
                <a:uFillTx/>
                <a:latin typeface="Arial"/>
              </a:rPr>
              <a:t>price increase.</a:t>
            </a:r>
            <a:endParaRPr lang="en-US" sz="1600" b="0" u="none" strike="noStrike">
              <a:solidFill>
                <a:srgbClr val="000000"/>
              </a:solidFill>
              <a:effectLst/>
              <a:uFillTx/>
              <a:latin typeface="Arial"/>
            </a:endParaRPr>
          </a:p>
        </p:txBody>
      </p:sp>
      <p:sp>
        <p:nvSpPr>
          <p:cNvPr id="266" name="volatility title"/>
          <p:cNvSpPr/>
          <p:nvPr/>
        </p:nvSpPr>
        <p:spPr>
          <a:xfrm>
            <a:off x="8366760" y="4827960"/>
            <a:ext cx="3062880" cy="356400"/>
          </a:xfrm>
          <a:prstGeom prst="rect">
            <a:avLst/>
          </a:prstGeom>
          <a:noFill/>
          <a:ln w="0">
            <a:noFill/>
          </a:ln>
        </p:spPr>
        <p:style>
          <a:lnRef idx="0"/>
          <a:fillRef idx="0"/>
          <a:effectRef idx="0"/>
          <a:fontRef idx="minor"/>
        </p:style>
        <p:txBody>
          <a:bodyPr lIns="0" tIns="15840" rIns="0" bIns="0" anchor="t">
            <a:noAutofit/>
          </a:bodyPr>
          <a:p>
            <a:pPr defTabSz="457200">
              <a:lnSpc>
                <a:spcPts val="2373"/>
              </a:lnSpc>
            </a:pPr>
            <a:r>
              <a:rPr lang="en-US" sz="2100" b="1" u="none" strike="noStrike">
                <a:solidFill>
                  <a:srgbClr val="17302B"/>
                </a:solidFill>
                <a:effectLst/>
                <a:uFillTx/>
                <a:latin typeface="Arial"/>
              </a:rPr>
              <a:t>Losses on both sides</a:t>
            </a:r>
            <a:endParaRPr lang="en-US" sz="2100" b="0" u="none" strike="noStrike">
              <a:solidFill>
                <a:srgbClr val="000000"/>
              </a:solidFill>
              <a:effectLst/>
              <a:uFillTx/>
              <a:latin typeface="Arial"/>
            </a:endParaRPr>
          </a:p>
        </p:txBody>
      </p:sp>
      <p:sp>
        <p:nvSpPr>
          <p:cNvPr id="267" name="volatility explanation"/>
          <p:cNvSpPr/>
          <p:nvPr/>
        </p:nvSpPr>
        <p:spPr>
          <a:xfrm>
            <a:off x="8366760" y="5276160"/>
            <a:ext cx="3062880" cy="502560"/>
          </a:xfrm>
          <a:prstGeom prst="rect">
            <a:avLst/>
          </a:prstGeom>
          <a:noFill/>
          <a:ln w="0">
            <a:noFill/>
          </a:ln>
        </p:spPr>
        <p:style>
          <a:lnRef idx="0"/>
          <a:fillRef idx="0"/>
          <a:effectRef idx="0"/>
          <a:fontRef idx="minor"/>
        </p:style>
        <p:txBody>
          <a:bodyPr lIns="0" tIns="12240" rIns="0" bIns="0" anchor="t">
            <a:noAutofit/>
          </a:bodyPr>
          <a:p>
            <a:pPr defTabSz="457200">
              <a:lnSpc>
                <a:spcPts val="1806"/>
              </a:lnSpc>
            </a:pPr>
            <a:r>
              <a:rPr lang="en-US" sz="1600" b="0" u="none" strike="noStrike">
                <a:solidFill>
                  <a:srgbClr val="5E6B65"/>
                </a:solidFill>
                <a:effectLst/>
                <a:uFillTx/>
                <a:latin typeface="Arial"/>
              </a:rPr>
              <a:t>Shorts lose on the way up; late</a:t>
            </a:r>
            <a:endParaRPr lang="en-US" sz="1600" b="0" u="none" strike="noStrike">
              <a:solidFill>
                <a:srgbClr val="000000"/>
              </a:solidFill>
              <a:effectLst/>
              <a:uFillTx/>
              <a:latin typeface="Arial"/>
            </a:endParaRPr>
          </a:p>
          <a:p>
            <a:pPr defTabSz="457200">
              <a:lnSpc>
                <a:spcPts val="1806"/>
              </a:lnSpc>
            </a:pPr>
            <a:r>
              <a:rPr lang="en-US" sz="1600" b="0" u="none" strike="noStrike">
                <a:solidFill>
                  <a:srgbClr val="5E6B65"/>
                </a:solidFill>
                <a:effectLst/>
                <a:uFillTx/>
                <a:latin typeface="Arial"/>
              </a:rPr>
              <a:t>buyers risk a reversal.</a:t>
            </a:r>
            <a:endParaRPr lang="en-US" sz="1600" b="0" u="none" strike="noStrike">
              <a:solidFill>
                <a:srgbClr val="000000"/>
              </a:solidFill>
              <a:effectLst/>
              <a:uFillTx/>
              <a:latin typeface="Arial"/>
            </a:endParaRPr>
          </a:p>
        </p:txBody>
      </p:sp>
      <p:sp>
        <p:nvSpPr>
          <p:cNvPr id="268" name="conclusion mark"/>
          <p:cNvSpPr/>
          <p:nvPr/>
        </p:nvSpPr>
        <p:spPr>
          <a:xfrm>
            <a:off x="658440" y="5934600"/>
            <a:ext cx="50040" cy="365400"/>
          </a:xfrm>
          <a:prstGeom prst="rect">
            <a:avLst/>
          </a:prstGeom>
          <a:solidFill>
            <a:srgbClr val="855E26"/>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69" name="takeaway"/>
          <p:cNvSpPr/>
          <p:nvPr/>
        </p:nvSpPr>
        <p:spPr>
          <a:xfrm>
            <a:off x="877680" y="5906880"/>
            <a:ext cx="10560960" cy="493560"/>
          </a:xfrm>
          <a:prstGeom prst="rect">
            <a:avLst/>
          </a:prstGeom>
          <a:noFill/>
          <a:ln w="0">
            <a:noFill/>
          </a:ln>
        </p:spPr>
        <p:style>
          <a:lnRef idx="0"/>
          <a:fillRef idx="0"/>
          <a:effectRef idx="0"/>
          <a:fontRef idx="minor"/>
        </p:style>
        <p:txBody>
          <a:bodyPr lIns="0" tIns="13320" rIns="0" bIns="0" anchor="t">
            <a:noAutofit/>
          </a:bodyPr>
          <a:p>
            <a:pPr defTabSz="457200">
              <a:lnSpc>
                <a:spcPts val="1925"/>
              </a:lnSpc>
            </a:pPr>
            <a:r>
              <a:rPr lang="en-US" sz="1750" b="1" u="none" strike="noStrike">
                <a:solidFill>
                  <a:srgbClr val="17302B"/>
                </a:solidFill>
                <a:effectLst/>
                <a:uFillTx/>
                <a:latin typeface="Arial"/>
              </a:rPr>
              <a:t>Short covering amplifies a rally. Retail buying and options activity also matter.</a:t>
            </a:r>
            <a:endParaRPr lang="en-US" sz="1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A"/>
        </a:solidFill>
      </p:bgPr>
    </p:bg>
    <p:spTree>
      <p:nvGrpSpPr>
        <p:cNvPr id="1" name=""/>
        <p:cNvGrpSpPr/>
        <p:nvPr/>
      </p:nvGrpSpPr>
      <p:grpSpPr>
        <a:xfrm>
          <a:off x="0" y="0"/>
          <a:ext cx="0" cy="0"/>
          <a:chOff x="0" y="0"/>
          <a:chExt cx="0" cy="0"/>
        </a:xfrm>
      </p:grpSpPr>
      <p:cxnSp>
        <p:nvCxnSpPr>
          <p:cNvPr id="270" name="footer rule"/>
          <p:cNvCxnSpPr/>
          <p:nvPr/>
        </p:nvCxnSpPr>
        <p:spPr>
          <a:xfrm>
            <a:off x="658080" y="6373080"/>
            <a:ext cx="10872720" cy="360"/>
          </a:xfrm>
          <a:prstGeom prst="straightConnector1">
            <a:avLst/>
          </a:prstGeom>
          <a:ln w="7620">
            <a:solidFill>
              <a:srgbClr val="D4DDD6"/>
            </a:solidFill>
            <a:round/>
          </a:ln>
        </p:spPr>
      </p:cxnSp>
      <p:sp>
        <p:nvSpPr>
          <p:cNvPr id="271"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272" name="speaker footer"/>
          <p:cNvSpPr/>
          <p:nvPr/>
        </p:nvSpPr>
        <p:spPr>
          <a:xfrm>
            <a:off x="7223760" y="6473880"/>
            <a:ext cx="3474360" cy="182520"/>
          </a:xfrm>
          <a:prstGeom prst="rect">
            <a:avLst/>
          </a:prstGeom>
          <a:noFill/>
          <a:ln w="0">
            <a:noFill/>
          </a:ln>
        </p:spPr>
        <p:style>
          <a:lnRef idx="0"/>
          <a:fillRef idx="0"/>
          <a:effectRef idx="0"/>
          <a:fontRef idx="minor"/>
        </p:style>
        <p:txBody>
          <a:bodyPr lIns="0" tIns="7200" rIns="0" bIns="0" anchor="t">
            <a:noAutofit/>
          </a:bodyPr>
          <a:p>
            <a:pPr algn="r" defTabSz="457200">
              <a:lnSpc>
                <a:spcPts val="1074"/>
              </a:lnSpc>
            </a:pPr>
            <a:r>
              <a:rPr lang="en-US" sz="950" b="0" u="none" strike="noStrike">
                <a:solidFill>
                  <a:srgbClr val="5E6B65"/>
                </a:solidFill>
                <a:effectLst/>
                <a:uFillTx/>
                <a:latin typeface="Arial"/>
              </a:rPr>
              <a:t>Cao Zihan</a:t>
            </a:r>
            <a:endParaRPr lang="en-US" sz="950" b="0" u="none" strike="noStrike">
              <a:solidFill>
                <a:srgbClr val="000000"/>
              </a:solidFill>
              <a:effectLst/>
              <a:uFillTx/>
              <a:latin typeface="Arial"/>
            </a:endParaRPr>
          </a:p>
        </p:txBody>
      </p:sp>
      <p:sp>
        <p:nvSpPr>
          <p:cNvPr id="273"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08 / 18</a:t>
            </a:r>
            <a:endParaRPr lang="en-US" sz="1000" b="0" u="none" strike="noStrike">
              <a:solidFill>
                <a:srgbClr val="000000"/>
              </a:solidFill>
              <a:effectLst/>
              <a:uFillTx/>
              <a:latin typeface="Arial"/>
            </a:endParaRPr>
          </a:p>
        </p:txBody>
      </p:sp>
      <p:sp>
        <p:nvSpPr>
          <p:cNvPr id="274"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855E26"/>
                </a:solidFill>
                <a:effectLst/>
                <a:uFillTx/>
                <a:latin typeface="Arial"/>
              </a:rPr>
              <a:t>Q2 / PROPOSED SAFEGUARDS</a:t>
            </a:r>
            <a:endParaRPr lang="en-US" sz="1150" b="0" u="none" strike="noStrike">
              <a:solidFill>
                <a:srgbClr val="000000"/>
              </a:solidFill>
              <a:effectLst/>
              <a:uFillTx/>
              <a:latin typeface="Arial"/>
            </a:endParaRPr>
          </a:p>
        </p:txBody>
      </p:sp>
      <p:sp>
        <p:nvSpPr>
          <p:cNvPr id="275" name="slide title"/>
          <p:cNvSpPr/>
          <p:nvPr/>
        </p:nvSpPr>
        <p:spPr>
          <a:xfrm>
            <a:off x="658440" y="859680"/>
            <a:ext cx="10835280" cy="676440"/>
          </a:xfrm>
          <a:prstGeom prst="rect">
            <a:avLst/>
          </a:prstGeom>
          <a:noFill/>
          <a:ln w="0">
            <a:noFill/>
          </a:ln>
        </p:spPr>
        <p:style>
          <a:lnRef idx="0"/>
          <a:fillRef idx="0"/>
          <a:effectRef idx="0"/>
          <a:fontRef idx="minor"/>
        </p:style>
        <p:txBody>
          <a:bodyPr lIns="0" tIns="26640" rIns="0" bIns="0" anchor="t">
            <a:noAutofit/>
          </a:bodyPr>
          <a:p>
            <a:pPr defTabSz="457200">
              <a:lnSpc>
                <a:spcPts val="3745"/>
              </a:lnSpc>
            </a:pPr>
            <a:r>
              <a:rPr lang="en-US" sz="3500" b="1" u="none" strike="noStrike">
                <a:solidFill>
                  <a:srgbClr val="17302B"/>
                </a:solidFill>
                <a:effectLst/>
                <a:uFillTx/>
                <a:latin typeface="Arial"/>
              </a:rPr>
              <a:t>Regulate crowding, not all short selling</a:t>
            </a:r>
            <a:endParaRPr lang="en-US" sz="3500" b="0" u="none" strike="noStrike">
              <a:solidFill>
                <a:srgbClr val="000000"/>
              </a:solidFill>
              <a:effectLst/>
              <a:uFillTx/>
              <a:latin typeface="Arial"/>
            </a:endParaRPr>
          </a:p>
        </p:txBody>
      </p:sp>
      <p:sp>
        <p:nvSpPr>
          <p:cNvPr id="276"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Targeted controls preserve liquidity and price discovery.</a:t>
            </a:r>
            <a:endParaRPr lang="en-US" sz="1700" b="0" u="none" strike="noStrike">
              <a:solidFill>
                <a:srgbClr val="000000"/>
              </a:solidFill>
              <a:effectLst/>
              <a:uFillTx/>
              <a:latin typeface="Arial"/>
            </a:endParaRPr>
          </a:p>
        </p:txBody>
      </p:sp>
      <p:sp>
        <p:nvSpPr>
          <p:cNvPr id="277" name="eyebrow"/>
          <p:cNvSpPr/>
          <p:nvPr/>
        </p:nvSpPr>
        <p:spPr>
          <a:xfrm>
            <a:off x="713160" y="2121480"/>
            <a:ext cx="411444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5E6B65"/>
                </a:solidFill>
                <a:effectLst/>
                <a:uFillTx/>
                <a:latin typeface="Arial"/>
              </a:rPr>
              <a:t>RISK TO ADDRESS</a:t>
            </a:r>
            <a:endParaRPr lang="en-US" sz="1150" b="0" u="none" strike="noStrike">
              <a:solidFill>
                <a:srgbClr val="000000"/>
              </a:solidFill>
              <a:effectLst/>
              <a:uFillTx/>
              <a:latin typeface="Arial"/>
            </a:endParaRPr>
          </a:p>
        </p:txBody>
      </p:sp>
      <p:sp>
        <p:nvSpPr>
          <p:cNvPr id="278" name="eyebrow"/>
          <p:cNvSpPr/>
          <p:nvPr/>
        </p:nvSpPr>
        <p:spPr>
          <a:xfrm>
            <a:off x="5678280" y="2121480"/>
            <a:ext cx="576036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5E6B65"/>
                </a:solidFill>
                <a:effectLst/>
                <a:uFillTx/>
                <a:latin typeface="Arial"/>
              </a:rPr>
              <a:t>PROPOSED RESPONSE</a:t>
            </a:r>
            <a:endParaRPr lang="en-US" sz="1150" b="0" u="none" strike="noStrike">
              <a:solidFill>
                <a:srgbClr val="000000"/>
              </a:solidFill>
              <a:effectLst/>
              <a:uFillTx/>
              <a:latin typeface="Arial"/>
            </a:endParaRPr>
          </a:p>
        </p:txBody>
      </p:sp>
      <p:sp>
        <p:nvSpPr>
          <p:cNvPr id="279" name="safeguard number"/>
          <p:cNvSpPr/>
          <p:nvPr/>
        </p:nvSpPr>
        <p:spPr>
          <a:xfrm>
            <a:off x="713160" y="2569320"/>
            <a:ext cx="566640" cy="356400"/>
          </a:xfrm>
          <a:prstGeom prst="rect">
            <a:avLst/>
          </a:prstGeom>
          <a:noFill/>
          <a:ln w="0">
            <a:noFill/>
          </a:ln>
        </p:spPr>
        <p:style>
          <a:lnRef idx="0"/>
          <a:fillRef idx="0"/>
          <a:effectRef idx="0"/>
          <a:fontRef idx="minor"/>
        </p:style>
        <p:txBody>
          <a:bodyPr lIns="0" tIns="15120" rIns="0" bIns="0" anchor="t">
            <a:noAutofit/>
          </a:bodyPr>
          <a:p>
            <a:pPr defTabSz="457200">
              <a:lnSpc>
                <a:spcPts val="2259"/>
              </a:lnSpc>
            </a:pPr>
            <a:r>
              <a:rPr lang="en-US" sz="2000" b="1" u="none" strike="noStrike">
                <a:solidFill>
                  <a:srgbClr val="855E26"/>
                </a:solidFill>
                <a:effectLst/>
                <a:uFillTx/>
                <a:latin typeface="Arial"/>
              </a:rPr>
              <a:t>01</a:t>
            </a:r>
            <a:endParaRPr lang="en-US" sz="2000" b="0" u="none" strike="noStrike">
              <a:solidFill>
                <a:srgbClr val="000000"/>
              </a:solidFill>
              <a:effectLst/>
              <a:uFillTx/>
              <a:latin typeface="Arial"/>
            </a:endParaRPr>
          </a:p>
        </p:txBody>
      </p:sp>
      <p:sp>
        <p:nvSpPr>
          <p:cNvPr id="280" name="risk label"/>
          <p:cNvSpPr/>
          <p:nvPr/>
        </p:nvSpPr>
        <p:spPr>
          <a:xfrm>
            <a:off x="1508760" y="2569320"/>
            <a:ext cx="3401280" cy="71280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1" u="none" strike="noStrike">
                <a:solidFill>
                  <a:srgbClr val="17302B"/>
                </a:solidFill>
                <a:effectLst/>
                <a:uFillTx/>
                <a:latin typeface="Arial"/>
              </a:rPr>
              <a:t>Crowded short positions</a:t>
            </a:r>
            <a:endParaRPr lang="en-US" sz="2200" b="0" u="none" strike="noStrike">
              <a:solidFill>
                <a:srgbClr val="000000"/>
              </a:solidFill>
              <a:effectLst/>
              <a:uFillTx/>
              <a:latin typeface="Arial"/>
            </a:endParaRPr>
          </a:p>
        </p:txBody>
      </p:sp>
      <p:cxnSp>
        <p:nvCxnSpPr>
          <p:cNvPr id="281" name="risk response arrow"/>
          <p:cNvCxnSpPr/>
          <p:nvPr/>
        </p:nvCxnSpPr>
        <p:spPr>
          <a:xfrm>
            <a:off x="5056560" y="2862000"/>
            <a:ext cx="420840" cy="360"/>
          </a:xfrm>
          <a:prstGeom prst="straightConnector1">
            <a:avLst/>
          </a:prstGeom>
          <a:ln w="19050">
            <a:solidFill>
              <a:srgbClr val="855E26"/>
            </a:solidFill>
            <a:round/>
            <a:tailEnd len="med" type="triangle" w="med"/>
          </a:ln>
        </p:spPr>
      </p:cxnSp>
      <p:sp>
        <p:nvSpPr>
          <p:cNvPr id="282" name="safeguard response"/>
          <p:cNvSpPr/>
          <p:nvPr/>
        </p:nvSpPr>
        <p:spPr>
          <a:xfrm>
            <a:off x="5678280" y="2569320"/>
            <a:ext cx="5623200" cy="37440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1" u="none" strike="noStrike">
                <a:solidFill>
                  <a:srgbClr val="17302B"/>
                </a:solidFill>
                <a:effectLst/>
                <a:uFillTx/>
                <a:latin typeface="Arial"/>
              </a:rPr>
              <a:t>Enhanced short-interest disclosure</a:t>
            </a:r>
            <a:endParaRPr lang="en-US" sz="2200" b="0" u="none" strike="noStrike">
              <a:solidFill>
                <a:srgbClr val="000000"/>
              </a:solidFill>
              <a:effectLst/>
              <a:uFillTx/>
              <a:latin typeface="Arial"/>
            </a:endParaRPr>
          </a:p>
        </p:txBody>
      </p:sp>
      <p:sp>
        <p:nvSpPr>
          <p:cNvPr id="283" name="response detail"/>
          <p:cNvSpPr/>
          <p:nvPr/>
        </p:nvSpPr>
        <p:spPr>
          <a:xfrm>
            <a:off x="5678280" y="3072240"/>
            <a:ext cx="5623200" cy="34704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0" u="none" strike="noStrike">
                <a:solidFill>
                  <a:srgbClr val="5E6B65"/>
                </a:solidFill>
                <a:effectLst/>
                <a:uFillTx/>
                <a:latin typeface="Arial"/>
              </a:rPr>
              <a:t>More frequent reports reveal crowding sooner.</a:t>
            </a:r>
            <a:endParaRPr lang="en-US" sz="1700" b="0" u="none" strike="noStrike">
              <a:solidFill>
                <a:srgbClr val="000000"/>
              </a:solidFill>
              <a:effectLst/>
              <a:uFillTx/>
              <a:latin typeface="Arial"/>
            </a:endParaRPr>
          </a:p>
        </p:txBody>
      </p:sp>
      <p:cxnSp>
        <p:nvCxnSpPr>
          <p:cNvPr id="284" name="connector"/>
          <p:cNvCxnSpPr/>
          <p:nvPr/>
        </p:nvCxnSpPr>
        <p:spPr>
          <a:xfrm>
            <a:off x="713160" y="3447000"/>
            <a:ext cx="10762920" cy="360"/>
          </a:xfrm>
          <a:prstGeom prst="straightConnector1">
            <a:avLst/>
          </a:prstGeom>
          <a:ln w="8255">
            <a:solidFill>
              <a:srgbClr val="D4DDD6"/>
            </a:solidFill>
            <a:round/>
          </a:ln>
        </p:spPr>
      </p:cxnSp>
      <p:sp>
        <p:nvSpPr>
          <p:cNvPr id="285" name="safeguard number"/>
          <p:cNvSpPr/>
          <p:nvPr/>
        </p:nvSpPr>
        <p:spPr>
          <a:xfrm>
            <a:off x="713160" y="3575160"/>
            <a:ext cx="566640" cy="356400"/>
          </a:xfrm>
          <a:prstGeom prst="rect">
            <a:avLst/>
          </a:prstGeom>
          <a:noFill/>
          <a:ln w="0">
            <a:noFill/>
          </a:ln>
        </p:spPr>
        <p:style>
          <a:lnRef idx="0"/>
          <a:fillRef idx="0"/>
          <a:effectRef idx="0"/>
          <a:fontRef idx="minor"/>
        </p:style>
        <p:txBody>
          <a:bodyPr lIns="0" tIns="15120" rIns="0" bIns="0" anchor="t">
            <a:noAutofit/>
          </a:bodyPr>
          <a:p>
            <a:pPr defTabSz="457200">
              <a:lnSpc>
                <a:spcPts val="2259"/>
              </a:lnSpc>
            </a:pPr>
            <a:r>
              <a:rPr lang="en-US" sz="2000" b="1" u="none" strike="noStrike">
                <a:solidFill>
                  <a:srgbClr val="855E26"/>
                </a:solidFill>
                <a:effectLst/>
                <a:uFillTx/>
                <a:latin typeface="Arial"/>
              </a:rPr>
              <a:t>02</a:t>
            </a:r>
            <a:endParaRPr lang="en-US" sz="2000" b="0" u="none" strike="noStrike">
              <a:solidFill>
                <a:srgbClr val="000000"/>
              </a:solidFill>
              <a:effectLst/>
              <a:uFillTx/>
              <a:latin typeface="Arial"/>
            </a:endParaRPr>
          </a:p>
        </p:txBody>
      </p:sp>
      <p:sp>
        <p:nvSpPr>
          <p:cNvPr id="286" name="risk label"/>
          <p:cNvSpPr/>
          <p:nvPr/>
        </p:nvSpPr>
        <p:spPr>
          <a:xfrm>
            <a:off x="1508760" y="3575160"/>
            <a:ext cx="3401280" cy="71280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1" u="none" strike="noStrike">
                <a:solidFill>
                  <a:srgbClr val="17302B"/>
                </a:solidFill>
                <a:effectLst/>
                <a:uFillTx/>
                <a:latin typeface="Arial"/>
              </a:rPr>
              <a:t>High short interest</a:t>
            </a:r>
            <a:endParaRPr lang="en-US" sz="2200" b="0" u="none" strike="noStrike">
              <a:solidFill>
                <a:srgbClr val="000000"/>
              </a:solidFill>
              <a:effectLst/>
              <a:uFillTx/>
              <a:latin typeface="Arial"/>
            </a:endParaRPr>
          </a:p>
        </p:txBody>
      </p:sp>
      <p:cxnSp>
        <p:nvCxnSpPr>
          <p:cNvPr id="287" name="risk response arrow"/>
          <p:cNvCxnSpPr/>
          <p:nvPr/>
        </p:nvCxnSpPr>
        <p:spPr>
          <a:xfrm>
            <a:off x="5056560" y="3867840"/>
            <a:ext cx="420840" cy="360"/>
          </a:xfrm>
          <a:prstGeom prst="straightConnector1">
            <a:avLst/>
          </a:prstGeom>
          <a:ln w="19050">
            <a:solidFill>
              <a:srgbClr val="855E26"/>
            </a:solidFill>
            <a:round/>
            <a:tailEnd len="med" type="triangle" w="med"/>
          </a:ln>
        </p:spPr>
      </p:cxnSp>
      <p:sp>
        <p:nvSpPr>
          <p:cNvPr id="288" name="safeguard response"/>
          <p:cNvSpPr/>
          <p:nvPr/>
        </p:nvSpPr>
        <p:spPr>
          <a:xfrm>
            <a:off x="5678280" y="3575160"/>
            <a:ext cx="5623200" cy="37440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1" u="none" strike="noStrike">
                <a:solidFill>
                  <a:srgbClr val="17302B"/>
                </a:solidFill>
                <a:effectLst/>
                <a:uFillTx/>
                <a:latin typeface="Arial"/>
              </a:rPr>
              <a:t>Risk-based margin requirements</a:t>
            </a:r>
            <a:endParaRPr lang="en-US" sz="2200" b="0" u="none" strike="noStrike">
              <a:solidFill>
                <a:srgbClr val="000000"/>
              </a:solidFill>
              <a:effectLst/>
              <a:uFillTx/>
              <a:latin typeface="Arial"/>
            </a:endParaRPr>
          </a:p>
        </p:txBody>
      </p:sp>
      <p:sp>
        <p:nvSpPr>
          <p:cNvPr id="289" name="response detail"/>
          <p:cNvSpPr/>
          <p:nvPr/>
        </p:nvSpPr>
        <p:spPr>
          <a:xfrm>
            <a:off x="5678280" y="4078080"/>
            <a:ext cx="5623200" cy="34704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0" u="none" strike="noStrike">
                <a:solidFill>
                  <a:srgbClr val="5E6B65"/>
                </a:solidFill>
                <a:effectLst/>
                <a:uFillTx/>
                <a:latin typeface="Arial"/>
              </a:rPr>
              <a:t>Adjust margin to the risk of short positions.</a:t>
            </a:r>
            <a:endParaRPr lang="en-US" sz="1700" b="0" u="none" strike="noStrike">
              <a:solidFill>
                <a:srgbClr val="000000"/>
              </a:solidFill>
              <a:effectLst/>
              <a:uFillTx/>
              <a:latin typeface="Arial"/>
            </a:endParaRPr>
          </a:p>
        </p:txBody>
      </p:sp>
      <p:cxnSp>
        <p:nvCxnSpPr>
          <p:cNvPr id="290" name="connector"/>
          <p:cNvCxnSpPr/>
          <p:nvPr/>
        </p:nvCxnSpPr>
        <p:spPr>
          <a:xfrm>
            <a:off x="713160" y="4452840"/>
            <a:ext cx="10762920" cy="360"/>
          </a:xfrm>
          <a:prstGeom prst="straightConnector1">
            <a:avLst/>
          </a:prstGeom>
          <a:ln w="8255">
            <a:solidFill>
              <a:srgbClr val="D4DDD6"/>
            </a:solidFill>
            <a:round/>
          </a:ln>
        </p:spPr>
      </p:cxnSp>
      <p:sp>
        <p:nvSpPr>
          <p:cNvPr id="291" name="safeguard number"/>
          <p:cNvSpPr/>
          <p:nvPr/>
        </p:nvSpPr>
        <p:spPr>
          <a:xfrm>
            <a:off x="713160" y="4581000"/>
            <a:ext cx="566640" cy="356400"/>
          </a:xfrm>
          <a:prstGeom prst="rect">
            <a:avLst/>
          </a:prstGeom>
          <a:noFill/>
          <a:ln w="0">
            <a:noFill/>
          </a:ln>
        </p:spPr>
        <p:style>
          <a:lnRef idx="0"/>
          <a:fillRef idx="0"/>
          <a:effectRef idx="0"/>
          <a:fontRef idx="minor"/>
        </p:style>
        <p:txBody>
          <a:bodyPr lIns="0" tIns="15120" rIns="0" bIns="0" anchor="t">
            <a:noAutofit/>
          </a:bodyPr>
          <a:p>
            <a:pPr defTabSz="457200">
              <a:lnSpc>
                <a:spcPts val="2259"/>
              </a:lnSpc>
            </a:pPr>
            <a:r>
              <a:rPr lang="en-US" sz="2000" b="1" u="none" strike="noStrike">
                <a:solidFill>
                  <a:srgbClr val="855E26"/>
                </a:solidFill>
                <a:effectLst/>
                <a:uFillTx/>
                <a:latin typeface="Arial"/>
              </a:rPr>
              <a:t>03</a:t>
            </a:r>
            <a:endParaRPr lang="en-US" sz="2000" b="0" u="none" strike="noStrike">
              <a:solidFill>
                <a:srgbClr val="000000"/>
              </a:solidFill>
              <a:effectLst/>
              <a:uFillTx/>
              <a:latin typeface="Arial"/>
            </a:endParaRPr>
          </a:p>
        </p:txBody>
      </p:sp>
      <p:sp>
        <p:nvSpPr>
          <p:cNvPr id="292" name="risk label"/>
          <p:cNvSpPr/>
          <p:nvPr/>
        </p:nvSpPr>
        <p:spPr>
          <a:xfrm>
            <a:off x="1508760" y="4581000"/>
            <a:ext cx="3401280" cy="71280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1" u="none" strike="noStrike">
                <a:solidFill>
                  <a:srgbClr val="17302B"/>
                </a:solidFill>
                <a:effectLst/>
                <a:uFillTx/>
                <a:latin typeface="Arial"/>
              </a:rPr>
              <a:t>Securities lending</a:t>
            </a:r>
            <a:endParaRPr lang="en-US" sz="2200" b="0" u="none" strike="noStrike">
              <a:solidFill>
                <a:srgbClr val="000000"/>
              </a:solidFill>
              <a:effectLst/>
              <a:uFillTx/>
              <a:latin typeface="Arial"/>
            </a:endParaRPr>
          </a:p>
        </p:txBody>
      </p:sp>
      <p:cxnSp>
        <p:nvCxnSpPr>
          <p:cNvPr id="293" name="risk response arrow"/>
          <p:cNvCxnSpPr/>
          <p:nvPr/>
        </p:nvCxnSpPr>
        <p:spPr>
          <a:xfrm>
            <a:off x="5056560" y="4873680"/>
            <a:ext cx="420840" cy="360"/>
          </a:xfrm>
          <a:prstGeom prst="straightConnector1">
            <a:avLst/>
          </a:prstGeom>
          <a:ln w="19050">
            <a:solidFill>
              <a:srgbClr val="855E26"/>
            </a:solidFill>
            <a:round/>
            <a:tailEnd len="med" type="triangle" w="med"/>
          </a:ln>
        </p:spPr>
      </p:cxnSp>
      <p:sp>
        <p:nvSpPr>
          <p:cNvPr id="294" name="safeguard response"/>
          <p:cNvSpPr/>
          <p:nvPr/>
        </p:nvSpPr>
        <p:spPr>
          <a:xfrm>
            <a:off x="5678280" y="4581000"/>
            <a:ext cx="5623200" cy="37440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1" u="none" strike="noStrike">
                <a:solidFill>
                  <a:srgbClr val="17302B"/>
                </a:solidFill>
                <a:effectLst/>
                <a:uFillTx/>
                <a:latin typeface="Arial"/>
              </a:rPr>
              <a:t>Stronger lending oversight</a:t>
            </a:r>
            <a:endParaRPr lang="en-US" sz="2200" b="0" u="none" strike="noStrike">
              <a:solidFill>
                <a:srgbClr val="000000"/>
              </a:solidFill>
              <a:effectLst/>
              <a:uFillTx/>
              <a:latin typeface="Arial"/>
            </a:endParaRPr>
          </a:p>
        </p:txBody>
      </p:sp>
      <p:sp>
        <p:nvSpPr>
          <p:cNvPr id="295" name="response detail"/>
          <p:cNvSpPr/>
          <p:nvPr/>
        </p:nvSpPr>
        <p:spPr>
          <a:xfrm>
            <a:off x="5678280" y="5083920"/>
            <a:ext cx="5623200" cy="34704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0" u="none" strike="noStrike">
                <a:solidFill>
                  <a:srgbClr val="5E6B65"/>
                </a:solidFill>
                <a:effectLst/>
                <a:uFillTx/>
                <a:latin typeface="Arial"/>
              </a:rPr>
              <a:t>Improve monitoring of stock borrowing and lending.</a:t>
            </a:r>
            <a:endParaRPr lang="en-US" sz="1700" b="0" u="none" strike="noStrike">
              <a:solidFill>
                <a:srgbClr val="000000"/>
              </a:solidFill>
              <a:effectLst/>
              <a:uFillTx/>
              <a:latin typeface="Arial"/>
            </a:endParaRPr>
          </a:p>
        </p:txBody>
      </p:sp>
      <p:cxnSp>
        <p:nvCxnSpPr>
          <p:cNvPr id="296" name="connector"/>
          <p:cNvCxnSpPr/>
          <p:nvPr/>
        </p:nvCxnSpPr>
        <p:spPr>
          <a:xfrm>
            <a:off x="713160" y="5458680"/>
            <a:ext cx="10762920" cy="360"/>
          </a:xfrm>
          <a:prstGeom prst="straightConnector1">
            <a:avLst/>
          </a:prstGeom>
          <a:ln w="8255">
            <a:solidFill>
              <a:srgbClr val="D4DDD6"/>
            </a:solidFill>
            <a:round/>
          </a:ln>
        </p:spPr>
      </p:cxnSp>
      <p:sp>
        <p:nvSpPr>
          <p:cNvPr id="297" name="conclusion mark"/>
          <p:cNvSpPr/>
          <p:nvPr/>
        </p:nvSpPr>
        <p:spPr>
          <a:xfrm>
            <a:off x="658440" y="5897880"/>
            <a:ext cx="50040" cy="365400"/>
          </a:xfrm>
          <a:prstGeom prst="rect">
            <a:avLst/>
          </a:prstGeom>
          <a:solidFill>
            <a:srgbClr val="855E26"/>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98" name="takeaway"/>
          <p:cNvSpPr/>
          <p:nvPr/>
        </p:nvSpPr>
        <p:spPr>
          <a:xfrm>
            <a:off x="877680" y="5870520"/>
            <a:ext cx="10560960" cy="493560"/>
          </a:xfrm>
          <a:prstGeom prst="rect">
            <a:avLst/>
          </a:prstGeom>
          <a:noFill/>
          <a:ln w="0">
            <a:noFill/>
          </a:ln>
        </p:spPr>
        <p:style>
          <a:lnRef idx="0"/>
          <a:fillRef idx="0"/>
          <a:effectRef idx="0"/>
          <a:fontRef idx="minor"/>
        </p:style>
        <p:txBody>
          <a:bodyPr lIns="0" tIns="16920" rIns="0" bIns="0" anchor="t">
            <a:noAutofit/>
          </a:bodyPr>
          <a:p>
            <a:pPr defTabSz="457200">
              <a:lnSpc>
                <a:spcPts val="2421"/>
              </a:lnSpc>
            </a:pPr>
            <a:r>
              <a:rPr lang="en-US" sz="2200" b="1" u="none" strike="noStrike">
                <a:solidFill>
                  <a:srgbClr val="17302B"/>
                </a:solidFill>
                <a:effectLst/>
                <a:uFillTx/>
                <a:latin typeface="Arial"/>
              </a:rPr>
              <a:t>Targeted safeguards—not a blanket ban.</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A"/>
        </a:solidFill>
      </p:bgPr>
    </p:bg>
    <p:spTree>
      <p:nvGrpSpPr>
        <p:cNvPr id="1" name=""/>
        <p:cNvGrpSpPr/>
        <p:nvPr/>
      </p:nvGrpSpPr>
      <p:grpSpPr>
        <a:xfrm>
          <a:off x="0" y="0"/>
          <a:ext cx="0" cy="0"/>
          <a:chOff x="0" y="0"/>
          <a:chExt cx="0" cy="0"/>
        </a:xfrm>
      </p:grpSpPr>
      <p:cxnSp>
        <p:nvCxnSpPr>
          <p:cNvPr id="299" name="footer rule"/>
          <p:cNvCxnSpPr/>
          <p:nvPr/>
        </p:nvCxnSpPr>
        <p:spPr>
          <a:xfrm>
            <a:off x="658080" y="6373080"/>
            <a:ext cx="10872720" cy="360"/>
          </a:xfrm>
          <a:prstGeom prst="straightConnector1">
            <a:avLst/>
          </a:prstGeom>
          <a:ln w="7620">
            <a:solidFill>
              <a:srgbClr val="D4DDD6"/>
            </a:solidFill>
            <a:round/>
          </a:ln>
        </p:spPr>
      </p:cxnSp>
      <p:sp>
        <p:nvSpPr>
          <p:cNvPr id="300"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301" name="speaker footer"/>
          <p:cNvSpPr/>
          <p:nvPr/>
        </p:nvSpPr>
        <p:spPr>
          <a:xfrm>
            <a:off x="7223760" y="6473880"/>
            <a:ext cx="3474360" cy="182520"/>
          </a:xfrm>
          <a:prstGeom prst="rect">
            <a:avLst/>
          </a:prstGeom>
          <a:noFill/>
          <a:ln w="0">
            <a:noFill/>
          </a:ln>
        </p:spPr>
        <p:style>
          <a:lnRef idx="0"/>
          <a:fillRef idx="0"/>
          <a:effectRef idx="0"/>
          <a:fontRef idx="minor"/>
        </p:style>
        <p:txBody>
          <a:bodyPr lIns="0" tIns="7200" rIns="0" bIns="0" anchor="t">
            <a:noAutofit/>
          </a:bodyPr>
          <a:p>
            <a:pPr algn="r" defTabSz="457200">
              <a:lnSpc>
                <a:spcPts val="1074"/>
              </a:lnSpc>
            </a:pPr>
            <a:r>
              <a:rPr lang="en-US" sz="950" b="0" u="none" strike="noStrike">
                <a:solidFill>
                  <a:srgbClr val="5E6B65"/>
                </a:solidFill>
                <a:effectLst/>
                <a:uFillTx/>
                <a:latin typeface="Arial"/>
              </a:rPr>
              <a:t>Peng Jiayi</a:t>
            </a:r>
            <a:endParaRPr lang="en-US" sz="950" b="0" u="none" strike="noStrike">
              <a:solidFill>
                <a:srgbClr val="000000"/>
              </a:solidFill>
              <a:effectLst/>
              <a:uFillTx/>
              <a:latin typeface="Arial"/>
            </a:endParaRPr>
          </a:p>
        </p:txBody>
      </p:sp>
      <p:sp>
        <p:nvSpPr>
          <p:cNvPr id="302"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09 / 18</a:t>
            </a:r>
            <a:endParaRPr lang="en-US" sz="1000" b="0" u="none" strike="noStrike">
              <a:solidFill>
                <a:srgbClr val="000000"/>
              </a:solidFill>
              <a:effectLst/>
              <a:uFillTx/>
              <a:latin typeface="Arial"/>
            </a:endParaRPr>
          </a:p>
        </p:txBody>
      </p:sp>
      <p:sp>
        <p:nvSpPr>
          <p:cNvPr id="303"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855E26"/>
                </a:solidFill>
                <a:effectLst/>
                <a:uFillTx/>
                <a:latin typeface="Arial"/>
              </a:rPr>
              <a:t>Q2 / THE BENEFITS</a:t>
            </a:r>
            <a:endParaRPr lang="en-US" sz="1150" b="0" u="none" strike="noStrike">
              <a:solidFill>
                <a:srgbClr val="000000"/>
              </a:solidFill>
              <a:effectLst/>
              <a:uFillTx/>
              <a:latin typeface="Arial"/>
            </a:endParaRPr>
          </a:p>
        </p:txBody>
      </p:sp>
      <p:sp>
        <p:nvSpPr>
          <p:cNvPr id="304" name="slide title"/>
          <p:cNvSpPr/>
          <p:nvPr/>
        </p:nvSpPr>
        <p:spPr>
          <a:xfrm>
            <a:off x="658440" y="859680"/>
            <a:ext cx="10835280" cy="676440"/>
          </a:xfrm>
          <a:prstGeom prst="rect">
            <a:avLst/>
          </a:prstGeom>
          <a:noFill/>
          <a:ln w="0">
            <a:noFill/>
          </a:ln>
        </p:spPr>
        <p:style>
          <a:lnRef idx="0"/>
          <a:fillRef idx="0"/>
          <a:effectRef idx="0"/>
          <a:fontRef idx="minor"/>
        </p:style>
        <p:txBody>
          <a:bodyPr lIns="0" tIns="25200" rIns="0" bIns="0" anchor="t">
            <a:noAutofit/>
          </a:bodyPr>
          <a:p>
            <a:pPr defTabSz="457200">
              <a:lnSpc>
                <a:spcPts val="3532"/>
              </a:lnSpc>
            </a:pPr>
            <a:r>
              <a:rPr lang="en-US" sz="3300" b="1" u="none" strike="noStrike">
                <a:solidFill>
                  <a:srgbClr val="17302B"/>
                </a:solidFill>
                <a:effectLst/>
                <a:uFillTx/>
                <a:latin typeface="Arial"/>
              </a:rPr>
              <a:t>Short selling gives buyers both sides of the story</a:t>
            </a:r>
            <a:endParaRPr lang="en-US" sz="3300" b="0" u="none" strike="noStrike">
              <a:solidFill>
                <a:srgbClr val="000000"/>
              </a:solidFill>
              <a:effectLst/>
              <a:uFillTx/>
              <a:latin typeface="Arial"/>
            </a:endParaRPr>
          </a:p>
        </p:txBody>
      </p:sp>
      <p:sp>
        <p:nvSpPr>
          <p:cNvPr id="305"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Four reasons to preserve legitimate short selling.</a:t>
            </a:r>
            <a:endParaRPr lang="en-US" sz="1700" b="0" u="none" strike="noStrike">
              <a:solidFill>
                <a:srgbClr val="000000"/>
              </a:solidFill>
              <a:effectLst/>
              <a:uFillTx/>
              <a:latin typeface="Arial"/>
            </a:endParaRPr>
          </a:p>
        </p:txBody>
      </p:sp>
      <p:cxnSp>
        <p:nvCxnSpPr>
          <p:cNvPr id="306" name="connector"/>
          <p:cNvCxnSpPr/>
          <p:nvPr/>
        </p:nvCxnSpPr>
        <p:spPr>
          <a:xfrm>
            <a:off x="6089760" y="2267640"/>
            <a:ext cx="360" cy="3182400"/>
          </a:xfrm>
          <a:prstGeom prst="straightConnector1">
            <a:avLst/>
          </a:prstGeom>
          <a:ln w="8255">
            <a:solidFill>
              <a:srgbClr val="D4DDD6"/>
            </a:solidFill>
            <a:round/>
          </a:ln>
        </p:spPr>
      </p:cxnSp>
      <p:cxnSp>
        <p:nvCxnSpPr>
          <p:cNvPr id="307" name="connector"/>
          <p:cNvCxnSpPr/>
          <p:nvPr/>
        </p:nvCxnSpPr>
        <p:spPr>
          <a:xfrm>
            <a:off x="713160" y="3867840"/>
            <a:ext cx="10762920" cy="360"/>
          </a:xfrm>
          <a:prstGeom prst="straightConnector1">
            <a:avLst/>
          </a:prstGeom>
          <a:ln w="8255">
            <a:solidFill>
              <a:srgbClr val="D4DDD6"/>
            </a:solidFill>
            <a:round/>
          </a:ln>
        </p:spPr>
      </p:cxnSp>
      <p:cxnSp>
        <p:nvCxnSpPr>
          <p:cNvPr id="308" name="connector"/>
          <p:cNvCxnSpPr/>
          <p:nvPr/>
        </p:nvCxnSpPr>
        <p:spPr>
          <a:xfrm>
            <a:off x="969120" y="2359080"/>
            <a:ext cx="360" cy="384120"/>
          </a:xfrm>
          <a:prstGeom prst="straightConnector1">
            <a:avLst/>
          </a:prstGeom>
          <a:ln w="19050">
            <a:solidFill>
              <a:srgbClr val="855E26"/>
            </a:solidFill>
            <a:round/>
          </a:ln>
        </p:spPr>
      </p:cxnSp>
      <p:cxnSp>
        <p:nvCxnSpPr>
          <p:cNvPr id="309" name="connector"/>
          <p:cNvCxnSpPr/>
          <p:nvPr/>
        </p:nvCxnSpPr>
        <p:spPr>
          <a:xfrm>
            <a:off x="767880" y="2486880"/>
            <a:ext cx="402840" cy="360"/>
          </a:xfrm>
          <a:prstGeom prst="straightConnector1">
            <a:avLst/>
          </a:prstGeom>
          <a:ln w="19050">
            <a:solidFill>
              <a:srgbClr val="855E26"/>
            </a:solidFill>
            <a:round/>
          </a:ln>
        </p:spPr>
      </p:cxnSp>
      <p:cxnSp>
        <p:nvCxnSpPr>
          <p:cNvPr id="310" name="path"/>
          <p:cNvCxnSpPr/>
          <p:nvPr/>
        </p:nvCxnSpPr>
        <p:spPr>
          <a:xfrm flipH="1">
            <a:off x="731160" y="2486880"/>
            <a:ext cx="37080" cy="164880"/>
          </a:xfrm>
          <a:prstGeom prst="straightConnector1">
            <a:avLst/>
          </a:prstGeom>
          <a:ln w="12700">
            <a:solidFill>
              <a:srgbClr val="855E26"/>
            </a:solidFill>
            <a:round/>
          </a:ln>
        </p:spPr>
      </p:cxnSp>
      <p:cxnSp>
        <p:nvCxnSpPr>
          <p:cNvPr id="311" name="path"/>
          <p:cNvCxnSpPr/>
          <p:nvPr/>
        </p:nvCxnSpPr>
        <p:spPr>
          <a:xfrm>
            <a:off x="731160" y="2651400"/>
            <a:ext cx="155880" cy="360"/>
          </a:xfrm>
          <a:prstGeom prst="straightConnector1">
            <a:avLst/>
          </a:prstGeom>
          <a:ln w="12700">
            <a:solidFill>
              <a:srgbClr val="855E26"/>
            </a:solidFill>
            <a:round/>
          </a:ln>
        </p:spPr>
      </p:cxnSp>
      <p:cxnSp>
        <p:nvCxnSpPr>
          <p:cNvPr id="312" name="path"/>
          <p:cNvCxnSpPr/>
          <p:nvPr/>
        </p:nvCxnSpPr>
        <p:spPr>
          <a:xfrm flipH="1" flipV="1">
            <a:off x="767880" y="2486880"/>
            <a:ext cx="119160" cy="164880"/>
          </a:xfrm>
          <a:prstGeom prst="straightConnector1">
            <a:avLst/>
          </a:prstGeom>
          <a:ln w="12700">
            <a:solidFill>
              <a:srgbClr val="855E26"/>
            </a:solidFill>
            <a:round/>
          </a:ln>
        </p:spPr>
      </p:cxnSp>
      <p:cxnSp>
        <p:nvCxnSpPr>
          <p:cNvPr id="313" name="path"/>
          <p:cNvCxnSpPr/>
          <p:nvPr/>
        </p:nvCxnSpPr>
        <p:spPr>
          <a:xfrm flipH="1">
            <a:off x="1060560" y="2486880"/>
            <a:ext cx="110160" cy="164880"/>
          </a:xfrm>
          <a:prstGeom prst="straightConnector1">
            <a:avLst/>
          </a:prstGeom>
          <a:ln w="12700">
            <a:solidFill>
              <a:srgbClr val="855E26"/>
            </a:solidFill>
            <a:round/>
          </a:ln>
        </p:spPr>
      </p:cxnSp>
      <p:cxnSp>
        <p:nvCxnSpPr>
          <p:cNvPr id="314" name="path"/>
          <p:cNvCxnSpPr/>
          <p:nvPr/>
        </p:nvCxnSpPr>
        <p:spPr>
          <a:xfrm>
            <a:off x="1060560" y="2651400"/>
            <a:ext cx="155880" cy="360"/>
          </a:xfrm>
          <a:prstGeom prst="straightConnector1">
            <a:avLst/>
          </a:prstGeom>
          <a:ln w="12700">
            <a:solidFill>
              <a:srgbClr val="855E26"/>
            </a:solidFill>
            <a:round/>
          </a:ln>
        </p:spPr>
      </p:cxnSp>
      <p:cxnSp>
        <p:nvCxnSpPr>
          <p:cNvPr id="315" name="path"/>
          <p:cNvCxnSpPr/>
          <p:nvPr/>
        </p:nvCxnSpPr>
        <p:spPr>
          <a:xfrm flipH="1" flipV="1">
            <a:off x="1170360" y="2486880"/>
            <a:ext cx="46080" cy="164880"/>
          </a:xfrm>
          <a:prstGeom prst="straightConnector1">
            <a:avLst/>
          </a:prstGeom>
          <a:ln w="12700">
            <a:solidFill>
              <a:srgbClr val="855E26"/>
            </a:solidFill>
            <a:round/>
          </a:ln>
        </p:spPr>
      </p:cxnSp>
      <p:sp>
        <p:nvSpPr>
          <p:cNvPr id="316" name="benefit title"/>
          <p:cNvSpPr/>
          <p:nvPr/>
        </p:nvSpPr>
        <p:spPr>
          <a:xfrm>
            <a:off x="1444680" y="2313360"/>
            <a:ext cx="4361400" cy="365400"/>
          </a:xfrm>
          <a:prstGeom prst="rect">
            <a:avLst/>
          </a:prstGeom>
          <a:noFill/>
          <a:ln w="0">
            <a:noFill/>
          </a:ln>
        </p:spPr>
        <p:style>
          <a:lnRef idx="0"/>
          <a:fillRef idx="0"/>
          <a:effectRef idx="0"/>
          <a:fontRef idx="minor"/>
        </p:style>
        <p:txBody>
          <a:bodyPr lIns="0" tIns="17640" rIns="0" bIns="0" anchor="t">
            <a:noAutofit/>
          </a:bodyPr>
          <a:p>
            <a:pPr defTabSz="457200">
              <a:lnSpc>
                <a:spcPts val="2599"/>
              </a:lnSpc>
            </a:pPr>
            <a:r>
              <a:rPr lang="en-US" sz="2300" b="1" u="none" strike="noStrike">
                <a:solidFill>
                  <a:srgbClr val="17302B"/>
                </a:solidFill>
                <a:effectLst/>
                <a:uFillTx/>
                <a:latin typeface="Arial"/>
              </a:rPr>
              <a:t>Price discovery</a:t>
            </a:r>
            <a:endParaRPr lang="en-US" sz="2300" b="0" u="none" strike="noStrike">
              <a:solidFill>
                <a:srgbClr val="000000"/>
              </a:solidFill>
              <a:effectLst/>
              <a:uFillTx/>
              <a:latin typeface="Arial"/>
            </a:endParaRPr>
          </a:p>
        </p:txBody>
      </p:sp>
      <p:sp>
        <p:nvSpPr>
          <p:cNvPr id="317" name="benefit explanation"/>
          <p:cNvSpPr/>
          <p:nvPr/>
        </p:nvSpPr>
        <p:spPr>
          <a:xfrm>
            <a:off x="1444680" y="2807280"/>
            <a:ext cx="4361400" cy="95976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0" u="none" strike="noStrike">
                <a:solidFill>
                  <a:srgbClr val="5E6B65"/>
                </a:solidFill>
                <a:effectLst/>
                <a:uFillTx/>
                <a:latin typeface="Arial"/>
              </a:rPr>
              <a:t>Prices reflect both bearish evidence and</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turnaround hopes. GME faced digital</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competition.</a:t>
            </a:r>
            <a:endParaRPr lang="en-US" sz="1800" b="0" u="none" strike="noStrike">
              <a:solidFill>
                <a:srgbClr val="000000"/>
              </a:solidFill>
              <a:effectLst/>
              <a:uFillTx/>
              <a:latin typeface="Arial"/>
            </a:endParaRPr>
          </a:p>
        </p:txBody>
      </p:sp>
      <p:sp>
        <p:nvSpPr>
          <p:cNvPr id="318" name="circle"/>
          <p:cNvSpPr/>
          <p:nvPr/>
        </p:nvSpPr>
        <p:spPr>
          <a:xfrm>
            <a:off x="6473880" y="2340720"/>
            <a:ext cx="292320" cy="292320"/>
          </a:xfrm>
          <a:prstGeom prst="ellipse">
            <a:avLst/>
          </a:prstGeom>
          <a:noFill/>
          <a:ln w="12700">
            <a:solidFill>
              <a:srgbClr val="855E26"/>
            </a:solidFill>
            <a:round/>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cxnSp>
        <p:nvCxnSpPr>
          <p:cNvPr id="319" name="connector"/>
          <p:cNvCxnSpPr/>
          <p:nvPr/>
        </p:nvCxnSpPr>
        <p:spPr>
          <a:xfrm>
            <a:off x="6720840" y="2587680"/>
            <a:ext cx="173880" cy="183240"/>
          </a:xfrm>
          <a:prstGeom prst="straightConnector1">
            <a:avLst/>
          </a:prstGeom>
          <a:ln w="22860">
            <a:solidFill>
              <a:srgbClr val="855E26"/>
            </a:solidFill>
            <a:round/>
          </a:ln>
        </p:spPr>
      </p:cxnSp>
      <p:sp>
        <p:nvSpPr>
          <p:cNvPr id="320" name="benefit title"/>
          <p:cNvSpPr/>
          <p:nvPr/>
        </p:nvSpPr>
        <p:spPr>
          <a:xfrm>
            <a:off x="7150680" y="2313360"/>
            <a:ext cx="4361400" cy="365400"/>
          </a:xfrm>
          <a:prstGeom prst="rect">
            <a:avLst/>
          </a:prstGeom>
          <a:noFill/>
          <a:ln w="0">
            <a:noFill/>
          </a:ln>
        </p:spPr>
        <p:style>
          <a:lnRef idx="0"/>
          <a:fillRef idx="0"/>
          <a:effectRef idx="0"/>
          <a:fontRef idx="minor"/>
        </p:style>
        <p:txBody>
          <a:bodyPr lIns="0" tIns="17640" rIns="0" bIns="0" anchor="t">
            <a:noAutofit/>
          </a:bodyPr>
          <a:p>
            <a:pPr defTabSz="457200">
              <a:lnSpc>
                <a:spcPts val="2599"/>
              </a:lnSpc>
            </a:pPr>
            <a:r>
              <a:rPr lang="en-US" sz="2300" b="1" u="none" strike="noStrike">
                <a:solidFill>
                  <a:srgbClr val="17302B"/>
                </a:solidFill>
                <a:effectLst/>
                <a:uFillTx/>
                <a:latin typeface="Arial"/>
              </a:rPr>
              <a:t>Company scrutiny</a:t>
            </a:r>
            <a:endParaRPr lang="en-US" sz="2300" b="0" u="none" strike="noStrike">
              <a:solidFill>
                <a:srgbClr val="000000"/>
              </a:solidFill>
              <a:effectLst/>
              <a:uFillTx/>
              <a:latin typeface="Arial"/>
            </a:endParaRPr>
          </a:p>
        </p:txBody>
      </p:sp>
      <p:sp>
        <p:nvSpPr>
          <p:cNvPr id="321" name="benefit explanation"/>
          <p:cNvSpPr/>
          <p:nvPr/>
        </p:nvSpPr>
        <p:spPr>
          <a:xfrm>
            <a:off x="7150680" y="2807280"/>
            <a:ext cx="4361400" cy="95976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0" u="none" strike="noStrike">
                <a:solidFill>
                  <a:srgbClr val="5E6B65"/>
                </a:solidFill>
                <a:effectLst/>
                <a:uFillTx/>
                <a:latin typeface="Arial"/>
              </a:rPr>
              <a:t>Research can expose overvaluation or</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fraud. Nikola: short report (2020), SEC</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settlement (2021).</a:t>
            </a:r>
            <a:endParaRPr lang="en-US" sz="1800" b="0" u="none" strike="noStrike">
              <a:solidFill>
                <a:srgbClr val="000000"/>
              </a:solidFill>
              <a:effectLst/>
              <a:uFillTx/>
              <a:latin typeface="Arial"/>
            </a:endParaRPr>
          </a:p>
        </p:txBody>
      </p:sp>
      <p:cxnSp>
        <p:nvCxnSpPr>
          <p:cNvPr id="322" name="connector"/>
          <p:cNvCxnSpPr/>
          <p:nvPr/>
        </p:nvCxnSpPr>
        <p:spPr>
          <a:xfrm>
            <a:off x="767880" y="4325040"/>
            <a:ext cx="421200" cy="360"/>
          </a:xfrm>
          <a:prstGeom prst="straightConnector1">
            <a:avLst/>
          </a:prstGeom>
          <a:ln w="19050">
            <a:solidFill>
              <a:srgbClr val="855E26"/>
            </a:solidFill>
            <a:round/>
            <a:tailEnd len="med" type="triangle" w="med"/>
          </a:ln>
        </p:spPr>
      </p:cxnSp>
      <p:cxnSp>
        <p:nvCxnSpPr>
          <p:cNvPr id="323" name="connector"/>
          <p:cNvCxnSpPr/>
          <p:nvPr/>
        </p:nvCxnSpPr>
        <p:spPr>
          <a:xfrm flipH="1">
            <a:off x="767880" y="4544280"/>
            <a:ext cx="421200" cy="360"/>
          </a:xfrm>
          <a:prstGeom prst="straightConnector1">
            <a:avLst/>
          </a:prstGeom>
          <a:ln w="19050">
            <a:solidFill>
              <a:srgbClr val="855E26"/>
            </a:solidFill>
            <a:round/>
            <a:tailEnd len="med" type="triangle" w="med"/>
          </a:ln>
        </p:spPr>
      </p:cxnSp>
      <p:sp>
        <p:nvSpPr>
          <p:cNvPr id="324" name="benefit title"/>
          <p:cNvSpPr/>
          <p:nvPr/>
        </p:nvSpPr>
        <p:spPr>
          <a:xfrm>
            <a:off x="1444680" y="4187880"/>
            <a:ext cx="4361400" cy="365400"/>
          </a:xfrm>
          <a:prstGeom prst="rect">
            <a:avLst/>
          </a:prstGeom>
          <a:noFill/>
          <a:ln w="0">
            <a:noFill/>
          </a:ln>
        </p:spPr>
        <p:style>
          <a:lnRef idx="0"/>
          <a:fillRef idx="0"/>
          <a:effectRef idx="0"/>
          <a:fontRef idx="minor"/>
        </p:style>
        <p:txBody>
          <a:bodyPr lIns="0" tIns="17640" rIns="0" bIns="0" anchor="t">
            <a:noAutofit/>
          </a:bodyPr>
          <a:p>
            <a:pPr defTabSz="457200">
              <a:lnSpc>
                <a:spcPts val="2599"/>
              </a:lnSpc>
            </a:pPr>
            <a:r>
              <a:rPr lang="en-US" sz="2300" b="1" u="none" strike="noStrike">
                <a:solidFill>
                  <a:srgbClr val="17302B"/>
                </a:solidFill>
                <a:effectLst/>
                <a:uFillTx/>
                <a:latin typeface="Arial"/>
              </a:rPr>
              <a:t>Liquidity</a:t>
            </a:r>
            <a:endParaRPr lang="en-US" sz="2300" b="0" u="none" strike="noStrike">
              <a:solidFill>
                <a:srgbClr val="000000"/>
              </a:solidFill>
              <a:effectLst/>
              <a:uFillTx/>
              <a:latin typeface="Arial"/>
            </a:endParaRPr>
          </a:p>
        </p:txBody>
      </p:sp>
      <p:sp>
        <p:nvSpPr>
          <p:cNvPr id="325" name="benefit explanation"/>
          <p:cNvSpPr/>
          <p:nvPr/>
        </p:nvSpPr>
        <p:spPr>
          <a:xfrm>
            <a:off x="1444680" y="4681800"/>
            <a:ext cx="4361400" cy="95976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0" u="none" strike="noStrike">
                <a:solidFill>
                  <a:srgbClr val="5E6B65"/>
                </a:solidFill>
                <a:effectLst/>
                <a:uFillTx/>
                <a:latin typeface="Arial"/>
              </a:rPr>
              <a:t>Extra sellers provide counterparties when</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buying demand rises.</a:t>
            </a:r>
            <a:endParaRPr lang="en-US" sz="1800" b="0" u="none" strike="noStrike">
              <a:solidFill>
                <a:srgbClr val="000000"/>
              </a:solidFill>
              <a:effectLst/>
              <a:uFillTx/>
              <a:latin typeface="Arial"/>
            </a:endParaRPr>
          </a:p>
        </p:txBody>
      </p:sp>
      <p:sp>
        <p:nvSpPr>
          <p:cNvPr id="326" name="market discipline title"/>
          <p:cNvSpPr/>
          <p:nvPr/>
        </p:nvSpPr>
        <p:spPr>
          <a:xfrm>
            <a:off x="7169040" y="4187880"/>
            <a:ext cx="4297320" cy="365400"/>
          </a:xfrm>
          <a:prstGeom prst="rect">
            <a:avLst/>
          </a:prstGeom>
          <a:noFill/>
          <a:ln w="0">
            <a:noFill/>
          </a:ln>
        </p:spPr>
        <p:style>
          <a:lnRef idx="0"/>
          <a:fillRef idx="0"/>
          <a:effectRef idx="0"/>
          <a:fontRef idx="minor"/>
        </p:style>
        <p:txBody>
          <a:bodyPr lIns="0" tIns="17640" rIns="0" bIns="0" anchor="t">
            <a:noAutofit/>
          </a:bodyPr>
          <a:p>
            <a:pPr defTabSz="457200">
              <a:lnSpc>
                <a:spcPts val="2599"/>
              </a:lnSpc>
            </a:pPr>
            <a:r>
              <a:rPr lang="en-US" sz="2300" b="1" u="none" strike="noStrike">
                <a:solidFill>
                  <a:srgbClr val="17302B"/>
                </a:solidFill>
                <a:effectLst/>
                <a:uFillTx/>
                <a:latin typeface="Arial"/>
              </a:rPr>
              <a:t>Market discipline</a:t>
            </a:r>
            <a:endParaRPr lang="en-US" sz="2300" b="0" u="none" strike="noStrike">
              <a:solidFill>
                <a:srgbClr val="000000"/>
              </a:solidFill>
              <a:effectLst/>
              <a:uFillTx/>
              <a:latin typeface="Arial"/>
            </a:endParaRPr>
          </a:p>
        </p:txBody>
      </p:sp>
      <p:sp>
        <p:nvSpPr>
          <p:cNvPr id="327" name="market discipline metric"/>
          <p:cNvSpPr/>
          <p:nvPr/>
        </p:nvSpPr>
        <p:spPr>
          <a:xfrm>
            <a:off x="6473880" y="4645080"/>
            <a:ext cx="1892520" cy="621360"/>
          </a:xfrm>
          <a:prstGeom prst="rect">
            <a:avLst/>
          </a:prstGeom>
          <a:noFill/>
          <a:ln w="0">
            <a:noFill/>
          </a:ln>
        </p:spPr>
        <p:style>
          <a:lnRef idx="0"/>
          <a:fillRef idx="0"/>
          <a:effectRef idx="0"/>
          <a:fontRef idx="minor"/>
        </p:style>
        <p:txBody>
          <a:bodyPr lIns="0" tIns="23760" rIns="0" bIns="0" anchor="t">
            <a:noAutofit/>
          </a:bodyPr>
          <a:p>
            <a:pPr defTabSz="457200">
              <a:lnSpc>
                <a:spcPts val="3501"/>
              </a:lnSpc>
            </a:pPr>
            <a:r>
              <a:rPr lang="en-US" sz="3100" b="1" u="none" strike="noStrike">
                <a:solidFill>
                  <a:srgbClr val="855E26"/>
                </a:solidFill>
                <a:effectLst/>
                <a:uFillTx/>
                <a:latin typeface="Arial"/>
              </a:rPr>
              <a:t>−54.4%</a:t>
            </a:r>
            <a:endParaRPr lang="en-US" sz="3100" b="0" u="none" strike="noStrike">
              <a:solidFill>
                <a:srgbClr val="000000"/>
              </a:solidFill>
              <a:effectLst/>
              <a:uFillTx/>
              <a:latin typeface="Arial"/>
            </a:endParaRPr>
          </a:p>
        </p:txBody>
      </p:sp>
      <p:sp>
        <p:nvSpPr>
          <p:cNvPr id="328" name="market discipline detail"/>
          <p:cNvSpPr/>
          <p:nvPr/>
        </p:nvSpPr>
        <p:spPr>
          <a:xfrm>
            <a:off x="8805600" y="4663440"/>
            <a:ext cx="2523240" cy="685440"/>
          </a:xfrm>
          <a:prstGeom prst="rect">
            <a:avLst/>
          </a:prstGeom>
          <a:noFill/>
          <a:ln w="0">
            <a:noFill/>
          </a:ln>
        </p:spPr>
        <p:style>
          <a:lnRef idx="0"/>
          <a:fillRef idx="0"/>
          <a:effectRef idx="0"/>
          <a:fontRef idx="minor"/>
        </p:style>
        <p:txBody>
          <a:bodyPr lIns="0" tIns="12240" rIns="0" bIns="0" anchor="t">
            <a:noAutofit/>
          </a:bodyPr>
          <a:p>
            <a:pPr defTabSz="457200">
              <a:lnSpc>
                <a:spcPts val="1806"/>
              </a:lnSpc>
            </a:pPr>
            <a:r>
              <a:rPr lang="en-US" sz="1600" b="0" u="none" strike="noStrike">
                <a:solidFill>
                  <a:srgbClr val="5E6B65"/>
                </a:solidFill>
                <a:effectLst/>
                <a:uFillTx/>
                <a:latin typeface="Arial"/>
              </a:rPr>
              <a:t>Melvin’s January 2021</a:t>
            </a:r>
            <a:endParaRPr lang="en-US" sz="1600" b="0" u="none" strike="noStrike">
              <a:solidFill>
                <a:srgbClr val="000000"/>
              </a:solidFill>
              <a:effectLst/>
              <a:uFillTx/>
              <a:latin typeface="Arial"/>
            </a:endParaRPr>
          </a:p>
          <a:p>
            <a:pPr defTabSz="457200">
              <a:lnSpc>
                <a:spcPts val="1806"/>
              </a:lnSpc>
            </a:pPr>
            <a:r>
              <a:rPr lang="en-US" sz="1600" b="0" u="none" strike="noStrike">
                <a:solidFill>
                  <a:srgbClr val="5E6B65"/>
                </a:solidFill>
                <a:effectLst/>
                <a:uFillTx/>
                <a:latin typeface="Arial"/>
              </a:rPr>
              <a:t>return. Short sellers bear</a:t>
            </a:r>
            <a:endParaRPr lang="en-US" sz="1600" b="0" u="none" strike="noStrike">
              <a:solidFill>
                <a:srgbClr val="000000"/>
              </a:solidFill>
              <a:effectLst/>
              <a:uFillTx/>
              <a:latin typeface="Arial"/>
            </a:endParaRPr>
          </a:p>
          <a:p>
            <a:pPr defTabSz="457200">
              <a:lnSpc>
                <a:spcPts val="1806"/>
              </a:lnSpc>
            </a:pPr>
            <a:r>
              <a:rPr lang="en-US" sz="1600" b="0" u="none" strike="noStrike">
                <a:solidFill>
                  <a:srgbClr val="5E6B65"/>
                </a:solidFill>
                <a:effectLst/>
                <a:uFillTx/>
                <a:latin typeface="Arial"/>
              </a:rPr>
              <a:t>losses.</a:t>
            </a:r>
            <a:endParaRPr lang="en-US" sz="1600" b="0" u="none" strike="noStrike">
              <a:solidFill>
                <a:srgbClr val="000000"/>
              </a:solidFill>
              <a:effectLst/>
              <a:uFillTx/>
              <a:latin typeface="Arial"/>
            </a:endParaRPr>
          </a:p>
        </p:txBody>
      </p:sp>
      <p:sp>
        <p:nvSpPr>
          <p:cNvPr id="329" name="conclusion mark"/>
          <p:cNvSpPr/>
          <p:nvPr/>
        </p:nvSpPr>
        <p:spPr>
          <a:xfrm>
            <a:off x="658440" y="5861160"/>
            <a:ext cx="50040" cy="365400"/>
          </a:xfrm>
          <a:prstGeom prst="rect">
            <a:avLst/>
          </a:prstGeom>
          <a:solidFill>
            <a:srgbClr val="855E26"/>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30" name="takeaway"/>
          <p:cNvSpPr/>
          <p:nvPr/>
        </p:nvSpPr>
        <p:spPr>
          <a:xfrm>
            <a:off x="877680" y="5833800"/>
            <a:ext cx="10560960" cy="493560"/>
          </a:xfrm>
          <a:prstGeom prst="rect">
            <a:avLst/>
          </a:prstGeom>
          <a:noFill/>
          <a:ln w="0">
            <a:noFill/>
          </a:ln>
        </p:spPr>
        <p:style>
          <a:lnRef idx="0"/>
          <a:fillRef idx="0"/>
          <a:effectRef idx="0"/>
          <a:fontRef idx="minor"/>
        </p:style>
        <p:txBody>
          <a:bodyPr lIns="0" tIns="16920" rIns="0" bIns="0" anchor="t">
            <a:noAutofit/>
          </a:bodyPr>
          <a:p>
            <a:pPr defTabSz="457200">
              <a:lnSpc>
                <a:spcPts val="2421"/>
              </a:lnSpc>
            </a:pPr>
            <a:r>
              <a:rPr lang="en-US" sz="2200" b="1" u="none" strike="noStrike">
                <a:solidFill>
                  <a:srgbClr val="17302B"/>
                </a:solidFill>
                <a:effectLst/>
                <a:uFillTx/>
                <a:latin typeface="Arial"/>
              </a:rPr>
              <a:t>Buyer protection includes access to negative information.</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A"/>
        </a:solidFill>
      </p:bgPr>
    </p:bg>
    <p:spTree>
      <p:nvGrpSpPr>
        <p:cNvPr id="1" name=""/>
        <p:cNvGrpSpPr/>
        <p:nvPr/>
      </p:nvGrpSpPr>
      <p:grpSpPr>
        <a:xfrm>
          <a:off x="0" y="0"/>
          <a:ext cx="0" cy="0"/>
          <a:chOff x="0" y="0"/>
          <a:chExt cx="0" cy="0"/>
        </a:xfrm>
      </p:grpSpPr>
      <p:cxnSp>
        <p:nvCxnSpPr>
          <p:cNvPr id="331" name="footer rule"/>
          <p:cNvCxnSpPr/>
          <p:nvPr/>
        </p:nvCxnSpPr>
        <p:spPr>
          <a:xfrm>
            <a:off x="658080" y="6373080"/>
            <a:ext cx="10872720" cy="360"/>
          </a:xfrm>
          <a:prstGeom prst="straightConnector1">
            <a:avLst/>
          </a:prstGeom>
          <a:ln w="7620">
            <a:solidFill>
              <a:srgbClr val="D4DDD6"/>
            </a:solidFill>
            <a:round/>
          </a:ln>
        </p:spPr>
      </p:cxnSp>
      <p:sp>
        <p:nvSpPr>
          <p:cNvPr id="332"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333" name="speaker footer"/>
          <p:cNvSpPr/>
          <p:nvPr/>
        </p:nvSpPr>
        <p:spPr>
          <a:xfrm>
            <a:off x="7223760" y="6473880"/>
            <a:ext cx="3474360" cy="182520"/>
          </a:xfrm>
          <a:prstGeom prst="rect">
            <a:avLst/>
          </a:prstGeom>
          <a:noFill/>
          <a:ln w="0">
            <a:noFill/>
          </a:ln>
        </p:spPr>
        <p:style>
          <a:lnRef idx="0"/>
          <a:fillRef idx="0"/>
          <a:effectRef idx="0"/>
          <a:fontRef idx="minor"/>
        </p:style>
        <p:txBody>
          <a:bodyPr lIns="0" tIns="7200" rIns="0" bIns="0" anchor="t">
            <a:noAutofit/>
          </a:bodyPr>
          <a:p>
            <a:pPr algn="r" defTabSz="457200">
              <a:lnSpc>
                <a:spcPts val="1074"/>
              </a:lnSpc>
            </a:pPr>
            <a:r>
              <a:rPr lang="en-US" sz="950" b="0" u="none" strike="noStrike">
                <a:solidFill>
                  <a:srgbClr val="5E6B65"/>
                </a:solidFill>
                <a:effectLst/>
                <a:uFillTx/>
                <a:latin typeface="Arial"/>
              </a:rPr>
              <a:t>Peng Jiayi</a:t>
            </a:r>
            <a:endParaRPr lang="en-US" sz="950" b="0" u="none" strike="noStrike">
              <a:solidFill>
                <a:srgbClr val="000000"/>
              </a:solidFill>
              <a:effectLst/>
              <a:uFillTx/>
              <a:latin typeface="Arial"/>
            </a:endParaRPr>
          </a:p>
        </p:txBody>
      </p:sp>
      <p:sp>
        <p:nvSpPr>
          <p:cNvPr id="334"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10 / 18</a:t>
            </a:r>
            <a:endParaRPr lang="en-US" sz="1000" b="0" u="none" strike="noStrike">
              <a:solidFill>
                <a:srgbClr val="000000"/>
              </a:solidFill>
              <a:effectLst/>
              <a:uFillTx/>
              <a:latin typeface="Arial"/>
            </a:endParaRPr>
          </a:p>
        </p:txBody>
      </p:sp>
      <p:sp>
        <p:nvSpPr>
          <p:cNvPr id="335"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855E26"/>
                </a:solidFill>
                <a:effectLst/>
                <a:uFillTx/>
                <a:latin typeface="Arial"/>
              </a:rPr>
              <a:t>Q2 / OUR VIEW</a:t>
            </a:r>
            <a:endParaRPr lang="en-US" sz="1150" b="0" u="none" strike="noStrike">
              <a:solidFill>
                <a:srgbClr val="000000"/>
              </a:solidFill>
              <a:effectLst/>
              <a:uFillTx/>
              <a:latin typeface="Arial"/>
            </a:endParaRPr>
          </a:p>
        </p:txBody>
      </p:sp>
      <p:sp>
        <p:nvSpPr>
          <p:cNvPr id="336" name="slide title"/>
          <p:cNvSpPr/>
          <p:nvPr/>
        </p:nvSpPr>
        <p:spPr>
          <a:xfrm>
            <a:off x="658440" y="859680"/>
            <a:ext cx="10835280" cy="676440"/>
          </a:xfrm>
          <a:prstGeom prst="rect">
            <a:avLst/>
          </a:prstGeom>
          <a:noFill/>
          <a:ln w="0">
            <a:noFill/>
          </a:ln>
        </p:spPr>
        <p:style>
          <a:lnRef idx="0"/>
          <a:fillRef idx="0"/>
          <a:effectRef idx="0"/>
          <a:fontRef idx="minor"/>
        </p:style>
        <p:txBody>
          <a:bodyPr lIns="0" tIns="26640" rIns="0" bIns="0" anchor="t">
            <a:noAutofit/>
          </a:bodyPr>
          <a:p>
            <a:pPr defTabSz="457200">
              <a:lnSpc>
                <a:spcPts val="3745"/>
              </a:lnSpc>
            </a:pPr>
            <a:r>
              <a:rPr lang="en-US" sz="3500" b="1" u="none" strike="noStrike">
                <a:solidFill>
                  <a:srgbClr val="17302B"/>
                </a:solidFill>
                <a:effectLst/>
                <a:uFillTx/>
                <a:latin typeface="Arial"/>
              </a:rPr>
              <a:t>Keep short selling. Control excessive risk.</a:t>
            </a:r>
            <a:endParaRPr lang="en-US" sz="3500" b="0" u="none" strike="noStrike">
              <a:solidFill>
                <a:srgbClr val="000000"/>
              </a:solidFill>
              <a:effectLst/>
              <a:uFillTx/>
              <a:latin typeface="Arial"/>
            </a:endParaRPr>
          </a:p>
        </p:txBody>
      </p:sp>
      <p:sp>
        <p:nvSpPr>
          <p:cNvPr id="337"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Safeguards should reflect crowding, leverage and how hard a position is to exit.</a:t>
            </a:r>
            <a:endParaRPr lang="en-US" sz="1700" b="0" u="none" strike="noStrike">
              <a:solidFill>
                <a:srgbClr val="000000"/>
              </a:solidFill>
              <a:effectLst/>
              <a:uFillTx/>
              <a:latin typeface="Arial"/>
            </a:endParaRPr>
          </a:p>
        </p:txBody>
      </p:sp>
      <p:sp>
        <p:nvSpPr>
          <p:cNvPr id="338" name="eyebrow"/>
          <p:cNvSpPr/>
          <p:nvPr/>
        </p:nvSpPr>
        <p:spPr>
          <a:xfrm>
            <a:off x="713160" y="2277000"/>
            <a:ext cx="333720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855E26"/>
                </a:solidFill>
                <a:effectLst/>
                <a:uFillTx/>
                <a:latin typeface="Arial"/>
              </a:rPr>
              <a:t>KEEP</a:t>
            </a:r>
            <a:endParaRPr lang="en-US" sz="1150" b="0" u="none" strike="noStrike">
              <a:solidFill>
                <a:srgbClr val="000000"/>
              </a:solidFill>
              <a:effectLst/>
              <a:uFillTx/>
              <a:latin typeface="Arial"/>
            </a:endParaRPr>
          </a:p>
        </p:txBody>
      </p:sp>
      <p:sp>
        <p:nvSpPr>
          <p:cNvPr id="339" name="policy action"/>
          <p:cNvSpPr/>
          <p:nvPr/>
        </p:nvSpPr>
        <p:spPr>
          <a:xfrm>
            <a:off x="713160" y="2770560"/>
            <a:ext cx="3273120" cy="914040"/>
          </a:xfrm>
          <a:prstGeom prst="rect">
            <a:avLst/>
          </a:prstGeom>
          <a:noFill/>
          <a:ln w="0">
            <a:noFill/>
          </a:ln>
        </p:spPr>
        <p:style>
          <a:lnRef idx="0"/>
          <a:fillRef idx="0"/>
          <a:effectRef idx="0"/>
          <a:fontRef idx="minor"/>
        </p:style>
        <p:txBody>
          <a:bodyPr lIns="0" tIns="19080" rIns="0" bIns="0" anchor="t">
            <a:noAutofit/>
          </a:bodyPr>
          <a:p>
            <a:pPr defTabSz="457200">
              <a:lnSpc>
                <a:spcPts val="2849"/>
              </a:lnSpc>
            </a:pPr>
            <a:r>
              <a:rPr lang="en-US" sz="2500" b="1" u="none" strike="noStrike">
                <a:solidFill>
                  <a:srgbClr val="17302B"/>
                </a:solidFill>
                <a:effectLst/>
                <a:uFillTx/>
                <a:latin typeface="Arial"/>
              </a:rPr>
              <a:t>Price discovery</a:t>
            </a:r>
            <a:endParaRPr lang="en-US" sz="2500" b="0" u="none" strike="noStrike">
              <a:solidFill>
                <a:srgbClr val="000000"/>
              </a:solidFill>
              <a:effectLst/>
              <a:uFillTx/>
              <a:latin typeface="Arial"/>
            </a:endParaRPr>
          </a:p>
          <a:p>
            <a:pPr defTabSz="457200">
              <a:lnSpc>
                <a:spcPts val="2849"/>
              </a:lnSpc>
            </a:pPr>
            <a:r>
              <a:rPr lang="en-US" sz="2500" b="1" u="none" strike="noStrike">
                <a:solidFill>
                  <a:srgbClr val="17302B"/>
                </a:solidFill>
                <a:effectLst/>
                <a:uFillTx/>
                <a:latin typeface="Arial"/>
              </a:rPr>
              <a:t>and liquidity</a:t>
            </a:r>
            <a:endParaRPr lang="en-US" sz="2500" b="0" u="none" strike="noStrike">
              <a:solidFill>
                <a:srgbClr val="000000"/>
              </a:solidFill>
              <a:effectLst/>
              <a:uFillTx/>
              <a:latin typeface="Arial"/>
            </a:endParaRPr>
          </a:p>
        </p:txBody>
      </p:sp>
      <p:sp>
        <p:nvSpPr>
          <p:cNvPr id="340" name="policy explanation"/>
          <p:cNvSpPr/>
          <p:nvPr/>
        </p:nvSpPr>
        <p:spPr>
          <a:xfrm>
            <a:off x="713160" y="3840480"/>
            <a:ext cx="3273120" cy="102384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0" u="none" strike="noStrike">
                <a:solidFill>
                  <a:srgbClr val="5E6B65"/>
                </a:solidFill>
                <a:effectLst/>
                <a:uFillTx/>
                <a:latin typeface="Arial"/>
              </a:rPr>
              <a:t>Investors need evidence from</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both bullish and bearish views.</a:t>
            </a:r>
            <a:endParaRPr lang="en-US" sz="1800" b="0" u="none" strike="noStrike">
              <a:solidFill>
                <a:srgbClr val="000000"/>
              </a:solidFill>
              <a:effectLst/>
              <a:uFillTx/>
              <a:latin typeface="Arial"/>
            </a:endParaRPr>
          </a:p>
        </p:txBody>
      </p:sp>
      <p:sp>
        <p:nvSpPr>
          <p:cNvPr id="341" name="eyebrow"/>
          <p:cNvSpPr/>
          <p:nvPr/>
        </p:nvSpPr>
        <p:spPr>
          <a:xfrm>
            <a:off x="4407480" y="2277000"/>
            <a:ext cx="333720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855E26"/>
                </a:solidFill>
                <a:effectLst/>
                <a:uFillTx/>
                <a:latin typeface="Arial"/>
              </a:rPr>
              <a:t>ADD</a:t>
            </a:r>
            <a:endParaRPr lang="en-US" sz="1150" b="0" u="none" strike="noStrike">
              <a:solidFill>
                <a:srgbClr val="000000"/>
              </a:solidFill>
              <a:effectLst/>
              <a:uFillTx/>
              <a:latin typeface="Arial"/>
            </a:endParaRPr>
          </a:p>
        </p:txBody>
      </p:sp>
      <p:sp>
        <p:nvSpPr>
          <p:cNvPr id="342" name="policy action"/>
          <p:cNvSpPr/>
          <p:nvPr/>
        </p:nvSpPr>
        <p:spPr>
          <a:xfrm>
            <a:off x="4407480" y="2770560"/>
            <a:ext cx="3273120" cy="914040"/>
          </a:xfrm>
          <a:prstGeom prst="rect">
            <a:avLst/>
          </a:prstGeom>
          <a:noFill/>
          <a:ln w="0">
            <a:noFill/>
          </a:ln>
        </p:spPr>
        <p:style>
          <a:lnRef idx="0"/>
          <a:fillRef idx="0"/>
          <a:effectRef idx="0"/>
          <a:fontRef idx="minor"/>
        </p:style>
        <p:txBody>
          <a:bodyPr lIns="0" tIns="19080" rIns="0" bIns="0" anchor="t">
            <a:noAutofit/>
          </a:bodyPr>
          <a:p>
            <a:pPr defTabSz="457200">
              <a:lnSpc>
                <a:spcPts val="2849"/>
              </a:lnSpc>
            </a:pPr>
            <a:r>
              <a:rPr lang="en-US" sz="2500" b="1" u="none" strike="noStrike">
                <a:solidFill>
                  <a:srgbClr val="17302B"/>
                </a:solidFill>
                <a:effectLst/>
                <a:uFillTx/>
                <a:latin typeface="Arial"/>
              </a:rPr>
              <a:t>Disclosure and</a:t>
            </a:r>
            <a:endParaRPr lang="en-US" sz="2500" b="0" u="none" strike="noStrike">
              <a:solidFill>
                <a:srgbClr val="000000"/>
              </a:solidFill>
              <a:effectLst/>
              <a:uFillTx/>
              <a:latin typeface="Arial"/>
            </a:endParaRPr>
          </a:p>
          <a:p>
            <a:pPr defTabSz="457200">
              <a:lnSpc>
                <a:spcPts val="2849"/>
              </a:lnSpc>
            </a:pPr>
            <a:r>
              <a:rPr lang="en-US" sz="2500" b="1" u="none" strike="noStrike">
                <a:solidFill>
                  <a:srgbClr val="17302B"/>
                </a:solidFill>
                <a:effectLst/>
                <a:uFillTx/>
                <a:latin typeface="Arial"/>
              </a:rPr>
              <a:t>risk-based limits</a:t>
            </a:r>
            <a:endParaRPr lang="en-US" sz="2500" b="0" u="none" strike="noStrike">
              <a:solidFill>
                <a:srgbClr val="000000"/>
              </a:solidFill>
              <a:effectLst/>
              <a:uFillTx/>
              <a:latin typeface="Arial"/>
            </a:endParaRPr>
          </a:p>
        </p:txBody>
      </p:sp>
      <p:sp>
        <p:nvSpPr>
          <p:cNvPr id="343" name="policy explanation"/>
          <p:cNvSpPr/>
          <p:nvPr/>
        </p:nvSpPr>
        <p:spPr>
          <a:xfrm>
            <a:off x="4407480" y="3840480"/>
            <a:ext cx="3273120" cy="102384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0" u="none" strike="noStrike">
                <a:solidFill>
                  <a:srgbClr val="5E6B65"/>
                </a:solidFill>
                <a:effectLst/>
                <a:uFillTx/>
                <a:latin typeface="Arial"/>
              </a:rPr>
              <a:t>Report large positions. Check</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the ability to meet margin calls.</a:t>
            </a:r>
            <a:endParaRPr lang="en-US" sz="1800" b="0" u="none" strike="noStrike">
              <a:solidFill>
                <a:srgbClr val="000000"/>
              </a:solidFill>
              <a:effectLst/>
              <a:uFillTx/>
              <a:latin typeface="Arial"/>
            </a:endParaRPr>
          </a:p>
        </p:txBody>
      </p:sp>
      <p:sp>
        <p:nvSpPr>
          <p:cNvPr id="344" name="eyebrow"/>
          <p:cNvSpPr/>
          <p:nvPr/>
        </p:nvSpPr>
        <p:spPr>
          <a:xfrm>
            <a:off x="8101440" y="2277000"/>
            <a:ext cx="333720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855E26"/>
                </a:solidFill>
                <a:effectLst/>
                <a:uFillTx/>
                <a:latin typeface="Arial"/>
              </a:rPr>
              <a:t>WATCH</a:t>
            </a:r>
            <a:endParaRPr lang="en-US" sz="1150" b="0" u="none" strike="noStrike">
              <a:solidFill>
                <a:srgbClr val="000000"/>
              </a:solidFill>
              <a:effectLst/>
              <a:uFillTx/>
              <a:latin typeface="Arial"/>
            </a:endParaRPr>
          </a:p>
        </p:txBody>
      </p:sp>
      <p:sp>
        <p:nvSpPr>
          <p:cNvPr id="345" name="policy action"/>
          <p:cNvSpPr/>
          <p:nvPr/>
        </p:nvSpPr>
        <p:spPr>
          <a:xfrm>
            <a:off x="8101440" y="2770560"/>
            <a:ext cx="3273120" cy="914040"/>
          </a:xfrm>
          <a:prstGeom prst="rect">
            <a:avLst/>
          </a:prstGeom>
          <a:noFill/>
          <a:ln w="0">
            <a:noFill/>
          </a:ln>
        </p:spPr>
        <p:style>
          <a:lnRef idx="0"/>
          <a:fillRef idx="0"/>
          <a:effectRef idx="0"/>
          <a:fontRef idx="minor"/>
        </p:style>
        <p:txBody>
          <a:bodyPr lIns="0" tIns="19080" rIns="0" bIns="0" anchor="t">
            <a:noAutofit/>
          </a:bodyPr>
          <a:p>
            <a:pPr defTabSz="457200">
              <a:lnSpc>
                <a:spcPts val="2849"/>
              </a:lnSpc>
            </a:pPr>
            <a:r>
              <a:rPr lang="en-US" sz="2500" b="1" u="none" strike="noStrike">
                <a:solidFill>
                  <a:srgbClr val="17302B"/>
                </a:solidFill>
                <a:effectLst/>
                <a:uFillTx/>
                <a:latin typeface="Arial"/>
              </a:rPr>
              <a:t>Crowded trades</a:t>
            </a:r>
            <a:endParaRPr lang="en-US" sz="2500" b="0" u="none" strike="noStrike">
              <a:solidFill>
                <a:srgbClr val="000000"/>
              </a:solidFill>
              <a:effectLst/>
              <a:uFillTx/>
              <a:latin typeface="Arial"/>
            </a:endParaRPr>
          </a:p>
          <a:p>
            <a:pPr defTabSz="457200">
              <a:lnSpc>
                <a:spcPts val="2849"/>
              </a:lnSpc>
            </a:pPr>
            <a:r>
              <a:rPr lang="en-US" sz="2500" b="1" u="none" strike="noStrike">
                <a:solidFill>
                  <a:srgbClr val="17302B"/>
                </a:solidFill>
                <a:effectLst/>
                <a:uFillTx/>
                <a:latin typeface="Arial"/>
              </a:rPr>
              <a:t>on both sides</a:t>
            </a:r>
            <a:endParaRPr lang="en-US" sz="2500" b="0" u="none" strike="noStrike">
              <a:solidFill>
                <a:srgbClr val="000000"/>
              </a:solidFill>
              <a:effectLst/>
              <a:uFillTx/>
              <a:latin typeface="Arial"/>
            </a:endParaRPr>
          </a:p>
        </p:txBody>
      </p:sp>
      <p:sp>
        <p:nvSpPr>
          <p:cNvPr id="346" name="policy explanation"/>
          <p:cNvSpPr/>
          <p:nvPr/>
        </p:nvSpPr>
        <p:spPr>
          <a:xfrm>
            <a:off x="8101440" y="3840480"/>
            <a:ext cx="3273120" cy="102384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0" u="none" strike="noStrike">
                <a:solidFill>
                  <a:srgbClr val="5E6B65"/>
                </a:solidFill>
                <a:effectLst/>
                <a:uFillTx/>
                <a:latin typeface="Arial"/>
              </a:rPr>
              <a:t>GME short interest reached</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102.1% of public free float on</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15 January 2021.</a:t>
            </a:r>
            <a:endParaRPr lang="en-US" sz="1800" b="0" u="none" strike="noStrike">
              <a:solidFill>
                <a:srgbClr val="000000"/>
              </a:solidFill>
              <a:effectLst/>
              <a:uFillTx/>
              <a:latin typeface="Arial"/>
            </a:endParaRPr>
          </a:p>
        </p:txBody>
      </p:sp>
      <p:sp>
        <p:nvSpPr>
          <p:cNvPr id="347" name="verdict surface"/>
          <p:cNvSpPr/>
          <p:nvPr/>
        </p:nvSpPr>
        <p:spPr>
          <a:xfrm>
            <a:off x="658440" y="5120640"/>
            <a:ext cx="10881000" cy="1005480"/>
          </a:xfrm>
          <a:prstGeom prst="rect">
            <a:avLst/>
          </a:prstGeom>
          <a:solidFill>
            <a:srgbClr val="F4EDDE"/>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8" name="eyebrow"/>
          <p:cNvSpPr/>
          <p:nvPr/>
        </p:nvSpPr>
        <p:spPr>
          <a:xfrm>
            <a:off x="877680" y="5303520"/>
            <a:ext cx="20113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855E26"/>
                </a:solidFill>
                <a:effectLst/>
                <a:uFillTx/>
                <a:latin typeface="Arial"/>
              </a:rPr>
              <a:t>OUR VERDICT</a:t>
            </a:r>
            <a:endParaRPr lang="en-US" sz="1150" b="0" u="none" strike="noStrike">
              <a:solidFill>
                <a:srgbClr val="000000"/>
              </a:solidFill>
              <a:effectLst/>
              <a:uFillTx/>
              <a:latin typeface="Arial"/>
            </a:endParaRPr>
          </a:p>
        </p:txBody>
      </p:sp>
      <p:sp>
        <p:nvSpPr>
          <p:cNvPr id="349" name="group verdict"/>
          <p:cNvSpPr/>
          <p:nvPr/>
        </p:nvSpPr>
        <p:spPr>
          <a:xfrm>
            <a:off x="2953440" y="5321880"/>
            <a:ext cx="8265960" cy="685440"/>
          </a:xfrm>
          <a:prstGeom prst="rect">
            <a:avLst/>
          </a:prstGeom>
          <a:noFill/>
          <a:ln w="0">
            <a:noFill/>
          </a:ln>
        </p:spPr>
        <p:style>
          <a:lnRef idx="0"/>
          <a:fillRef idx="0"/>
          <a:effectRef idx="0"/>
          <a:fontRef idx="minor"/>
        </p:style>
        <p:txBody>
          <a:bodyPr lIns="0" tIns="15840" rIns="0" bIns="0" anchor="t">
            <a:noAutofit/>
          </a:bodyPr>
          <a:p>
            <a:pPr defTabSz="457200">
              <a:lnSpc>
                <a:spcPts val="2373"/>
              </a:lnSpc>
            </a:pPr>
            <a:r>
              <a:rPr lang="en-US" sz="2100" b="1" u="none" strike="noStrike">
                <a:solidFill>
                  <a:srgbClr val="17302B"/>
                </a:solidFill>
                <a:effectLst/>
                <a:uFillTx/>
                <a:latin typeface="Arial"/>
              </a:rPr>
              <a:t>Controls matched to risk—not a blanket ban.</a:t>
            </a:r>
            <a:endParaRPr lang="en-US" sz="2100" b="0" u="none" strike="noStrike">
              <a:solidFill>
                <a:srgbClr val="000000"/>
              </a:solidFill>
              <a:effectLst/>
              <a:uFillTx/>
              <a:latin typeface="Arial"/>
            </a:endParaRPr>
          </a:p>
          <a:p>
            <a:pPr defTabSz="457200">
              <a:lnSpc>
                <a:spcPts val="2373"/>
              </a:lnSpc>
            </a:pPr>
            <a:r>
              <a:rPr lang="en-US" sz="2100" b="1" u="none" strike="noStrike">
                <a:solidFill>
                  <a:srgbClr val="17302B"/>
                </a:solidFill>
                <a:effectLst/>
                <a:uFillTx/>
                <a:latin typeface="Arial"/>
              </a:rPr>
              <a:t>Tighter limits when leverage and exit difficulty increase.</a:t>
            </a:r>
            <a:endParaRPr lang="en-US"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A"/>
        </a:solidFill>
      </p:bgPr>
    </p:bg>
    <p:spTree>
      <p:nvGrpSpPr>
        <p:cNvPr id="1" name=""/>
        <p:cNvGrpSpPr/>
        <p:nvPr/>
      </p:nvGrpSpPr>
      <p:grpSpPr>
        <a:xfrm>
          <a:off x="0" y="0"/>
          <a:ext cx="0" cy="0"/>
          <a:chOff x="0" y="0"/>
          <a:chExt cx="0" cy="0"/>
        </a:xfrm>
      </p:grpSpPr>
      <p:cxnSp>
        <p:nvCxnSpPr>
          <p:cNvPr id="350" name="footer rule"/>
          <p:cNvCxnSpPr/>
          <p:nvPr/>
        </p:nvCxnSpPr>
        <p:spPr>
          <a:xfrm>
            <a:off x="658080" y="6373080"/>
            <a:ext cx="10872720" cy="360"/>
          </a:xfrm>
          <a:prstGeom prst="straightConnector1">
            <a:avLst/>
          </a:prstGeom>
          <a:ln w="7620">
            <a:solidFill>
              <a:srgbClr val="D4DDD6"/>
            </a:solidFill>
            <a:round/>
          </a:ln>
        </p:spPr>
      </p:cxnSp>
      <p:sp>
        <p:nvSpPr>
          <p:cNvPr id="351"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Case: Yeo, Yue &amp; Lee (2023)  /  Financing: Robinhood (1 Feb 2021)</a:t>
            </a:r>
            <a:endParaRPr lang="en-US" sz="950" b="0" u="none" strike="noStrike">
              <a:solidFill>
                <a:srgbClr val="000000"/>
              </a:solidFill>
              <a:effectLst/>
              <a:uFillTx/>
              <a:latin typeface="Arial"/>
            </a:endParaRPr>
          </a:p>
        </p:txBody>
      </p:sp>
      <p:sp>
        <p:nvSpPr>
          <p:cNvPr id="352" name="speaker footer"/>
          <p:cNvSpPr/>
          <p:nvPr/>
        </p:nvSpPr>
        <p:spPr>
          <a:xfrm>
            <a:off x="7223760" y="6473880"/>
            <a:ext cx="3474360" cy="182520"/>
          </a:xfrm>
          <a:prstGeom prst="rect">
            <a:avLst/>
          </a:prstGeom>
          <a:noFill/>
          <a:ln w="0">
            <a:noFill/>
          </a:ln>
        </p:spPr>
        <p:style>
          <a:lnRef idx="0"/>
          <a:fillRef idx="0"/>
          <a:effectRef idx="0"/>
          <a:fontRef idx="minor"/>
        </p:style>
        <p:txBody>
          <a:bodyPr lIns="0" tIns="7200" rIns="0" bIns="0" anchor="t">
            <a:noAutofit/>
          </a:bodyPr>
          <a:p>
            <a:pPr algn="r" defTabSz="457200">
              <a:lnSpc>
                <a:spcPts val="1074"/>
              </a:lnSpc>
            </a:pPr>
            <a:r>
              <a:rPr lang="en-US" sz="950" b="0" u="none" strike="noStrike">
                <a:solidFill>
                  <a:srgbClr val="5E6B65"/>
                </a:solidFill>
                <a:effectLst/>
                <a:uFillTx/>
                <a:latin typeface="Arial"/>
              </a:rPr>
              <a:t>Li Gaojie</a:t>
            </a:r>
            <a:endParaRPr lang="en-US" sz="950" b="0" u="none" strike="noStrike">
              <a:solidFill>
                <a:srgbClr val="000000"/>
              </a:solidFill>
              <a:effectLst/>
              <a:uFillTx/>
              <a:latin typeface="Arial"/>
            </a:endParaRPr>
          </a:p>
        </p:txBody>
      </p:sp>
      <p:sp>
        <p:nvSpPr>
          <p:cNvPr id="353"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11 / 18</a:t>
            </a:r>
            <a:endParaRPr lang="en-US" sz="1000" b="0" u="none" strike="noStrike">
              <a:solidFill>
                <a:srgbClr val="000000"/>
              </a:solidFill>
              <a:effectLst/>
              <a:uFillTx/>
              <a:latin typeface="Arial"/>
            </a:endParaRPr>
          </a:p>
        </p:txBody>
      </p:sp>
      <p:sp>
        <p:nvSpPr>
          <p:cNvPr id="354"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D607B"/>
                </a:solidFill>
                <a:effectLst/>
                <a:uFillTx/>
                <a:latin typeface="Arial"/>
              </a:rPr>
              <a:t>Q3 / SUPPORTING VIEW</a:t>
            </a:r>
            <a:endParaRPr lang="en-US" sz="1150" b="0" u="none" strike="noStrike">
              <a:solidFill>
                <a:srgbClr val="000000"/>
              </a:solidFill>
              <a:effectLst/>
              <a:uFillTx/>
              <a:latin typeface="Arial"/>
            </a:endParaRPr>
          </a:p>
        </p:txBody>
      </p:sp>
      <p:sp>
        <p:nvSpPr>
          <p:cNvPr id="355" name="slide title"/>
          <p:cNvSpPr/>
          <p:nvPr/>
        </p:nvSpPr>
        <p:spPr>
          <a:xfrm>
            <a:off x="658440" y="859680"/>
            <a:ext cx="10835280" cy="676440"/>
          </a:xfrm>
          <a:prstGeom prst="rect">
            <a:avLst/>
          </a:prstGeom>
          <a:noFill/>
          <a:ln w="0">
            <a:noFill/>
          </a:ln>
        </p:spPr>
        <p:style>
          <a:lnRef idx="0"/>
          <a:fillRef idx="0"/>
          <a:effectRef idx="0"/>
          <a:fontRef idx="minor"/>
        </p:style>
        <p:txBody>
          <a:bodyPr lIns="0" tIns="26640" rIns="0" bIns="0" anchor="t">
            <a:noAutofit/>
          </a:bodyPr>
          <a:p>
            <a:pPr defTabSz="457200">
              <a:lnSpc>
                <a:spcPts val="3745"/>
              </a:lnSpc>
            </a:pPr>
            <a:r>
              <a:rPr lang="en-US" sz="3500" b="1" u="none" strike="noStrike">
                <a:solidFill>
                  <a:srgbClr val="17302B"/>
                </a:solidFill>
                <a:effectLst/>
                <a:uFillTx/>
                <a:latin typeface="Arial"/>
              </a:rPr>
              <a:t>Robinhood faced a settlement cash squeeze</a:t>
            </a:r>
            <a:endParaRPr lang="en-US" sz="3500" b="0" u="none" strike="noStrike">
              <a:solidFill>
                <a:srgbClr val="000000"/>
              </a:solidFill>
              <a:effectLst/>
              <a:uFillTx/>
              <a:latin typeface="Arial"/>
            </a:endParaRPr>
          </a:p>
        </p:txBody>
      </p:sp>
      <p:sp>
        <p:nvSpPr>
          <p:cNvPr id="356"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An emergency limit had a funding rationale.</a:t>
            </a:r>
            <a:endParaRPr lang="en-US" sz="1700" b="0" u="none" strike="noStrike">
              <a:solidFill>
                <a:srgbClr val="000000"/>
              </a:solidFill>
              <a:effectLst/>
              <a:uFillTx/>
              <a:latin typeface="Arial"/>
            </a:endParaRPr>
          </a:p>
        </p:txBody>
      </p:sp>
      <p:cxnSp>
        <p:nvCxnSpPr>
          <p:cNvPr id="357" name="settlement route"/>
          <p:cNvCxnSpPr/>
          <p:nvPr/>
        </p:nvCxnSpPr>
        <p:spPr>
          <a:xfrm>
            <a:off x="1033200" y="2569320"/>
            <a:ext cx="8257320" cy="360"/>
          </a:xfrm>
          <a:prstGeom prst="straightConnector1">
            <a:avLst/>
          </a:prstGeom>
          <a:ln w="19050">
            <a:solidFill>
              <a:srgbClr val="B6C9D5"/>
            </a:solidFill>
            <a:round/>
            <a:tailEnd len="med" type="triangle" w="med"/>
          </a:ln>
        </p:spPr>
      </p:cxnSp>
      <p:sp>
        <p:nvSpPr>
          <p:cNvPr id="358" name="circle"/>
          <p:cNvSpPr/>
          <p:nvPr/>
        </p:nvSpPr>
        <p:spPr>
          <a:xfrm>
            <a:off x="822960" y="2368440"/>
            <a:ext cx="420120" cy="420120"/>
          </a:xfrm>
          <a:prstGeom prst="ellipse">
            <a:avLst/>
          </a:prstGeom>
          <a:solidFill>
            <a:srgbClr val="EAF0F5"/>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59" name="step number"/>
          <p:cNvSpPr/>
          <p:nvPr/>
        </p:nvSpPr>
        <p:spPr>
          <a:xfrm>
            <a:off x="822960" y="2427840"/>
            <a:ext cx="420120" cy="228240"/>
          </a:xfrm>
          <a:prstGeom prst="rect">
            <a:avLst/>
          </a:prstGeom>
          <a:noFill/>
          <a:ln w="0">
            <a:noFill/>
          </a:ln>
        </p:spPr>
        <p:style>
          <a:lnRef idx="0"/>
          <a:fillRef idx="0"/>
          <a:effectRef idx="0"/>
          <a:fontRef idx="minor"/>
        </p:style>
        <p:txBody>
          <a:bodyPr lIns="0" tIns="9360" rIns="0" bIns="0" anchor="t">
            <a:noAutofit/>
          </a:bodyPr>
          <a:p>
            <a:pPr algn="ctr" defTabSz="457200">
              <a:lnSpc>
                <a:spcPts val="1412"/>
              </a:lnSpc>
            </a:pPr>
            <a:r>
              <a:rPr lang="en-US" sz="1250" b="1" u="none" strike="noStrike">
                <a:solidFill>
                  <a:srgbClr val="2D607B"/>
                </a:solidFill>
                <a:effectLst/>
                <a:uFillTx/>
                <a:latin typeface="Arial"/>
              </a:rPr>
              <a:t>1</a:t>
            </a:r>
            <a:endParaRPr lang="en-US" sz="1250" b="0" u="none" strike="noStrike">
              <a:solidFill>
                <a:srgbClr val="000000"/>
              </a:solidFill>
              <a:effectLst/>
              <a:uFillTx/>
              <a:latin typeface="Arial"/>
            </a:endParaRPr>
          </a:p>
        </p:txBody>
      </p:sp>
      <p:sp>
        <p:nvSpPr>
          <p:cNvPr id="360" name="settlement stage"/>
          <p:cNvSpPr/>
          <p:nvPr/>
        </p:nvSpPr>
        <p:spPr>
          <a:xfrm>
            <a:off x="822960" y="2990160"/>
            <a:ext cx="2358720" cy="37440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1" u="none" strike="noStrike">
                <a:solidFill>
                  <a:srgbClr val="17302B"/>
                </a:solidFill>
                <a:effectLst/>
                <a:uFillTx/>
                <a:latin typeface="Arial"/>
              </a:rPr>
              <a:t>Buy order</a:t>
            </a:r>
            <a:endParaRPr lang="en-US" sz="2200" b="0" u="none" strike="noStrike">
              <a:solidFill>
                <a:srgbClr val="000000"/>
              </a:solidFill>
              <a:effectLst/>
              <a:uFillTx/>
              <a:latin typeface="Arial"/>
            </a:endParaRPr>
          </a:p>
        </p:txBody>
      </p:sp>
      <p:sp>
        <p:nvSpPr>
          <p:cNvPr id="361" name="settlement explanation"/>
          <p:cNvSpPr/>
          <p:nvPr/>
        </p:nvSpPr>
        <p:spPr>
          <a:xfrm>
            <a:off x="822960" y="3511440"/>
            <a:ext cx="2349720" cy="117000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0" u="none" strike="noStrike">
                <a:solidFill>
                  <a:srgbClr val="5E6B65"/>
                </a:solidFill>
                <a:effectLst/>
                <a:uFillTx/>
                <a:latin typeface="Arial"/>
              </a:rPr>
              <a:t>The app confirms a</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GME purchase</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immediately.</a:t>
            </a:r>
            <a:endParaRPr lang="en-US" sz="1800" b="0" u="none" strike="noStrike">
              <a:solidFill>
                <a:srgbClr val="000000"/>
              </a:solidFill>
              <a:effectLst/>
              <a:uFillTx/>
              <a:latin typeface="Arial"/>
            </a:endParaRPr>
          </a:p>
        </p:txBody>
      </p:sp>
      <p:sp>
        <p:nvSpPr>
          <p:cNvPr id="362" name="circle"/>
          <p:cNvSpPr/>
          <p:nvPr/>
        </p:nvSpPr>
        <p:spPr>
          <a:xfrm>
            <a:off x="3575160" y="2368440"/>
            <a:ext cx="420120" cy="420120"/>
          </a:xfrm>
          <a:prstGeom prst="ellipse">
            <a:avLst/>
          </a:prstGeom>
          <a:solidFill>
            <a:srgbClr val="EAF0F5"/>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63" name="step number"/>
          <p:cNvSpPr/>
          <p:nvPr/>
        </p:nvSpPr>
        <p:spPr>
          <a:xfrm>
            <a:off x="3575160" y="2427840"/>
            <a:ext cx="420120" cy="228240"/>
          </a:xfrm>
          <a:prstGeom prst="rect">
            <a:avLst/>
          </a:prstGeom>
          <a:noFill/>
          <a:ln w="0">
            <a:noFill/>
          </a:ln>
        </p:spPr>
        <p:style>
          <a:lnRef idx="0"/>
          <a:fillRef idx="0"/>
          <a:effectRef idx="0"/>
          <a:fontRef idx="minor"/>
        </p:style>
        <p:txBody>
          <a:bodyPr lIns="0" tIns="9360" rIns="0" bIns="0" anchor="t">
            <a:noAutofit/>
          </a:bodyPr>
          <a:p>
            <a:pPr algn="ctr" defTabSz="457200">
              <a:lnSpc>
                <a:spcPts val="1412"/>
              </a:lnSpc>
            </a:pPr>
            <a:r>
              <a:rPr lang="en-US" sz="1250" b="1" u="none" strike="noStrike">
                <a:solidFill>
                  <a:srgbClr val="2D607B"/>
                </a:solidFill>
                <a:effectLst/>
                <a:uFillTx/>
                <a:latin typeface="Arial"/>
              </a:rPr>
              <a:t>2</a:t>
            </a:r>
            <a:endParaRPr lang="en-US" sz="1250" b="0" u="none" strike="noStrike">
              <a:solidFill>
                <a:srgbClr val="000000"/>
              </a:solidFill>
              <a:effectLst/>
              <a:uFillTx/>
              <a:latin typeface="Arial"/>
            </a:endParaRPr>
          </a:p>
        </p:txBody>
      </p:sp>
      <p:sp>
        <p:nvSpPr>
          <p:cNvPr id="364" name="settlement stage"/>
          <p:cNvSpPr/>
          <p:nvPr/>
        </p:nvSpPr>
        <p:spPr>
          <a:xfrm>
            <a:off x="3575160" y="2990160"/>
            <a:ext cx="2358720" cy="37440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1" u="none" strike="noStrike">
                <a:solidFill>
                  <a:srgbClr val="17302B"/>
                </a:solidFill>
                <a:effectLst/>
                <a:uFillTx/>
                <a:latin typeface="Arial"/>
              </a:rPr>
              <a:t>Settlement</a:t>
            </a:r>
            <a:endParaRPr lang="en-US" sz="2200" b="0" u="none" strike="noStrike">
              <a:solidFill>
                <a:srgbClr val="000000"/>
              </a:solidFill>
              <a:effectLst/>
              <a:uFillTx/>
              <a:latin typeface="Arial"/>
            </a:endParaRPr>
          </a:p>
        </p:txBody>
      </p:sp>
      <p:sp>
        <p:nvSpPr>
          <p:cNvPr id="365" name="settlement explanation"/>
          <p:cNvSpPr/>
          <p:nvPr/>
        </p:nvSpPr>
        <p:spPr>
          <a:xfrm>
            <a:off x="3575160" y="3511440"/>
            <a:ext cx="2349720" cy="117000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0" u="none" strike="noStrike">
                <a:solidFill>
                  <a:srgbClr val="5E6B65"/>
                </a:solidFill>
                <a:effectLst/>
                <a:uFillTx/>
                <a:latin typeface="Arial"/>
              </a:rPr>
              <a:t>Cash and shares</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transfer later—like</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credit-card settlement.</a:t>
            </a:r>
            <a:endParaRPr lang="en-US" sz="1800" b="0" u="none" strike="noStrike">
              <a:solidFill>
                <a:srgbClr val="000000"/>
              </a:solidFill>
              <a:effectLst/>
              <a:uFillTx/>
              <a:latin typeface="Arial"/>
            </a:endParaRPr>
          </a:p>
        </p:txBody>
      </p:sp>
      <p:sp>
        <p:nvSpPr>
          <p:cNvPr id="366" name="circle"/>
          <p:cNvSpPr/>
          <p:nvPr/>
        </p:nvSpPr>
        <p:spPr>
          <a:xfrm>
            <a:off x="6327720" y="2368440"/>
            <a:ext cx="420120" cy="420120"/>
          </a:xfrm>
          <a:prstGeom prst="ellipse">
            <a:avLst/>
          </a:prstGeom>
          <a:solidFill>
            <a:srgbClr val="EAF0F5"/>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67" name="step number"/>
          <p:cNvSpPr/>
          <p:nvPr/>
        </p:nvSpPr>
        <p:spPr>
          <a:xfrm>
            <a:off x="6327720" y="2427840"/>
            <a:ext cx="420120" cy="228240"/>
          </a:xfrm>
          <a:prstGeom prst="rect">
            <a:avLst/>
          </a:prstGeom>
          <a:noFill/>
          <a:ln w="0">
            <a:noFill/>
          </a:ln>
        </p:spPr>
        <p:style>
          <a:lnRef idx="0"/>
          <a:fillRef idx="0"/>
          <a:effectRef idx="0"/>
          <a:fontRef idx="minor"/>
        </p:style>
        <p:txBody>
          <a:bodyPr lIns="0" tIns="9360" rIns="0" bIns="0" anchor="t">
            <a:noAutofit/>
          </a:bodyPr>
          <a:p>
            <a:pPr algn="ctr" defTabSz="457200">
              <a:lnSpc>
                <a:spcPts val="1412"/>
              </a:lnSpc>
            </a:pPr>
            <a:r>
              <a:rPr lang="en-US" sz="1250" b="1" u="none" strike="noStrike">
                <a:solidFill>
                  <a:srgbClr val="2D607B"/>
                </a:solidFill>
                <a:effectLst/>
                <a:uFillTx/>
                <a:latin typeface="Arial"/>
              </a:rPr>
              <a:t>3</a:t>
            </a:r>
            <a:endParaRPr lang="en-US" sz="1250" b="0" u="none" strike="noStrike">
              <a:solidFill>
                <a:srgbClr val="000000"/>
              </a:solidFill>
              <a:effectLst/>
              <a:uFillTx/>
              <a:latin typeface="Arial"/>
            </a:endParaRPr>
          </a:p>
        </p:txBody>
      </p:sp>
      <p:sp>
        <p:nvSpPr>
          <p:cNvPr id="368" name="settlement stage"/>
          <p:cNvSpPr/>
          <p:nvPr/>
        </p:nvSpPr>
        <p:spPr>
          <a:xfrm>
            <a:off x="6327720" y="2990160"/>
            <a:ext cx="2358720" cy="37440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1" u="none" strike="noStrike">
                <a:solidFill>
                  <a:srgbClr val="17302B"/>
                </a:solidFill>
                <a:effectLst/>
                <a:uFillTx/>
                <a:latin typeface="Arial"/>
              </a:rPr>
              <a:t>Cash deposit</a:t>
            </a:r>
            <a:endParaRPr lang="en-US" sz="2200" b="0" u="none" strike="noStrike">
              <a:solidFill>
                <a:srgbClr val="000000"/>
              </a:solidFill>
              <a:effectLst/>
              <a:uFillTx/>
              <a:latin typeface="Arial"/>
            </a:endParaRPr>
          </a:p>
        </p:txBody>
      </p:sp>
      <p:sp>
        <p:nvSpPr>
          <p:cNvPr id="369" name="settlement explanation"/>
          <p:cNvSpPr/>
          <p:nvPr/>
        </p:nvSpPr>
        <p:spPr>
          <a:xfrm>
            <a:off x="6327720" y="3511440"/>
            <a:ext cx="2349720" cy="117000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0" u="none" strike="noStrike">
                <a:solidFill>
                  <a:srgbClr val="5E6B65"/>
                </a:solidFill>
                <a:effectLst/>
                <a:uFillTx/>
                <a:latin typeface="Arial"/>
              </a:rPr>
              <a:t>The clearinghouse</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requires Robinhood to</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post more cash.</a:t>
            </a:r>
            <a:endParaRPr lang="en-US" sz="1800" b="0" u="none" strike="noStrike">
              <a:solidFill>
                <a:srgbClr val="000000"/>
              </a:solidFill>
              <a:effectLst/>
              <a:uFillTx/>
              <a:latin typeface="Arial"/>
            </a:endParaRPr>
          </a:p>
        </p:txBody>
      </p:sp>
      <p:sp>
        <p:nvSpPr>
          <p:cNvPr id="370" name="circle"/>
          <p:cNvSpPr/>
          <p:nvPr/>
        </p:nvSpPr>
        <p:spPr>
          <a:xfrm>
            <a:off x="9079920" y="2368440"/>
            <a:ext cx="420120" cy="420120"/>
          </a:xfrm>
          <a:prstGeom prst="ellipse">
            <a:avLst/>
          </a:prstGeom>
          <a:solidFill>
            <a:srgbClr val="EAF0F5"/>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71" name="step number"/>
          <p:cNvSpPr/>
          <p:nvPr/>
        </p:nvSpPr>
        <p:spPr>
          <a:xfrm>
            <a:off x="9079920" y="2427840"/>
            <a:ext cx="420120" cy="228240"/>
          </a:xfrm>
          <a:prstGeom prst="rect">
            <a:avLst/>
          </a:prstGeom>
          <a:noFill/>
          <a:ln w="0">
            <a:noFill/>
          </a:ln>
        </p:spPr>
        <p:style>
          <a:lnRef idx="0"/>
          <a:fillRef idx="0"/>
          <a:effectRef idx="0"/>
          <a:fontRef idx="minor"/>
        </p:style>
        <p:txBody>
          <a:bodyPr lIns="0" tIns="9360" rIns="0" bIns="0" anchor="t">
            <a:noAutofit/>
          </a:bodyPr>
          <a:p>
            <a:pPr algn="ctr" defTabSz="457200">
              <a:lnSpc>
                <a:spcPts val="1412"/>
              </a:lnSpc>
            </a:pPr>
            <a:r>
              <a:rPr lang="en-US" sz="1250" b="1" u="none" strike="noStrike">
                <a:solidFill>
                  <a:srgbClr val="2D607B"/>
                </a:solidFill>
                <a:effectLst/>
                <a:uFillTx/>
                <a:latin typeface="Arial"/>
              </a:rPr>
              <a:t>4</a:t>
            </a:r>
            <a:endParaRPr lang="en-US" sz="1250" b="0" u="none" strike="noStrike">
              <a:solidFill>
                <a:srgbClr val="000000"/>
              </a:solidFill>
              <a:effectLst/>
              <a:uFillTx/>
              <a:latin typeface="Arial"/>
            </a:endParaRPr>
          </a:p>
        </p:txBody>
      </p:sp>
      <p:sp>
        <p:nvSpPr>
          <p:cNvPr id="372" name="settlement stage"/>
          <p:cNvSpPr/>
          <p:nvPr/>
        </p:nvSpPr>
        <p:spPr>
          <a:xfrm>
            <a:off x="9079920" y="2990160"/>
            <a:ext cx="2358720" cy="37440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1" u="none" strike="noStrike">
                <a:solidFill>
                  <a:srgbClr val="17302B"/>
                </a:solidFill>
                <a:effectLst/>
                <a:uFillTx/>
                <a:latin typeface="Arial"/>
              </a:rPr>
              <a:t>Temporary limit</a:t>
            </a:r>
            <a:endParaRPr lang="en-US" sz="2200" b="0" u="none" strike="noStrike">
              <a:solidFill>
                <a:srgbClr val="000000"/>
              </a:solidFill>
              <a:effectLst/>
              <a:uFillTx/>
              <a:latin typeface="Arial"/>
            </a:endParaRPr>
          </a:p>
        </p:txBody>
      </p:sp>
      <p:sp>
        <p:nvSpPr>
          <p:cNvPr id="373" name="settlement explanation"/>
          <p:cNvSpPr/>
          <p:nvPr/>
        </p:nvSpPr>
        <p:spPr>
          <a:xfrm>
            <a:off x="9079920" y="3511440"/>
            <a:ext cx="2349720" cy="117000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0" u="none" strike="noStrike">
                <a:solidFill>
                  <a:srgbClr val="5E6B65"/>
                </a:solidFill>
                <a:effectLst/>
                <a:uFillTx/>
                <a:latin typeface="Arial"/>
              </a:rPr>
              <a:t>Fewer new buys mean</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fewer trades to</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guarantee.</a:t>
            </a:r>
            <a:endParaRPr lang="en-US" sz="1800" b="0" u="none" strike="noStrike">
              <a:solidFill>
                <a:srgbClr val="000000"/>
              </a:solidFill>
              <a:effectLst/>
              <a:uFillTx/>
              <a:latin typeface="Arial"/>
            </a:endParaRPr>
          </a:p>
        </p:txBody>
      </p:sp>
      <p:cxnSp>
        <p:nvCxnSpPr>
          <p:cNvPr id="374" name="connector"/>
          <p:cNvCxnSpPr/>
          <p:nvPr/>
        </p:nvCxnSpPr>
        <p:spPr>
          <a:xfrm>
            <a:off x="713160" y="4965120"/>
            <a:ext cx="10762920" cy="360"/>
          </a:xfrm>
          <a:prstGeom prst="straightConnector1">
            <a:avLst/>
          </a:prstGeom>
          <a:ln w="8890">
            <a:solidFill>
              <a:srgbClr val="D4DDD6"/>
            </a:solidFill>
            <a:round/>
          </a:ln>
        </p:spPr>
      </p:cxnSp>
      <p:sp>
        <p:nvSpPr>
          <p:cNvPr id="375" name="funding total"/>
          <p:cNvSpPr/>
          <p:nvPr/>
        </p:nvSpPr>
        <p:spPr>
          <a:xfrm>
            <a:off x="713160" y="5203080"/>
            <a:ext cx="2550960" cy="548280"/>
          </a:xfrm>
          <a:prstGeom prst="rect">
            <a:avLst/>
          </a:prstGeom>
          <a:noFill/>
          <a:ln w="0">
            <a:noFill/>
          </a:ln>
        </p:spPr>
        <p:style>
          <a:lnRef idx="0"/>
          <a:fillRef idx="0"/>
          <a:effectRef idx="0"/>
          <a:fontRef idx="minor"/>
        </p:style>
        <p:txBody>
          <a:bodyPr lIns="0" tIns="25920" rIns="0" bIns="0" anchor="t">
            <a:noAutofit/>
          </a:bodyPr>
          <a:p>
            <a:pPr defTabSz="457200">
              <a:lnSpc>
                <a:spcPts val="3841"/>
              </a:lnSpc>
            </a:pPr>
            <a:r>
              <a:rPr lang="en-US" sz="3400" b="1" u="none" strike="noStrike">
                <a:solidFill>
                  <a:srgbClr val="2D607B"/>
                </a:solidFill>
                <a:effectLst/>
                <a:uFillTx/>
                <a:latin typeface="Arial"/>
              </a:rPr>
              <a:t>$3.4bn</a:t>
            </a:r>
            <a:endParaRPr lang="en-US" sz="3400" b="0" u="none" strike="noStrike">
              <a:solidFill>
                <a:srgbClr val="000000"/>
              </a:solidFill>
              <a:effectLst/>
              <a:uFillTx/>
              <a:latin typeface="Arial"/>
            </a:endParaRPr>
          </a:p>
        </p:txBody>
      </p:sp>
      <p:sp>
        <p:nvSpPr>
          <p:cNvPr id="376" name="funding dates"/>
          <p:cNvSpPr/>
          <p:nvPr/>
        </p:nvSpPr>
        <p:spPr>
          <a:xfrm>
            <a:off x="3474720" y="5257800"/>
            <a:ext cx="3437640" cy="566640"/>
          </a:xfrm>
          <a:prstGeom prst="rect">
            <a:avLst/>
          </a:prstGeom>
          <a:noFill/>
          <a:ln w="0">
            <a:noFill/>
          </a:ln>
        </p:spPr>
        <p:style>
          <a:lnRef idx="0"/>
          <a:fillRef idx="0"/>
          <a:effectRef idx="0"/>
          <a:fontRef idx="minor"/>
        </p:style>
        <p:txBody>
          <a:bodyPr lIns="0" tIns="13680" rIns="0" bIns="0" anchor="t">
            <a:noAutofit/>
          </a:bodyPr>
          <a:p>
            <a:pPr defTabSz="457200">
              <a:lnSpc>
                <a:spcPts val="1981"/>
              </a:lnSpc>
            </a:pPr>
            <a:r>
              <a:rPr lang="en-US" sz="1800" b="0" u="none" strike="noStrike">
                <a:solidFill>
                  <a:srgbClr val="5E6B65"/>
                </a:solidFill>
                <a:effectLst/>
                <a:uFillTx/>
                <a:latin typeface="Arial"/>
              </a:rPr>
              <a:t>$1bn on Jan 29</a:t>
            </a:r>
            <a:endParaRPr lang="en-US" sz="1800" b="0" u="none" strike="noStrike">
              <a:solidFill>
                <a:srgbClr val="000000"/>
              </a:solidFill>
              <a:effectLst/>
              <a:uFillTx/>
              <a:latin typeface="Arial"/>
            </a:endParaRPr>
          </a:p>
          <a:p>
            <a:pPr defTabSz="457200">
              <a:lnSpc>
                <a:spcPts val="1981"/>
              </a:lnSpc>
            </a:pPr>
            <a:r>
              <a:rPr lang="en-US" sz="1800" b="0" u="none" strike="noStrike">
                <a:solidFill>
                  <a:srgbClr val="5E6B65"/>
                </a:solidFill>
                <a:effectLst/>
                <a:uFillTx/>
                <a:latin typeface="Arial"/>
              </a:rPr>
              <a:t>+ $2.4bn on Feb 1</a:t>
            </a:r>
            <a:endParaRPr lang="en-US" sz="1800" b="0" u="none" strike="noStrike">
              <a:solidFill>
                <a:srgbClr val="000000"/>
              </a:solidFill>
              <a:effectLst/>
              <a:uFillTx/>
              <a:latin typeface="Arial"/>
            </a:endParaRPr>
          </a:p>
        </p:txBody>
      </p:sp>
      <p:sp>
        <p:nvSpPr>
          <p:cNvPr id="377" name="funding interpretation"/>
          <p:cNvSpPr/>
          <p:nvPr/>
        </p:nvSpPr>
        <p:spPr>
          <a:xfrm>
            <a:off x="7406640" y="5239440"/>
            <a:ext cx="4023000" cy="63972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0" u="none" strike="noStrike">
                <a:solidFill>
                  <a:srgbClr val="17302B"/>
                </a:solidFill>
                <a:effectLst/>
                <a:uFillTx/>
                <a:latin typeface="Arial"/>
              </a:rPr>
              <a:t>Later funding supports a genuine</a:t>
            </a:r>
            <a:endParaRPr lang="en-US" sz="1700" b="0" u="none" strike="noStrike">
              <a:solidFill>
                <a:srgbClr val="000000"/>
              </a:solidFill>
              <a:effectLst/>
              <a:uFillTx/>
              <a:latin typeface="Arial"/>
            </a:endParaRPr>
          </a:p>
          <a:p>
            <a:pPr defTabSz="457200">
              <a:lnSpc>
                <a:spcPts val="1919"/>
              </a:lnSpc>
            </a:pPr>
            <a:r>
              <a:rPr lang="en-US" sz="1700" b="0" u="none" strike="noStrike">
                <a:solidFill>
                  <a:srgbClr val="17302B"/>
                </a:solidFill>
                <a:effectLst/>
                <a:uFillTx/>
                <a:latin typeface="Arial"/>
              </a:rPr>
              <a:t>cash-pressure explanation.</a:t>
            </a:r>
            <a:endParaRPr lang="en-US" sz="1700" b="0" u="none" strike="noStrike">
              <a:solidFill>
                <a:srgbClr val="000000"/>
              </a:solidFill>
              <a:effectLst/>
              <a:uFillTx/>
              <a:latin typeface="Arial"/>
            </a:endParaRPr>
          </a:p>
        </p:txBody>
      </p:sp>
      <p:sp>
        <p:nvSpPr>
          <p:cNvPr id="378" name="conclusion mark"/>
          <p:cNvSpPr/>
          <p:nvPr/>
        </p:nvSpPr>
        <p:spPr>
          <a:xfrm>
            <a:off x="658440" y="5943600"/>
            <a:ext cx="50040" cy="365400"/>
          </a:xfrm>
          <a:prstGeom prst="rect">
            <a:avLst/>
          </a:prstGeom>
          <a:solidFill>
            <a:srgbClr val="2D607B"/>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79" name="takeaway"/>
          <p:cNvSpPr/>
          <p:nvPr/>
        </p:nvSpPr>
        <p:spPr>
          <a:xfrm>
            <a:off x="877680" y="5916240"/>
            <a:ext cx="10560960" cy="493560"/>
          </a:xfrm>
          <a:prstGeom prst="rect">
            <a:avLst/>
          </a:prstGeom>
          <a:noFill/>
          <a:ln w="0">
            <a:noFill/>
          </a:ln>
        </p:spPr>
        <p:style>
          <a:lnRef idx="0"/>
          <a:fillRef idx="0"/>
          <a:effectRef idx="0"/>
          <a:fontRef idx="minor"/>
        </p:style>
        <p:txBody>
          <a:bodyPr lIns="0" tIns="13680" rIns="0" bIns="0" anchor="t">
            <a:noAutofit/>
          </a:bodyPr>
          <a:p>
            <a:pPr defTabSz="457200">
              <a:lnSpc>
                <a:spcPts val="1981"/>
              </a:lnSpc>
            </a:pPr>
            <a:r>
              <a:rPr lang="en-US" sz="1800" b="1" u="none" strike="noStrike">
                <a:solidFill>
                  <a:srgbClr val="17302B"/>
                </a:solidFill>
                <a:effectLst/>
                <a:uFillTx/>
                <a:latin typeface="Arial"/>
              </a:rPr>
              <a:t>Funding pressure explains the rationale; fairness is a separate question.</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A"/>
        </a:solidFill>
      </p:bgPr>
    </p:bg>
    <p:spTree>
      <p:nvGrpSpPr>
        <p:cNvPr id="1" name=""/>
        <p:cNvGrpSpPr/>
        <p:nvPr/>
      </p:nvGrpSpPr>
      <p:grpSpPr>
        <a:xfrm>
          <a:off x="0" y="0"/>
          <a:ext cx="0" cy="0"/>
          <a:chOff x="0" y="0"/>
          <a:chExt cx="0" cy="0"/>
        </a:xfrm>
      </p:grpSpPr>
      <p:cxnSp>
        <p:nvCxnSpPr>
          <p:cNvPr id="380" name="footer rule"/>
          <p:cNvCxnSpPr/>
          <p:nvPr/>
        </p:nvCxnSpPr>
        <p:spPr>
          <a:xfrm>
            <a:off x="658080" y="6373080"/>
            <a:ext cx="10872720" cy="360"/>
          </a:xfrm>
          <a:prstGeom prst="straightConnector1">
            <a:avLst/>
          </a:prstGeom>
          <a:ln w="7620">
            <a:solidFill>
              <a:srgbClr val="D4DDD6"/>
            </a:solidFill>
            <a:round/>
          </a:ln>
        </p:spPr>
      </p:cxnSp>
      <p:sp>
        <p:nvSpPr>
          <p:cNvPr id="381"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382" name="speaker footer"/>
          <p:cNvSpPr/>
          <p:nvPr/>
        </p:nvSpPr>
        <p:spPr>
          <a:xfrm>
            <a:off x="7223760" y="6473880"/>
            <a:ext cx="3474360" cy="182520"/>
          </a:xfrm>
          <a:prstGeom prst="rect">
            <a:avLst/>
          </a:prstGeom>
          <a:noFill/>
          <a:ln w="0">
            <a:noFill/>
          </a:ln>
        </p:spPr>
        <p:style>
          <a:lnRef idx="0"/>
          <a:fillRef idx="0"/>
          <a:effectRef idx="0"/>
          <a:fontRef idx="minor"/>
        </p:style>
        <p:txBody>
          <a:bodyPr lIns="0" tIns="7200" rIns="0" bIns="0" anchor="t">
            <a:noAutofit/>
          </a:bodyPr>
          <a:p>
            <a:pPr algn="r" defTabSz="457200">
              <a:lnSpc>
                <a:spcPts val="1074"/>
              </a:lnSpc>
            </a:pPr>
            <a:r>
              <a:rPr lang="en-US" sz="950" b="0" u="none" strike="noStrike">
                <a:solidFill>
                  <a:srgbClr val="5E6B65"/>
                </a:solidFill>
                <a:effectLst/>
                <a:uFillTx/>
                <a:latin typeface="Arial"/>
              </a:rPr>
              <a:t>Zou Zhihua</a:t>
            </a:r>
            <a:endParaRPr lang="en-US" sz="950" b="0" u="none" strike="noStrike">
              <a:solidFill>
                <a:srgbClr val="000000"/>
              </a:solidFill>
              <a:effectLst/>
              <a:uFillTx/>
              <a:latin typeface="Arial"/>
            </a:endParaRPr>
          </a:p>
        </p:txBody>
      </p:sp>
      <p:sp>
        <p:nvSpPr>
          <p:cNvPr id="383"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12 / 18</a:t>
            </a:r>
            <a:endParaRPr lang="en-US" sz="1000" b="0" u="none" strike="noStrike">
              <a:solidFill>
                <a:srgbClr val="000000"/>
              </a:solidFill>
              <a:effectLst/>
              <a:uFillTx/>
              <a:latin typeface="Arial"/>
            </a:endParaRPr>
          </a:p>
        </p:txBody>
      </p:sp>
      <p:sp>
        <p:nvSpPr>
          <p:cNvPr id="384"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B13F36"/>
                </a:solidFill>
                <a:effectLst/>
                <a:uFillTx/>
                <a:latin typeface="Arial"/>
              </a:rPr>
              <a:t>Q3 / OPPOSING VIEW</a:t>
            </a:r>
            <a:endParaRPr lang="en-US" sz="1150" b="0" u="none" strike="noStrike">
              <a:solidFill>
                <a:srgbClr val="000000"/>
              </a:solidFill>
              <a:effectLst/>
              <a:uFillTx/>
              <a:latin typeface="Arial"/>
            </a:endParaRPr>
          </a:p>
        </p:txBody>
      </p:sp>
      <p:sp>
        <p:nvSpPr>
          <p:cNvPr id="385" name="slide title"/>
          <p:cNvSpPr/>
          <p:nvPr/>
        </p:nvSpPr>
        <p:spPr>
          <a:xfrm>
            <a:off x="658440" y="859680"/>
            <a:ext cx="10835280" cy="676440"/>
          </a:xfrm>
          <a:prstGeom prst="rect">
            <a:avLst/>
          </a:prstGeom>
          <a:noFill/>
          <a:ln w="0">
            <a:noFill/>
          </a:ln>
        </p:spPr>
        <p:style>
          <a:lnRef idx="0"/>
          <a:fillRef idx="0"/>
          <a:effectRef idx="0"/>
          <a:fontRef idx="minor"/>
        </p:style>
        <p:txBody>
          <a:bodyPr lIns="0" tIns="26640" rIns="0" bIns="0" anchor="t">
            <a:noAutofit/>
          </a:bodyPr>
          <a:p>
            <a:pPr defTabSz="457200">
              <a:lnSpc>
                <a:spcPts val="3745"/>
              </a:lnSpc>
            </a:pPr>
            <a:r>
              <a:rPr lang="en-US" sz="3500" b="1" u="none" strike="noStrike">
                <a:solidFill>
                  <a:srgbClr val="17302B"/>
                </a:solidFill>
                <a:effectLst/>
                <a:uFillTx/>
                <a:latin typeface="Arial"/>
              </a:rPr>
              <a:t>Follow the money: a conflict of interest</a:t>
            </a:r>
            <a:endParaRPr lang="en-US" sz="3500" b="0" u="none" strike="noStrike">
              <a:solidFill>
                <a:srgbClr val="000000"/>
              </a:solidFill>
              <a:effectLst/>
              <a:uFillTx/>
              <a:latin typeface="Arial"/>
            </a:endParaRPr>
          </a:p>
        </p:txBody>
      </p:sp>
      <p:sp>
        <p:nvSpPr>
          <p:cNvPr id="386"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Who pays Robinhood, and whose interests might be affected?</a:t>
            </a:r>
            <a:endParaRPr lang="en-US" sz="1700" b="0" u="none" strike="noStrike">
              <a:solidFill>
                <a:srgbClr val="000000"/>
              </a:solidFill>
              <a:effectLst/>
              <a:uFillTx/>
              <a:latin typeface="Arial"/>
            </a:endParaRPr>
          </a:p>
        </p:txBody>
      </p:sp>
      <p:sp>
        <p:nvSpPr>
          <p:cNvPr id="387" name="eyebrow"/>
          <p:cNvSpPr/>
          <p:nvPr/>
        </p:nvSpPr>
        <p:spPr>
          <a:xfrm>
            <a:off x="713160" y="2290680"/>
            <a:ext cx="402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B13F36"/>
                </a:solidFill>
                <a:effectLst/>
                <a:uFillTx/>
                <a:latin typeface="Arial"/>
              </a:rPr>
              <a:t>01</a:t>
            </a:r>
            <a:endParaRPr lang="en-US" sz="1150" b="0" u="none" strike="noStrike">
              <a:solidFill>
                <a:srgbClr val="000000"/>
              </a:solidFill>
              <a:effectLst/>
              <a:uFillTx/>
              <a:latin typeface="Arial"/>
            </a:endParaRPr>
          </a:p>
        </p:txBody>
      </p:sp>
      <p:sp>
        <p:nvSpPr>
          <p:cNvPr id="388" name="conflict argument"/>
          <p:cNvSpPr/>
          <p:nvPr/>
        </p:nvSpPr>
        <p:spPr>
          <a:xfrm>
            <a:off x="1234440" y="2240280"/>
            <a:ext cx="2276640" cy="365400"/>
          </a:xfrm>
          <a:prstGeom prst="rect">
            <a:avLst/>
          </a:prstGeom>
          <a:noFill/>
          <a:ln w="0">
            <a:noFill/>
          </a:ln>
        </p:spPr>
        <p:style>
          <a:lnRef idx="0"/>
          <a:fillRef idx="0"/>
          <a:effectRef idx="0"/>
          <a:fontRef idx="minor"/>
        </p:style>
        <p:txBody>
          <a:bodyPr lIns="0" tIns="15120" rIns="0" bIns="0" anchor="t">
            <a:noAutofit/>
          </a:bodyPr>
          <a:p>
            <a:pPr defTabSz="457200">
              <a:lnSpc>
                <a:spcPts val="2259"/>
              </a:lnSpc>
            </a:pPr>
            <a:r>
              <a:rPr lang="en-US" sz="2000" b="1" u="none" strike="noStrike">
                <a:solidFill>
                  <a:srgbClr val="17302B"/>
                </a:solidFill>
                <a:effectLst/>
                <a:uFillTx/>
                <a:latin typeface="Arial"/>
              </a:rPr>
              <a:t>“Free” trading</a:t>
            </a:r>
            <a:endParaRPr lang="en-US" sz="2000" b="0" u="none" strike="noStrike">
              <a:solidFill>
                <a:srgbClr val="000000"/>
              </a:solidFill>
              <a:effectLst/>
              <a:uFillTx/>
              <a:latin typeface="Arial"/>
            </a:endParaRPr>
          </a:p>
        </p:txBody>
      </p:sp>
      <p:sp>
        <p:nvSpPr>
          <p:cNvPr id="389" name="conflict explanation"/>
          <p:cNvSpPr/>
          <p:nvPr/>
        </p:nvSpPr>
        <p:spPr>
          <a:xfrm>
            <a:off x="713160" y="2743200"/>
            <a:ext cx="2815920" cy="694440"/>
          </a:xfrm>
          <a:prstGeom prst="rect">
            <a:avLst/>
          </a:prstGeom>
          <a:noFill/>
          <a:ln w="0">
            <a:noFill/>
          </a:ln>
        </p:spPr>
        <p:style>
          <a:lnRef idx="0"/>
          <a:fillRef idx="0"/>
          <a:effectRef idx="0"/>
          <a:fontRef idx="minor"/>
        </p:style>
        <p:txBody>
          <a:bodyPr lIns="0" tIns="12240" rIns="0" bIns="0" anchor="t">
            <a:noAutofit/>
          </a:bodyPr>
          <a:p>
            <a:pPr defTabSz="457200">
              <a:lnSpc>
                <a:spcPts val="1806"/>
              </a:lnSpc>
            </a:pPr>
            <a:r>
              <a:rPr lang="en-US" sz="1600" b="0" u="none" strike="noStrike">
                <a:solidFill>
                  <a:srgbClr val="5E6B65"/>
                </a:solidFill>
                <a:effectLst/>
                <a:uFillTx/>
                <a:latin typeface="Arial"/>
              </a:rPr>
              <a:t>Robinhood sells users’ orders</a:t>
            </a:r>
            <a:endParaRPr lang="en-US" sz="1600" b="0" u="none" strike="noStrike">
              <a:solidFill>
                <a:srgbClr val="000000"/>
              </a:solidFill>
              <a:effectLst/>
              <a:uFillTx/>
              <a:latin typeface="Arial"/>
            </a:endParaRPr>
          </a:p>
          <a:p>
            <a:pPr defTabSz="457200">
              <a:lnSpc>
                <a:spcPts val="1806"/>
              </a:lnSpc>
            </a:pPr>
            <a:r>
              <a:rPr lang="en-US" sz="1600" b="0" u="none" strike="noStrike">
                <a:solidFill>
                  <a:srgbClr val="5E6B65"/>
                </a:solidFill>
                <a:effectLst/>
                <a:uFillTx/>
                <a:latin typeface="Arial"/>
              </a:rPr>
              <a:t>to Citadel Securities.</a:t>
            </a:r>
            <a:endParaRPr lang="en-US" sz="1600" b="0" u="none" strike="noStrike">
              <a:solidFill>
                <a:srgbClr val="000000"/>
              </a:solidFill>
              <a:effectLst/>
              <a:uFillTx/>
              <a:latin typeface="Arial"/>
            </a:endParaRPr>
          </a:p>
        </p:txBody>
      </p:sp>
      <p:sp>
        <p:nvSpPr>
          <p:cNvPr id="390" name="eyebrow"/>
          <p:cNvSpPr/>
          <p:nvPr/>
        </p:nvSpPr>
        <p:spPr>
          <a:xfrm>
            <a:off x="713160" y="3543480"/>
            <a:ext cx="402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B13F36"/>
                </a:solidFill>
                <a:effectLst/>
                <a:uFillTx/>
                <a:latin typeface="Arial"/>
              </a:rPr>
              <a:t>02</a:t>
            </a:r>
            <a:endParaRPr lang="en-US" sz="1150" b="0" u="none" strike="noStrike">
              <a:solidFill>
                <a:srgbClr val="000000"/>
              </a:solidFill>
              <a:effectLst/>
              <a:uFillTx/>
              <a:latin typeface="Arial"/>
            </a:endParaRPr>
          </a:p>
        </p:txBody>
      </p:sp>
      <p:sp>
        <p:nvSpPr>
          <p:cNvPr id="391" name="conflict argument"/>
          <p:cNvSpPr/>
          <p:nvPr/>
        </p:nvSpPr>
        <p:spPr>
          <a:xfrm>
            <a:off x="1234440" y="3493080"/>
            <a:ext cx="2276640" cy="365400"/>
          </a:xfrm>
          <a:prstGeom prst="rect">
            <a:avLst/>
          </a:prstGeom>
          <a:noFill/>
          <a:ln w="0">
            <a:noFill/>
          </a:ln>
        </p:spPr>
        <p:style>
          <a:lnRef idx="0"/>
          <a:fillRef idx="0"/>
          <a:effectRef idx="0"/>
          <a:fontRef idx="minor"/>
        </p:style>
        <p:txBody>
          <a:bodyPr lIns="0" tIns="15120" rIns="0" bIns="0" anchor="t">
            <a:noAutofit/>
          </a:bodyPr>
          <a:p>
            <a:pPr defTabSz="457200">
              <a:lnSpc>
                <a:spcPts val="2259"/>
              </a:lnSpc>
            </a:pPr>
            <a:r>
              <a:rPr lang="en-US" sz="2000" b="1" u="none" strike="noStrike">
                <a:solidFill>
                  <a:srgbClr val="17302B"/>
                </a:solidFill>
                <a:effectLst/>
                <a:uFillTx/>
                <a:latin typeface="Arial"/>
              </a:rPr>
              <a:t>Shared leadership</a:t>
            </a:r>
            <a:endParaRPr lang="en-US" sz="2000" b="0" u="none" strike="noStrike">
              <a:solidFill>
                <a:srgbClr val="000000"/>
              </a:solidFill>
              <a:effectLst/>
              <a:uFillTx/>
              <a:latin typeface="Arial"/>
            </a:endParaRPr>
          </a:p>
        </p:txBody>
      </p:sp>
      <p:sp>
        <p:nvSpPr>
          <p:cNvPr id="392" name="conflict explanation"/>
          <p:cNvSpPr/>
          <p:nvPr/>
        </p:nvSpPr>
        <p:spPr>
          <a:xfrm>
            <a:off x="713160" y="3996000"/>
            <a:ext cx="2815920" cy="694440"/>
          </a:xfrm>
          <a:prstGeom prst="rect">
            <a:avLst/>
          </a:prstGeom>
          <a:noFill/>
          <a:ln w="0">
            <a:noFill/>
          </a:ln>
        </p:spPr>
        <p:style>
          <a:lnRef idx="0"/>
          <a:fillRef idx="0"/>
          <a:effectRef idx="0"/>
          <a:fontRef idx="minor"/>
        </p:style>
        <p:txBody>
          <a:bodyPr lIns="0" tIns="12240" rIns="0" bIns="0" anchor="t">
            <a:noAutofit/>
          </a:bodyPr>
          <a:p>
            <a:pPr defTabSz="457200">
              <a:lnSpc>
                <a:spcPts val="1806"/>
              </a:lnSpc>
            </a:pPr>
            <a:r>
              <a:rPr lang="en-US" sz="1600" b="0" u="none" strike="noStrike">
                <a:solidFill>
                  <a:srgbClr val="5E6B65"/>
                </a:solidFill>
                <a:effectLst/>
                <a:uFillTx/>
                <a:latin typeface="Arial"/>
              </a:rPr>
              <a:t>Ken Griffin also leads Citadel,</a:t>
            </a:r>
            <a:endParaRPr lang="en-US" sz="1600" b="0" u="none" strike="noStrike">
              <a:solidFill>
                <a:srgbClr val="000000"/>
              </a:solidFill>
              <a:effectLst/>
              <a:uFillTx/>
              <a:latin typeface="Arial"/>
            </a:endParaRPr>
          </a:p>
          <a:p>
            <a:pPr defTabSz="457200">
              <a:lnSpc>
                <a:spcPts val="1806"/>
              </a:lnSpc>
            </a:pPr>
            <a:r>
              <a:rPr lang="en-US" sz="1600" b="0" u="none" strike="noStrike">
                <a:solidFill>
                  <a:srgbClr val="5E6B65"/>
                </a:solidFill>
                <a:effectLst/>
                <a:uFillTx/>
                <a:latin typeface="Arial"/>
              </a:rPr>
              <a:t>which gave $2bn to Melvin.</a:t>
            </a:r>
            <a:endParaRPr lang="en-US" sz="1600" b="0" u="none" strike="noStrike">
              <a:solidFill>
                <a:srgbClr val="000000"/>
              </a:solidFill>
              <a:effectLst/>
              <a:uFillTx/>
              <a:latin typeface="Arial"/>
            </a:endParaRPr>
          </a:p>
        </p:txBody>
      </p:sp>
      <p:sp>
        <p:nvSpPr>
          <p:cNvPr id="393" name="eyebrow"/>
          <p:cNvSpPr/>
          <p:nvPr/>
        </p:nvSpPr>
        <p:spPr>
          <a:xfrm>
            <a:off x="713160" y="4786920"/>
            <a:ext cx="402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B13F36"/>
                </a:solidFill>
                <a:effectLst/>
                <a:uFillTx/>
                <a:latin typeface="Arial"/>
              </a:rPr>
              <a:t>03</a:t>
            </a:r>
            <a:endParaRPr lang="en-US" sz="1150" b="0" u="none" strike="noStrike">
              <a:solidFill>
                <a:srgbClr val="000000"/>
              </a:solidFill>
              <a:effectLst/>
              <a:uFillTx/>
              <a:latin typeface="Arial"/>
            </a:endParaRPr>
          </a:p>
        </p:txBody>
      </p:sp>
      <p:sp>
        <p:nvSpPr>
          <p:cNvPr id="394" name="conflict argument"/>
          <p:cNvSpPr/>
          <p:nvPr/>
        </p:nvSpPr>
        <p:spPr>
          <a:xfrm>
            <a:off x="1234440" y="4736520"/>
            <a:ext cx="2276640" cy="365400"/>
          </a:xfrm>
          <a:prstGeom prst="rect">
            <a:avLst/>
          </a:prstGeom>
          <a:noFill/>
          <a:ln w="0">
            <a:noFill/>
          </a:ln>
        </p:spPr>
        <p:style>
          <a:lnRef idx="0"/>
          <a:fillRef idx="0"/>
          <a:effectRef idx="0"/>
          <a:fontRef idx="minor"/>
        </p:style>
        <p:txBody>
          <a:bodyPr lIns="0" tIns="15120" rIns="0" bIns="0" anchor="t">
            <a:noAutofit/>
          </a:bodyPr>
          <a:p>
            <a:pPr defTabSz="457200">
              <a:lnSpc>
                <a:spcPts val="2259"/>
              </a:lnSpc>
            </a:pPr>
            <a:r>
              <a:rPr lang="en-US" sz="2000" b="1" u="none" strike="noStrike">
                <a:solidFill>
                  <a:srgbClr val="17302B"/>
                </a:solidFill>
                <a:effectLst/>
                <a:uFillTx/>
                <a:latin typeface="Arial"/>
              </a:rPr>
              <a:t>Trust concern</a:t>
            </a:r>
            <a:endParaRPr lang="en-US" sz="2000" b="0" u="none" strike="noStrike">
              <a:solidFill>
                <a:srgbClr val="000000"/>
              </a:solidFill>
              <a:effectLst/>
              <a:uFillTx/>
              <a:latin typeface="Arial"/>
            </a:endParaRPr>
          </a:p>
        </p:txBody>
      </p:sp>
      <p:sp>
        <p:nvSpPr>
          <p:cNvPr id="395" name="conflict explanation"/>
          <p:cNvSpPr/>
          <p:nvPr/>
        </p:nvSpPr>
        <p:spPr>
          <a:xfrm>
            <a:off x="713160" y="5239440"/>
            <a:ext cx="2815920" cy="694440"/>
          </a:xfrm>
          <a:prstGeom prst="rect">
            <a:avLst/>
          </a:prstGeom>
          <a:noFill/>
          <a:ln w="0">
            <a:noFill/>
          </a:ln>
        </p:spPr>
        <p:style>
          <a:lnRef idx="0"/>
          <a:fillRef idx="0"/>
          <a:effectRef idx="0"/>
          <a:fontRef idx="minor"/>
        </p:style>
        <p:txBody>
          <a:bodyPr lIns="0" tIns="12240" rIns="0" bIns="0" anchor="t">
            <a:noAutofit/>
          </a:bodyPr>
          <a:p>
            <a:pPr defTabSz="457200">
              <a:lnSpc>
                <a:spcPts val="1806"/>
              </a:lnSpc>
            </a:pPr>
            <a:r>
              <a:rPr lang="en-US" sz="1600" b="0" u="none" strike="noStrike">
                <a:solidFill>
                  <a:srgbClr val="5E6B65"/>
                </a:solidFill>
                <a:effectLst/>
                <a:uFillTx/>
                <a:latin typeface="Arial"/>
              </a:rPr>
              <a:t>These links raise concerns;</a:t>
            </a:r>
            <a:endParaRPr lang="en-US" sz="1600" b="0" u="none" strike="noStrike">
              <a:solidFill>
                <a:srgbClr val="000000"/>
              </a:solidFill>
              <a:effectLst/>
              <a:uFillTx/>
              <a:latin typeface="Arial"/>
            </a:endParaRPr>
          </a:p>
          <a:p>
            <a:pPr defTabSz="457200">
              <a:lnSpc>
                <a:spcPts val="1806"/>
              </a:lnSpc>
            </a:pPr>
            <a:r>
              <a:rPr lang="en-US" sz="1600" b="0" u="none" strike="noStrike">
                <a:solidFill>
                  <a:srgbClr val="5E6B65"/>
                </a:solidFill>
                <a:effectLst/>
                <a:uFillTx/>
                <a:latin typeface="Arial"/>
              </a:rPr>
              <a:t>coordination is unproven.</a:t>
            </a:r>
            <a:endParaRPr lang="en-US" sz="1600" b="0" u="none" strike="noStrike">
              <a:solidFill>
                <a:srgbClr val="000000"/>
              </a:solidFill>
              <a:effectLst/>
              <a:uFillTx/>
              <a:latin typeface="Arial"/>
            </a:endParaRPr>
          </a:p>
        </p:txBody>
      </p:sp>
      <p:cxnSp>
        <p:nvCxnSpPr>
          <p:cNvPr id="396" name="connector"/>
          <p:cNvCxnSpPr/>
          <p:nvPr/>
        </p:nvCxnSpPr>
        <p:spPr>
          <a:xfrm>
            <a:off x="3739680" y="2212560"/>
            <a:ext cx="360" cy="3676320"/>
          </a:xfrm>
          <a:prstGeom prst="straightConnector1">
            <a:avLst/>
          </a:prstGeom>
          <a:ln w="8890">
            <a:solidFill>
              <a:srgbClr val="D4DDD6"/>
            </a:solidFill>
            <a:round/>
          </a:ln>
        </p:spPr>
      </p:cxnSp>
      <p:sp>
        <p:nvSpPr>
          <p:cNvPr id="397" name="diagram node"/>
          <p:cNvSpPr/>
          <p:nvPr/>
        </p:nvSpPr>
        <p:spPr>
          <a:xfrm>
            <a:off x="4133160" y="2377440"/>
            <a:ext cx="1773720" cy="831600"/>
          </a:xfrm>
          <a:prstGeom prst="roundRect">
            <a:avLst>
              <a:gd name="adj" fmla="val 12000"/>
            </a:avLst>
          </a:prstGeom>
          <a:solidFill>
            <a:srgbClr val="EAF2EC"/>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98" name="diagram label"/>
          <p:cNvSpPr/>
          <p:nvPr/>
        </p:nvSpPr>
        <p:spPr>
          <a:xfrm>
            <a:off x="4251960" y="2505600"/>
            <a:ext cx="1535760" cy="612360"/>
          </a:xfrm>
          <a:prstGeom prst="rect">
            <a:avLst/>
          </a:prstGeom>
          <a:noFill/>
          <a:ln w="0">
            <a:noFill/>
          </a:ln>
        </p:spPr>
        <p:style>
          <a:lnRef idx="0"/>
          <a:fillRef idx="0"/>
          <a:effectRef idx="0"/>
          <a:fontRef idx="minor"/>
        </p:style>
        <p:txBody>
          <a:bodyPr lIns="0" tIns="12600" rIns="0" bIns="0" anchor="t">
            <a:noAutofit/>
          </a:bodyPr>
          <a:p>
            <a:pPr algn="ctr" defTabSz="457200">
              <a:lnSpc>
                <a:spcPts val="1749"/>
              </a:lnSpc>
            </a:pPr>
            <a:r>
              <a:rPr lang="en-US" sz="1650" b="1" u="none" strike="noStrike">
                <a:solidFill>
                  <a:srgbClr val="17302B"/>
                </a:solidFill>
                <a:effectLst/>
                <a:uFillTx/>
                <a:latin typeface="Arial"/>
              </a:rPr>
              <a:t>Retail</a:t>
            </a:r>
            <a:endParaRPr lang="en-US" sz="1650" b="0" u="none" strike="noStrike">
              <a:solidFill>
                <a:srgbClr val="000000"/>
              </a:solidFill>
              <a:effectLst/>
              <a:uFillTx/>
              <a:latin typeface="Arial"/>
            </a:endParaRPr>
          </a:p>
          <a:p>
            <a:pPr algn="ctr" defTabSz="457200">
              <a:lnSpc>
                <a:spcPts val="1749"/>
              </a:lnSpc>
            </a:pPr>
            <a:r>
              <a:rPr lang="en-US" sz="1650" b="1" u="none" strike="noStrike">
                <a:solidFill>
                  <a:srgbClr val="17302B"/>
                </a:solidFill>
                <a:effectLst/>
                <a:uFillTx/>
                <a:latin typeface="Arial"/>
              </a:rPr>
              <a:t>investors</a:t>
            </a:r>
            <a:endParaRPr lang="en-US" sz="1650" b="0" u="none" strike="noStrike">
              <a:solidFill>
                <a:srgbClr val="000000"/>
              </a:solidFill>
              <a:effectLst/>
              <a:uFillTx/>
              <a:latin typeface="Arial"/>
            </a:endParaRPr>
          </a:p>
        </p:txBody>
      </p:sp>
      <p:sp>
        <p:nvSpPr>
          <p:cNvPr id="399" name="diagram node"/>
          <p:cNvSpPr/>
          <p:nvPr/>
        </p:nvSpPr>
        <p:spPr>
          <a:xfrm>
            <a:off x="6812280" y="2377440"/>
            <a:ext cx="1773720" cy="831600"/>
          </a:xfrm>
          <a:prstGeom prst="roundRect">
            <a:avLst>
              <a:gd name="adj" fmla="val 12000"/>
            </a:avLst>
          </a:prstGeom>
          <a:solidFill>
            <a:srgbClr val="EAF2EC"/>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00" name="diagram label"/>
          <p:cNvSpPr/>
          <p:nvPr/>
        </p:nvSpPr>
        <p:spPr>
          <a:xfrm>
            <a:off x="6931080" y="2505600"/>
            <a:ext cx="1535760" cy="612360"/>
          </a:xfrm>
          <a:prstGeom prst="rect">
            <a:avLst/>
          </a:prstGeom>
          <a:noFill/>
          <a:ln w="0">
            <a:noFill/>
          </a:ln>
        </p:spPr>
        <p:style>
          <a:lnRef idx="0"/>
          <a:fillRef idx="0"/>
          <a:effectRef idx="0"/>
          <a:fontRef idx="minor"/>
        </p:style>
        <p:txBody>
          <a:bodyPr lIns="0" tIns="12960" rIns="0" bIns="0" anchor="t">
            <a:noAutofit/>
          </a:bodyPr>
          <a:p>
            <a:pPr algn="ctr" defTabSz="457200">
              <a:lnSpc>
                <a:spcPts val="1803"/>
              </a:lnSpc>
            </a:pPr>
            <a:r>
              <a:rPr lang="en-US" sz="1700" b="1" u="none" strike="noStrike">
                <a:solidFill>
                  <a:srgbClr val="17302B"/>
                </a:solidFill>
                <a:effectLst/>
                <a:uFillTx/>
                <a:latin typeface="Arial"/>
              </a:rPr>
              <a:t>Robinhood</a:t>
            </a:r>
            <a:endParaRPr lang="en-US" sz="1700" b="0" u="none" strike="noStrike">
              <a:solidFill>
                <a:srgbClr val="000000"/>
              </a:solidFill>
              <a:effectLst/>
              <a:uFillTx/>
              <a:latin typeface="Arial"/>
            </a:endParaRPr>
          </a:p>
        </p:txBody>
      </p:sp>
      <p:sp>
        <p:nvSpPr>
          <p:cNvPr id="401" name="diagram node"/>
          <p:cNvSpPr/>
          <p:nvPr/>
        </p:nvSpPr>
        <p:spPr>
          <a:xfrm>
            <a:off x="9564480" y="2377440"/>
            <a:ext cx="1910880" cy="831600"/>
          </a:xfrm>
          <a:prstGeom prst="roundRect">
            <a:avLst>
              <a:gd name="adj" fmla="val 12000"/>
            </a:avLst>
          </a:prstGeom>
          <a:solidFill>
            <a:srgbClr val="EAF0F5"/>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02" name="diagram label"/>
          <p:cNvSpPr/>
          <p:nvPr/>
        </p:nvSpPr>
        <p:spPr>
          <a:xfrm>
            <a:off x="9683640" y="2505600"/>
            <a:ext cx="1672920" cy="612360"/>
          </a:xfrm>
          <a:prstGeom prst="rect">
            <a:avLst/>
          </a:prstGeom>
          <a:noFill/>
          <a:ln w="0">
            <a:noFill/>
          </a:ln>
        </p:spPr>
        <p:style>
          <a:lnRef idx="0"/>
          <a:fillRef idx="0"/>
          <a:effectRef idx="0"/>
          <a:fontRef idx="minor"/>
        </p:style>
        <p:txBody>
          <a:bodyPr lIns="0" tIns="12600" rIns="0" bIns="0" anchor="t">
            <a:noAutofit/>
          </a:bodyPr>
          <a:p>
            <a:pPr algn="ctr" defTabSz="457200">
              <a:lnSpc>
                <a:spcPts val="1749"/>
              </a:lnSpc>
            </a:pPr>
            <a:r>
              <a:rPr lang="en-US" sz="1650" b="1" u="none" strike="noStrike">
                <a:solidFill>
                  <a:srgbClr val="17302B"/>
                </a:solidFill>
                <a:effectLst/>
                <a:uFillTx/>
                <a:latin typeface="Arial"/>
              </a:rPr>
              <a:t>Citadel</a:t>
            </a:r>
            <a:endParaRPr lang="en-US" sz="1650" b="0" u="none" strike="noStrike">
              <a:solidFill>
                <a:srgbClr val="000000"/>
              </a:solidFill>
              <a:effectLst/>
              <a:uFillTx/>
              <a:latin typeface="Arial"/>
            </a:endParaRPr>
          </a:p>
          <a:p>
            <a:pPr algn="ctr" defTabSz="457200">
              <a:lnSpc>
                <a:spcPts val="1749"/>
              </a:lnSpc>
            </a:pPr>
            <a:r>
              <a:rPr lang="en-US" sz="1650" b="1" u="none" strike="noStrike">
                <a:solidFill>
                  <a:srgbClr val="17302B"/>
                </a:solidFill>
                <a:effectLst/>
                <a:uFillTx/>
                <a:latin typeface="Arial"/>
              </a:rPr>
              <a:t>Securities</a:t>
            </a:r>
            <a:endParaRPr lang="en-US" sz="1650" b="0" u="none" strike="noStrike">
              <a:solidFill>
                <a:srgbClr val="000000"/>
              </a:solidFill>
              <a:effectLst/>
              <a:uFillTx/>
              <a:latin typeface="Arial"/>
            </a:endParaRPr>
          </a:p>
        </p:txBody>
      </p:sp>
      <p:cxnSp>
        <p:nvCxnSpPr>
          <p:cNvPr id="403" name="retail orders"/>
          <p:cNvCxnSpPr/>
          <p:nvPr/>
        </p:nvCxnSpPr>
        <p:spPr>
          <a:xfrm>
            <a:off x="5961600" y="2724840"/>
            <a:ext cx="777600" cy="360"/>
          </a:xfrm>
          <a:prstGeom prst="straightConnector1">
            <a:avLst/>
          </a:prstGeom>
          <a:ln w="13970">
            <a:solidFill>
              <a:srgbClr val="17302B"/>
            </a:solidFill>
            <a:round/>
            <a:tailEnd len="med" type="triangle" w="med"/>
          </a:ln>
        </p:spPr>
      </p:cxnSp>
      <p:sp>
        <p:nvSpPr>
          <p:cNvPr id="404" name="order flow label"/>
          <p:cNvSpPr/>
          <p:nvPr/>
        </p:nvSpPr>
        <p:spPr>
          <a:xfrm>
            <a:off x="5934600" y="2423160"/>
            <a:ext cx="785880" cy="219240"/>
          </a:xfrm>
          <a:prstGeom prst="rect">
            <a:avLst/>
          </a:prstGeom>
          <a:noFill/>
          <a:ln w="0">
            <a:noFill/>
          </a:ln>
        </p:spPr>
        <p:style>
          <a:lnRef idx="0"/>
          <a:fillRef idx="0"/>
          <a:effectRef idx="0"/>
          <a:fontRef idx="minor"/>
        </p:style>
        <p:txBody>
          <a:bodyPr lIns="0" tIns="7920" rIns="0" bIns="0" anchor="t">
            <a:noAutofit/>
          </a:bodyPr>
          <a:p>
            <a:pPr algn="ctr" defTabSz="457200">
              <a:lnSpc>
                <a:spcPts val="1185"/>
              </a:lnSpc>
            </a:pPr>
            <a:r>
              <a:rPr lang="en-US" sz="1050" b="0" u="none" strike="noStrike">
                <a:solidFill>
                  <a:srgbClr val="5E6B65"/>
                </a:solidFill>
                <a:effectLst/>
                <a:uFillTx/>
                <a:latin typeface="Arial"/>
              </a:rPr>
              <a:t>Orders</a:t>
            </a:r>
            <a:endParaRPr lang="en-US" sz="1050" b="0" u="none" strike="noStrike">
              <a:solidFill>
                <a:srgbClr val="000000"/>
              </a:solidFill>
              <a:effectLst/>
              <a:uFillTx/>
              <a:latin typeface="Arial"/>
            </a:endParaRPr>
          </a:p>
        </p:txBody>
      </p:sp>
      <p:cxnSp>
        <p:nvCxnSpPr>
          <p:cNvPr id="405" name="broker orders"/>
          <p:cNvCxnSpPr/>
          <p:nvPr/>
        </p:nvCxnSpPr>
        <p:spPr>
          <a:xfrm>
            <a:off x="8641080" y="2724840"/>
            <a:ext cx="850680" cy="360"/>
          </a:xfrm>
          <a:prstGeom prst="straightConnector1">
            <a:avLst/>
          </a:prstGeom>
          <a:ln w="13970">
            <a:solidFill>
              <a:srgbClr val="17302B"/>
            </a:solidFill>
            <a:round/>
            <a:tailEnd len="med" type="triangle" w="med"/>
          </a:ln>
        </p:spPr>
      </p:cxnSp>
      <p:sp>
        <p:nvSpPr>
          <p:cNvPr id="406" name="order flow label"/>
          <p:cNvSpPr/>
          <p:nvPr/>
        </p:nvSpPr>
        <p:spPr>
          <a:xfrm>
            <a:off x="8622720" y="2423160"/>
            <a:ext cx="859320" cy="219240"/>
          </a:xfrm>
          <a:prstGeom prst="rect">
            <a:avLst/>
          </a:prstGeom>
          <a:noFill/>
          <a:ln w="0">
            <a:noFill/>
          </a:ln>
        </p:spPr>
        <p:style>
          <a:lnRef idx="0"/>
          <a:fillRef idx="0"/>
          <a:effectRef idx="0"/>
          <a:fontRef idx="minor"/>
        </p:style>
        <p:txBody>
          <a:bodyPr lIns="0" tIns="7920" rIns="0" bIns="0" anchor="t">
            <a:noAutofit/>
          </a:bodyPr>
          <a:p>
            <a:pPr algn="ctr" defTabSz="457200">
              <a:lnSpc>
                <a:spcPts val="1185"/>
              </a:lnSpc>
            </a:pPr>
            <a:r>
              <a:rPr lang="en-US" sz="1050" b="0" u="none" strike="noStrike">
                <a:solidFill>
                  <a:srgbClr val="5E6B65"/>
                </a:solidFill>
                <a:effectLst/>
                <a:uFillTx/>
                <a:latin typeface="Arial"/>
              </a:rPr>
              <a:t>Orders</a:t>
            </a:r>
            <a:endParaRPr lang="en-US" sz="1050" b="0" u="none" strike="noStrike">
              <a:solidFill>
                <a:srgbClr val="000000"/>
              </a:solidFill>
              <a:effectLst/>
              <a:uFillTx/>
              <a:latin typeface="Arial"/>
            </a:endParaRPr>
          </a:p>
        </p:txBody>
      </p:sp>
      <p:cxnSp>
        <p:nvCxnSpPr>
          <p:cNvPr id="407" name="PFOF payment"/>
          <p:cNvCxnSpPr/>
          <p:nvPr/>
        </p:nvCxnSpPr>
        <p:spPr>
          <a:xfrm flipH="1">
            <a:off x="8641080" y="3136320"/>
            <a:ext cx="850680" cy="360"/>
          </a:xfrm>
          <a:prstGeom prst="straightConnector1">
            <a:avLst/>
          </a:prstGeom>
          <a:ln w="14604">
            <a:solidFill>
              <a:srgbClr val="2F7358"/>
            </a:solidFill>
            <a:round/>
            <a:tailEnd len="med" type="triangle" w="med"/>
          </a:ln>
        </p:spPr>
      </p:cxnSp>
      <p:sp>
        <p:nvSpPr>
          <p:cNvPr id="408" name="PFOF label"/>
          <p:cNvSpPr/>
          <p:nvPr/>
        </p:nvSpPr>
        <p:spPr>
          <a:xfrm>
            <a:off x="8613720" y="3300840"/>
            <a:ext cx="914040" cy="383760"/>
          </a:xfrm>
          <a:prstGeom prst="rect">
            <a:avLst/>
          </a:prstGeom>
          <a:noFill/>
          <a:ln w="0">
            <a:noFill/>
          </a:ln>
        </p:spPr>
        <p:style>
          <a:lnRef idx="0"/>
          <a:fillRef idx="0"/>
          <a:effectRef idx="0"/>
          <a:fontRef idx="minor"/>
        </p:style>
        <p:txBody>
          <a:bodyPr lIns="0" tIns="8280" rIns="0" bIns="0" anchor="t">
            <a:noAutofit/>
          </a:bodyPr>
          <a:p>
            <a:pPr algn="ctr" defTabSz="457200">
              <a:lnSpc>
                <a:spcPts val="1219"/>
              </a:lnSpc>
            </a:pPr>
            <a:r>
              <a:rPr lang="en-US" sz="1080" b="1" u="none" strike="noStrike">
                <a:solidFill>
                  <a:srgbClr val="2F7358"/>
                </a:solidFill>
                <a:effectLst/>
                <a:uFillTx/>
                <a:latin typeface="Arial"/>
              </a:rPr>
              <a:t>Pays</a:t>
            </a:r>
            <a:endParaRPr lang="en-US" sz="1080" b="0" u="none" strike="noStrike">
              <a:solidFill>
                <a:srgbClr val="000000"/>
              </a:solidFill>
              <a:effectLst/>
              <a:uFillTx/>
              <a:latin typeface="Arial"/>
            </a:endParaRPr>
          </a:p>
          <a:p>
            <a:pPr algn="ctr" defTabSz="457200">
              <a:lnSpc>
                <a:spcPts val="1219"/>
              </a:lnSpc>
            </a:pPr>
            <a:r>
              <a:rPr lang="en-US" sz="1080" b="1" u="none" strike="noStrike">
                <a:solidFill>
                  <a:srgbClr val="2F7358"/>
                </a:solidFill>
                <a:effectLst/>
                <a:uFillTx/>
                <a:latin typeface="Arial"/>
              </a:rPr>
              <a:t>(PFOF)</a:t>
            </a:r>
            <a:endParaRPr lang="en-US" sz="1080" b="0" u="none" strike="noStrike">
              <a:solidFill>
                <a:srgbClr val="000000"/>
              </a:solidFill>
              <a:effectLst/>
              <a:uFillTx/>
              <a:latin typeface="Arial"/>
            </a:endParaRPr>
          </a:p>
        </p:txBody>
      </p:sp>
      <p:sp>
        <p:nvSpPr>
          <p:cNvPr id="409" name="diagram node"/>
          <p:cNvSpPr/>
          <p:nvPr/>
        </p:nvSpPr>
        <p:spPr>
          <a:xfrm>
            <a:off x="4133160" y="4809600"/>
            <a:ext cx="1773720" cy="822600"/>
          </a:xfrm>
          <a:prstGeom prst="roundRect">
            <a:avLst>
              <a:gd name="adj" fmla="val 12000"/>
            </a:avLst>
          </a:prstGeom>
          <a:solidFill>
            <a:srgbClr val="EAF2EC"/>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10" name="diagram label"/>
          <p:cNvSpPr/>
          <p:nvPr/>
        </p:nvSpPr>
        <p:spPr>
          <a:xfrm>
            <a:off x="4251960" y="4937760"/>
            <a:ext cx="1535760" cy="603000"/>
          </a:xfrm>
          <a:prstGeom prst="rect">
            <a:avLst/>
          </a:prstGeom>
          <a:noFill/>
          <a:ln w="0">
            <a:noFill/>
          </a:ln>
        </p:spPr>
        <p:style>
          <a:lnRef idx="0"/>
          <a:fillRef idx="0"/>
          <a:effectRef idx="0"/>
          <a:fontRef idx="minor"/>
        </p:style>
        <p:txBody>
          <a:bodyPr lIns="0" tIns="12960" rIns="0" bIns="0" anchor="t">
            <a:noAutofit/>
          </a:bodyPr>
          <a:p>
            <a:pPr algn="ctr" defTabSz="457200">
              <a:lnSpc>
                <a:spcPts val="1803"/>
              </a:lnSpc>
            </a:pPr>
            <a:r>
              <a:rPr lang="en-US" sz="1700" b="1" u="none" strike="noStrike">
                <a:solidFill>
                  <a:srgbClr val="17302B"/>
                </a:solidFill>
                <a:effectLst/>
                <a:uFillTx/>
                <a:latin typeface="Arial"/>
              </a:rPr>
              <a:t>GameStop</a:t>
            </a:r>
            <a:endParaRPr lang="en-US" sz="1700" b="0" u="none" strike="noStrike">
              <a:solidFill>
                <a:srgbClr val="000000"/>
              </a:solidFill>
              <a:effectLst/>
              <a:uFillTx/>
              <a:latin typeface="Arial"/>
            </a:endParaRPr>
          </a:p>
        </p:txBody>
      </p:sp>
      <p:sp>
        <p:nvSpPr>
          <p:cNvPr id="411" name="diagram node"/>
          <p:cNvSpPr/>
          <p:nvPr/>
        </p:nvSpPr>
        <p:spPr>
          <a:xfrm>
            <a:off x="6812280" y="4809600"/>
            <a:ext cx="1773720" cy="822600"/>
          </a:xfrm>
          <a:prstGeom prst="roundRect">
            <a:avLst>
              <a:gd name="adj" fmla="val 12000"/>
            </a:avLst>
          </a:prstGeom>
          <a:solidFill>
            <a:srgbClr val="F7ECE8"/>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12" name="diagram label"/>
          <p:cNvSpPr/>
          <p:nvPr/>
        </p:nvSpPr>
        <p:spPr>
          <a:xfrm>
            <a:off x="6931080" y="4937760"/>
            <a:ext cx="1535760" cy="603000"/>
          </a:xfrm>
          <a:prstGeom prst="rect">
            <a:avLst/>
          </a:prstGeom>
          <a:noFill/>
          <a:ln w="0">
            <a:noFill/>
          </a:ln>
        </p:spPr>
        <p:style>
          <a:lnRef idx="0"/>
          <a:fillRef idx="0"/>
          <a:effectRef idx="0"/>
          <a:fontRef idx="minor"/>
        </p:style>
        <p:txBody>
          <a:bodyPr lIns="0" tIns="12600" rIns="0" bIns="0" anchor="t">
            <a:noAutofit/>
          </a:bodyPr>
          <a:p>
            <a:pPr algn="ctr" defTabSz="457200">
              <a:lnSpc>
                <a:spcPts val="1749"/>
              </a:lnSpc>
            </a:pPr>
            <a:r>
              <a:rPr lang="en-US" sz="1650" b="1" u="none" strike="noStrike">
                <a:solidFill>
                  <a:srgbClr val="17302B"/>
                </a:solidFill>
                <a:effectLst/>
                <a:uFillTx/>
                <a:latin typeface="Arial"/>
              </a:rPr>
              <a:t>Melvin</a:t>
            </a:r>
            <a:endParaRPr lang="en-US" sz="1650" b="0" u="none" strike="noStrike">
              <a:solidFill>
                <a:srgbClr val="000000"/>
              </a:solidFill>
              <a:effectLst/>
              <a:uFillTx/>
              <a:latin typeface="Arial"/>
            </a:endParaRPr>
          </a:p>
          <a:p>
            <a:pPr algn="ctr" defTabSz="457200">
              <a:lnSpc>
                <a:spcPts val="1749"/>
              </a:lnSpc>
            </a:pPr>
            <a:r>
              <a:rPr lang="en-US" sz="1650" b="1" u="none" strike="noStrike">
                <a:solidFill>
                  <a:srgbClr val="17302B"/>
                </a:solidFill>
                <a:effectLst/>
                <a:uFillTx/>
                <a:latin typeface="Arial"/>
              </a:rPr>
              <a:t>Capital</a:t>
            </a:r>
            <a:endParaRPr lang="en-US" sz="1650" b="0" u="none" strike="noStrike">
              <a:solidFill>
                <a:srgbClr val="000000"/>
              </a:solidFill>
              <a:effectLst/>
              <a:uFillTx/>
              <a:latin typeface="Arial"/>
            </a:endParaRPr>
          </a:p>
        </p:txBody>
      </p:sp>
      <p:sp>
        <p:nvSpPr>
          <p:cNvPr id="413" name="diagram node"/>
          <p:cNvSpPr/>
          <p:nvPr/>
        </p:nvSpPr>
        <p:spPr>
          <a:xfrm>
            <a:off x="9564480" y="4809600"/>
            <a:ext cx="1910880" cy="822600"/>
          </a:xfrm>
          <a:prstGeom prst="roundRect">
            <a:avLst>
              <a:gd name="adj" fmla="val 12000"/>
            </a:avLst>
          </a:prstGeom>
          <a:solidFill>
            <a:srgbClr val="EAF0F5"/>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14" name="diagram label"/>
          <p:cNvSpPr/>
          <p:nvPr/>
        </p:nvSpPr>
        <p:spPr>
          <a:xfrm>
            <a:off x="9683640" y="4937760"/>
            <a:ext cx="1672920" cy="603000"/>
          </a:xfrm>
          <a:prstGeom prst="rect">
            <a:avLst/>
          </a:prstGeom>
          <a:noFill/>
          <a:ln w="0">
            <a:noFill/>
          </a:ln>
        </p:spPr>
        <p:style>
          <a:lnRef idx="0"/>
          <a:fillRef idx="0"/>
          <a:effectRef idx="0"/>
          <a:fontRef idx="minor"/>
        </p:style>
        <p:txBody>
          <a:bodyPr lIns="0" tIns="12960" rIns="0" bIns="0" anchor="t">
            <a:noAutofit/>
          </a:bodyPr>
          <a:p>
            <a:pPr algn="ctr" defTabSz="457200">
              <a:lnSpc>
                <a:spcPts val="1803"/>
              </a:lnSpc>
            </a:pPr>
            <a:r>
              <a:rPr lang="en-US" sz="1700" b="1" u="none" strike="noStrike">
                <a:solidFill>
                  <a:srgbClr val="17302B"/>
                </a:solidFill>
                <a:effectLst/>
                <a:uFillTx/>
                <a:latin typeface="Arial"/>
              </a:rPr>
              <a:t>Citadel</a:t>
            </a:r>
            <a:endParaRPr lang="en-US" sz="1700" b="0" u="none" strike="noStrike">
              <a:solidFill>
                <a:srgbClr val="000000"/>
              </a:solidFill>
              <a:effectLst/>
              <a:uFillTx/>
              <a:latin typeface="Arial"/>
            </a:endParaRPr>
          </a:p>
        </p:txBody>
      </p:sp>
      <p:sp>
        <p:nvSpPr>
          <p:cNvPr id="415" name="diagram node"/>
          <p:cNvSpPr/>
          <p:nvPr/>
        </p:nvSpPr>
        <p:spPr>
          <a:xfrm>
            <a:off x="9564480" y="3694320"/>
            <a:ext cx="1910880" cy="529920"/>
          </a:xfrm>
          <a:prstGeom prst="roundRect">
            <a:avLst>
              <a:gd name="adj" fmla="val 12000"/>
            </a:avLst>
          </a:prstGeom>
          <a:solidFill>
            <a:srgbClr val="FCFCFA"/>
          </a:solidFill>
          <a:ln w="10160">
            <a:solidFill>
              <a:srgbClr val="D4DDD6"/>
            </a:solidFill>
            <a:round/>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16" name="diagram label"/>
          <p:cNvSpPr/>
          <p:nvPr/>
        </p:nvSpPr>
        <p:spPr>
          <a:xfrm>
            <a:off x="9683640" y="3822120"/>
            <a:ext cx="1672920" cy="310680"/>
          </a:xfrm>
          <a:prstGeom prst="rect">
            <a:avLst/>
          </a:prstGeom>
          <a:noFill/>
          <a:ln w="0">
            <a:noFill/>
          </a:ln>
        </p:spPr>
        <p:style>
          <a:lnRef idx="0"/>
          <a:fillRef idx="0"/>
          <a:effectRef idx="0"/>
          <a:fontRef idx="minor"/>
        </p:style>
        <p:txBody>
          <a:bodyPr lIns="0" tIns="11160" rIns="0" bIns="0" anchor="t">
            <a:noAutofit/>
          </a:bodyPr>
          <a:p>
            <a:pPr algn="ctr" defTabSz="457200">
              <a:lnSpc>
                <a:spcPts val="1536"/>
              </a:lnSpc>
            </a:pPr>
            <a:r>
              <a:rPr lang="en-US" sz="1450" b="1" u="none" strike="noStrike">
                <a:solidFill>
                  <a:srgbClr val="17302B"/>
                </a:solidFill>
                <a:effectLst/>
                <a:uFillTx/>
                <a:latin typeface="Arial"/>
              </a:rPr>
              <a:t>Ken Griffin</a:t>
            </a:r>
            <a:endParaRPr lang="en-US" sz="1450" b="0" u="none" strike="noStrike">
              <a:solidFill>
                <a:srgbClr val="000000"/>
              </a:solidFill>
              <a:effectLst/>
              <a:uFillTx/>
              <a:latin typeface="Arial"/>
            </a:endParaRPr>
          </a:p>
        </p:txBody>
      </p:sp>
      <p:cxnSp>
        <p:nvCxnSpPr>
          <p:cNvPr id="417" name="shared ownership top"/>
          <p:cNvCxnSpPr/>
          <p:nvPr/>
        </p:nvCxnSpPr>
        <p:spPr>
          <a:xfrm>
            <a:off x="10515600" y="3236760"/>
            <a:ext cx="360" cy="421200"/>
          </a:xfrm>
          <a:prstGeom prst="straightConnector1">
            <a:avLst/>
          </a:prstGeom>
          <a:ln w="11430">
            <a:solidFill>
              <a:srgbClr val="5E6B65"/>
            </a:solidFill>
            <a:prstDash val="dash"/>
            <a:round/>
          </a:ln>
        </p:spPr>
      </p:cxnSp>
      <p:cxnSp>
        <p:nvCxnSpPr>
          <p:cNvPr id="418" name="shared ownership bottom"/>
          <p:cNvCxnSpPr/>
          <p:nvPr/>
        </p:nvCxnSpPr>
        <p:spPr>
          <a:xfrm>
            <a:off x="10515600" y="4260960"/>
            <a:ext cx="360" cy="494280"/>
          </a:xfrm>
          <a:prstGeom prst="straightConnector1">
            <a:avLst/>
          </a:prstGeom>
          <a:ln w="11430">
            <a:solidFill>
              <a:srgbClr val="5E6B65"/>
            </a:solidFill>
            <a:prstDash val="dash"/>
            <a:round/>
          </a:ln>
        </p:spPr>
      </p:cxnSp>
      <p:sp>
        <p:nvSpPr>
          <p:cNvPr id="419" name="ownership label"/>
          <p:cNvSpPr/>
          <p:nvPr/>
        </p:nvSpPr>
        <p:spPr>
          <a:xfrm>
            <a:off x="10725840" y="4334400"/>
            <a:ext cx="785880" cy="383760"/>
          </a:xfrm>
          <a:prstGeom prst="rect">
            <a:avLst/>
          </a:prstGeom>
          <a:noFill/>
          <a:ln w="0">
            <a:noFill/>
          </a:ln>
        </p:spPr>
        <p:style>
          <a:lnRef idx="0"/>
          <a:fillRef idx="0"/>
          <a:effectRef idx="0"/>
          <a:fontRef idx="minor"/>
        </p:style>
        <p:txBody>
          <a:bodyPr lIns="0" tIns="7920" rIns="0" bIns="0" anchor="t">
            <a:noAutofit/>
          </a:bodyPr>
          <a:p>
            <a:pPr defTabSz="457200">
              <a:lnSpc>
                <a:spcPts val="1162"/>
              </a:lnSpc>
            </a:pPr>
            <a:r>
              <a:rPr lang="en-US" sz="1030" b="0" u="none" strike="noStrike">
                <a:solidFill>
                  <a:srgbClr val="5E6B65"/>
                </a:solidFill>
                <a:effectLst/>
                <a:uFillTx/>
                <a:latin typeface="Arial"/>
              </a:rPr>
              <a:t>Leads</a:t>
            </a:r>
            <a:endParaRPr lang="en-US" sz="1030" b="0" u="none" strike="noStrike">
              <a:solidFill>
                <a:srgbClr val="000000"/>
              </a:solidFill>
              <a:effectLst/>
              <a:uFillTx/>
              <a:latin typeface="Arial"/>
            </a:endParaRPr>
          </a:p>
          <a:p>
            <a:pPr defTabSz="457200">
              <a:lnSpc>
                <a:spcPts val="1162"/>
              </a:lnSpc>
            </a:pPr>
            <a:r>
              <a:rPr lang="en-US" sz="1030" b="0" u="none" strike="noStrike">
                <a:solidFill>
                  <a:srgbClr val="5E6B65"/>
                </a:solidFill>
                <a:effectLst/>
                <a:uFillTx/>
                <a:latin typeface="Arial"/>
              </a:rPr>
              <a:t>both firms</a:t>
            </a:r>
            <a:endParaRPr lang="en-US" sz="1030" b="0" u="none" strike="noStrike">
              <a:solidFill>
                <a:srgbClr val="000000"/>
              </a:solidFill>
              <a:effectLst/>
              <a:uFillTx/>
              <a:latin typeface="Arial"/>
            </a:endParaRPr>
          </a:p>
        </p:txBody>
      </p:sp>
      <p:cxnSp>
        <p:nvCxnSpPr>
          <p:cNvPr id="420" name="retail buying"/>
          <p:cNvCxnSpPr/>
          <p:nvPr/>
        </p:nvCxnSpPr>
        <p:spPr>
          <a:xfrm>
            <a:off x="5019840" y="3264120"/>
            <a:ext cx="360" cy="1481760"/>
          </a:xfrm>
          <a:prstGeom prst="straightConnector1">
            <a:avLst/>
          </a:prstGeom>
          <a:ln w="15875">
            <a:solidFill>
              <a:srgbClr val="2F7358"/>
            </a:solidFill>
            <a:round/>
            <a:tailEnd len="med" type="triangle" w="med"/>
          </a:ln>
        </p:spPr>
      </p:cxnSp>
      <p:sp>
        <p:nvSpPr>
          <p:cNvPr id="421" name="buying label"/>
          <p:cNvSpPr/>
          <p:nvPr/>
        </p:nvSpPr>
        <p:spPr>
          <a:xfrm>
            <a:off x="4206240" y="3831480"/>
            <a:ext cx="712800" cy="255600"/>
          </a:xfrm>
          <a:prstGeom prst="rect">
            <a:avLst/>
          </a:prstGeom>
          <a:noFill/>
          <a:ln w="0">
            <a:noFill/>
          </a:ln>
        </p:spPr>
        <p:style>
          <a:lnRef idx="0"/>
          <a:fillRef idx="0"/>
          <a:effectRef idx="0"/>
          <a:fontRef idx="minor"/>
        </p:style>
        <p:txBody>
          <a:bodyPr lIns="0" tIns="8280" rIns="0" bIns="0" anchor="t">
            <a:noAutofit/>
          </a:bodyPr>
          <a:p>
            <a:pPr defTabSz="457200">
              <a:lnSpc>
                <a:spcPts val="1244"/>
              </a:lnSpc>
            </a:pPr>
            <a:r>
              <a:rPr lang="en-US" sz="1100" b="1" u="none" strike="noStrike">
                <a:solidFill>
                  <a:srgbClr val="2F7358"/>
                </a:solidFill>
                <a:effectLst/>
                <a:uFillTx/>
                <a:latin typeface="Arial"/>
              </a:rPr>
              <a:t>Buying</a:t>
            </a:r>
            <a:endParaRPr lang="en-US" sz="1100" b="0" u="none" strike="noStrike">
              <a:solidFill>
                <a:srgbClr val="000000"/>
              </a:solidFill>
              <a:effectLst/>
              <a:uFillTx/>
              <a:latin typeface="Arial"/>
            </a:endParaRPr>
          </a:p>
        </p:txBody>
      </p:sp>
      <p:cxnSp>
        <p:nvCxnSpPr>
          <p:cNvPr id="422" name="blocked buying"/>
          <p:cNvCxnSpPr/>
          <p:nvPr/>
        </p:nvCxnSpPr>
        <p:spPr>
          <a:xfrm flipH="1">
            <a:off x="5614200" y="3264120"/>
            <a:ext cx="2094480" cy="1436040"/>
          </a:xfrm>
          <a:prstGeom prst="straightConnector1">
            <a:avLst/>
          </a:prstGeom>
          <a:ln w="15240">
            <a:solidFill>
              <a:srgbClr val="B13F36"/>
            </a:solidFill>
            <a:prstDash val="dash"/>
            <a:round/>
            <a:tailEnd len="med" type="triangle" w="med"/>
          </a:ln>
        </p:spPr>
      </p:cxnSp>
      <p:sp>
        <p:nvSpPr>
          <p:cNvPr id="423" name="restriction label"/>
          <p:cNvSpPr/>
          <p:nvPr/>
        </p:nvSpPr>
        <p:spPr>
          <a:xfrm>
            <a:off x="7717680" y="3867840"/>
            <a:ext cx="1334520" cy="429480"/>
          </a:xfrm>
          <a:prstGeom prst="rect">
            <a:avLst/>
          </a:prstGeom>
          <a:noFill/>
          <a:ln w="0">
            <a:noFill/>
          </a:ln>
        </p:spPr>
        <p:style>
          <a:lnRef idx="0"/>
          <a:fillRef idx="0"/>
          <a:effectRef idx="0"/>
          <a:fontRef idx="minor"/>
        </p:style>
        <p:txBody>
          <a:bodyPr lIns="0" tIns="8640" rIns="0" bIns="0" anchor="t">
            <a:noAutofit/>
          </a:bodyPr>
          <a:p>
            <a:pPr algn="ctr" defTabSz="457200">
              <a:lnSpc>
                <a:spcPts val="1298"/>
              </a:lnSpc>
            </a:pPr>
            <a:r>
              <a:rPr lang="en-US" sz="1150" b="1" u="none" strike="noStrike">
                <a:solidFill>
                  <a:srgbClr val="B13F36"/>
                </a:solidFill>
                <a:effectLst/>
                <a:uFillTx/>
                <a:latin typeface="Arial"/>
              </a:rPr>
              <a:t>Jan 28:</a:t>
            </a:r>
            <a:endParaRPr lang="en-US" sz="1150" b="0" u="none" strike="noStrike">
              <a:solidFill>
                <a:srgbClr val="000000"/>
              </a:solidFill>
              <a:effectLst/>
              <a:uFillTx/>
              <a:latin typeface="Arial"/>
            </a:endParaRPr>
          </a:p>
          <a:p>
            <a:pPr algn="ctr" defTabSz="457200">
              <a:lnSpc>
                <a:spcPts val="1298"/>
              </a:lnSpc>
            </a:pPr>
            <a:r>
              <a:rPr lang="en-US" sz="1150" b="1" u="none" strike="noStrike">
                <a:solidFill>
                  <a:srgbClr val="B13F36"/>
                </a:solidFill>
                <a:effectLst/>
                <a:uFillTx/>
                <a:latin typeface="Arial"/>
              </a:rPr>
              <a:t>buying blocked</a:t>
            </a:r>
            <a:endParaRPr lang="en-US" sz="1150" b="0" u="none" strike="noStrike">
              <a:solidFill>
                <a:srgbClr val="000000"/>
              </a:solidFill>
              <a:effectLst/>
              <a:uFillTx/>
              <a:latin typeface="Arial"/>
            </a:endParaRPr>
          </a:p>
        </p:txBody>
      </p:sp>
      <p:cxnSp>
        <p:nvCxnSpPr>
          <p:cNvPr id="424" name="blocked buying cross"/>
          <p:cNvCxnSpPr/>
          <p:nvPr/>
        </p:nvCxnSpPr>
        <p:spPr>
          <a:xfrm>
            <a:off x="6748200" y="3822120"/>
            <a:ext cx="128160" cy="128160"/>
          </a:xfrm>
          <a:prstGeom prst="straightConnector1">
            <a:avLst/>
          </a:prstGeom>
          <a:ln w="19050">
            <a:solidFill>
              <a:srgbClr val="B13F36"/>
            </a:solidFill>
            <a:round/>
          </a:ln>
        </p:spPr>
      </p:cxnSp>
      <p:cxnSp>
        <p:nvCxnSpPr>
          <p:cNvPr id="425" name="blocked buying cross"/>
          <p:cNvCxnSpPr/>
          <p:nvPr/>
        </p:nvCxnSpPr>
        <p:spPr>
          <a:xfrm flipV="1">
            <a:off x="6748200" y="3822120"/>
            <a:ext cx="128160" cy="128160"/>
          </a:xfrm>
          <a:prstGeom prst="straightConnector1">
            <a:avLst/>
          </a:prstGeom>
          <a:ln w="19050">
            <a:solidFill>
              <a:srgbClr val="B13F36"/>
            </a:solidFill>
            <a:round/>
          </a:ln>
        </p:spPr>
      </p:cxnSp>
      <p:cxnSp>
        <p:nvCxnSpPr>
          <p:cNvPr id="426" name="Melvin shorts"/>
          <p:cNvCxnSpPr/>
          <p:nvPr/>
        </p:nvCxnSpPr>
        <p:spPr>
          <a:xfrm flipH="1">
            <a:off x="5970960" y="5221080"/>
            <a:ext cx="768240" cy="360"/>
          </a:xfrm>
          <a:prstGeom prst="straightConnector1">
            <a:avLst/>
          </a:prstGeom>
          <a:ln w="14604">
            <a:solidFill>
              <a:srgbClr val="B13F36"/>
            </a:solidFill>
            <a:round/>
            <a:tailEnd len="med" type="triangle" w="med"/>
          </a:ln>
        </p:spPr>
      </p:cxnSp>
      <p:sp>
        <p:nvSpPr>
          <p:cNvPr id="427" name="short position label"/>
          <p:cNvSpPr/>
          <p:nvPr/>
        </p:nvSpPr>
        <p:spPr>
          <a:xfrm>
            <a:off x="5952600" y="4827960"/>
            <a:ext cx="776880" cy="338040"/>
          </a:xfrm>
          <a:prstGeom prst="rect">
            <a:avLst/>
          </a:prstGeom>
          <a:noFill/>
          <a:ln w="0">
            <a:noFill/>
          </a:ln>
        </p:spPr>
        <p:style>
          <a:lnRef idx="0"/>
          <a:fillRef idx="0"/>
          <a:effectRef idx="0"/>
          <a:fontRef idx="minor"/>
        </p:style>
        <p:txBody>
          <a:bodyPr lIns="0" tIns="7920" rIns="0" bIns="0" anchor="t">
            <a:noAutofit/>
          </a:bodyPr>
          <a:p>
            <a:pPr algn="ctr" defTabSz="457200">
              <a:lnSpc>
                <a:spcPts val="1162"/>
              </a:lnSpc>
            </a:pPr>
            <a:r>
              <a:rPr lang="en-US" sz="1030" b="1" u="none" strike="noStrike">
                <a:solidFill>
                  <a:srgbClr val="B13F36"/>
                </a:solidFill>
                <a:effectLst/>
                <a:uFillTx/>
                <a:latin typeface="Arial"/>
              </a:rPr>
              <a:t>Shorts</a:t>
            </a:r>
            <a:endParaRPr lang="en-US" sz="1030" b="0" u="none" strike="noStrike">
              <a:solidFill>
                <a:srgbClr val="000000"/>
              </a:solidFill>
              <a:effectLst/>
              <a:uFillTx/>
              <a:latin typeface="Arial"/>
            </a:endParaRPr>
          </a:p>
          <a:p>
            <a:pPr algn="ctr" defTabSz="457200">
              <a:lnSpc>
                <a:spcPts val="1162"/>
              </a:lnSpc>
            </a:pPr>
            <a:r>
              <a:rPr lang="en-US" sz="1030" b="1" u="none" strike="noStrike">
                <a:solidFill>
                  <a:srgbClr val="B13F36"/>
                </a:solidFill>
                <a:effectLst/>
                <a:uFillTx/>
                <a:latin typeface="Arial"/>
              </a:rPr>
              <a:t>GME</a:t>
            </a:r>
            <a:endParaRPr lang="en-US" sz="1030" b="0" u="none" strike="noStrike">
              <a:solidFill>
                <a:srgbClr val="000000"/>
              </a:solidFill>
              <a:effectLst/>
              <a:uFillTx/>
              <a:latin typeface="Arial"/>
            </a:endParaRPr>
          </a:p>
        </p:txBody>
      </p:sp>
      <p:cxnSp>
        <p:nvCxnSpPr>
          <p:cNvPr id="428" name="Citadel rescue"/>
          <p:cNvCxnSpPr/>
          <p:nvPr/>
        </p:nvCxnSpPr>
        <p:spPr>
          <a:xfrm flipH="1">
            <a:off x="8650080" y="5221080"/>
            <a:ext cx="841680" cy="360"/>
          </a:xfrm>
          <a:prstGeom prst="straightConnector1">
            <a:avLst/>
          </a:prstGeom>
          <a:ln w="14604">
            <a:solidFill>
              <a:srgbClr val="2F7358"/>
            </a:solidFill>
            <a:round/>
            <a:tailEnd len="med" type="triangle" w="med"/>
          </a:ln>
        </p:spPr>
      </p:cxnSp>
      <p:sp>
        <p:nvSpPr>
          <p:cNvPr id="429" name="rescue amount"/>
          <p:cNvSpPr/>
          <p:nvPr/>
        </p:nvSpPr>
        <p:spPr>
          <a:xfrm>
            <a:off x="8641080" y="4809600"/>
            <a:ext cx="859320" cy="328680"/>
          </a:xfrm>
          <a:prstGeom prst="rect">
            <a:avLst/>
          </a:prstGeom>
          <a:noFill/>
          <a:ln w="0">
            <a:noFill/>
          </a:ln>
        </p:spPr>
        <p:style>
          <a:lnRef idx="0"/>
          <a:fillRef idx="0"/>
          <a:effectRef idx="0"/>
          <a:fontRef idx="minor"/>
        </p:style>
        <p:txBody>
          <a:bodyPr lIns="0" tIns="8280" rIns="0" bIns="0" anchor="t">
            <a:noAutofit/>
          </a:bodyPr>
          <a:p>
            <a:pPr algn="ctr" defTabSz="457200">
              <a:lnSpc>
                <a:spcPts val="1219"/>
              </a:lnSpc>
            </a:pPr>
            <a:r>
              <a:rPr lang="en-US" sz="1080" b="1" u="none" strike="noStrike">
                <a:solidFill>
                  <a:srgbClr val="2F7358"/>
                </a:solidFill>
                <a:effectLst/>
                <a:uFillTx/>
                <a:latin typeface="Arial"/>
              </a:rPr>
              <a:t>$2bn</a:t>
            </a:r>
            <a:endParaRPr lang="en-US" sz="1080" b="0" u="none" strike="noStrike">
              <a:solidFill>
                <a:srgbClr val="000000"/>
              </a:solidFill>
              <a:effectLst/>
              <a:uFillTx/>
              <a:latin typeface="Arial"/>
            </a:endParaRPr>
          </a:p>
          <a:p>
            <a:pPr algn="ctr" defTabSz="457200">
              <a:lnSpc>
                <a:spcPts val="1219"/>
              </a:lnSpc>
            </a:pPr>
            <a:r>
              <a:rPr lang="en-US" sz="1080" b="1" u="none" strike="noStrike">
                <a:solidFill>
                  <a:srgbClr val="2F7358"/>
                </a:solidFill>
                <a:effectLst/>
                <a:uFillTx/>
                <a:latin typeface="Arial"/>
              </a:rPr>
              <a:t>rescue</a:t>
            </a:r>
            <a:endParaRPr lang="en-US" sz="1080" b="0" u="none" strike="noStrike">
              <a:solidFill>
                <a:srgbClr val="000000"/>
              </a:solidFill>
              <a:effectLst/>
              <a:uFillTx/>
              <a:latin typeface="Arial"/>
            </a:endParaRPr>
          </a:p>
        </p:txBody>
      </p:sp>
      <p:sp>
        <p:nvSpPr>
          <p:cNvPr id="430" name="conclusion mark"/>
          <p:cNvSpPr/>
          <p:nvPr/>
        </p:nvSpPr>
        <p:spPr>
          <a:xfrm>
            <a:off x="658440" y="5961960"/>
            <a:ext cx="50040" cy="365400"/>
          </a:xfrm>
          <a:prstGeom prst="rect">
            <a:avLst/>
          </a:prstGeom>
          <a:solidFill>
            <a:srgbClr val="B13F36"/>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31" name="takeaway"/>
          <p:cNvSpPr/>
          <p:nvPr/>
        </p:nvSpPr>
        <p:spPr>
          <a:xfrm>
            <a:off x="877680" y="5934600"/>
            <a:ext cx="10560960" cy="493560"/>
          </a:xfrm>
          <a:prstGeom prst="rect">
            <a:avLst/>
          </a:prstGeom>
          <a:noFill/>
          <a:ln w="0">
            <a:noFill/>
          </a:ln>
        </p:spPr>
        <p:style>
          <a:lnRef idx="0"/>
          <a:fillRef idx="0"/>
          <a:effectRef idx="0"/>
          <a:fontRef idx="minor"/>
        </p:style>
        <p:txBody>
          <a:bodyPr lIns="0" tIns="13680" rIns="0" bIns="0" anchor="t">
            <a:noAutofit/>
          </a:bodyPr>
          <a:p>
            <a:pPr defTabSz="457200">
              <a:lnSpc>
                <a:spcPts val="1981"/>
              </a:lnSpc>
            </a:pPr>
            <a:r>
              <a:rPr lang="en-US" sz="1800" b="1" u="none" strike="noStrike">
                <a:solidFill>
                  <a:srgbClr val="17302B"/>
                </a:solidFill>
                <a:effectLst/>
                <a:uFillTx/>
                <a:latin typeface="Arial"/>
              </a:rPr>
              <a:t>These links raise a conflict concern; they do not prove coordination.</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A"/>
        </a:solidFill>
      </p:bgPr>
    </p:bg>
    <p:spTree>
      <p:nvGrpSpPr>
        <p:cNvPr id="1" name=""/>
        <p:cNvGrpSpPr/>
        <p:nvPr/>
      </p:nvGrpSpPr>
      <p:grpSpPr>
        <a:xfrm>
          <a:off x="0" y="0"/>
          <a:ext cx="0" cy="0"/>
          <a:chOff x="0" y="0"/>
          <a:chExt cx="0" cy="0"/>
        </a:xfrm>
      </p:grpSpPr>
      <p:cxnSp>
        <p:nvCxnSpPr>
          <p:cNvPr id="432" name="footer rule"/>
          <p:cNvCxnSpPr/>
          <p:nvPr/>
        </p:nvCxnSpPr>
        <p:spPr>
          <a:xfrm>
            <a:off x="658080" y="6373080"/>
            <a:ext cx="10872720" cy="360"/>
          </a:xfrm>
          <a:prstGeom prst="straightConnector1">
            <a:avLst/>
          </a:prstGeom>
          <a:ln w="7620">
            <a:solidFill>
              <a:srgbClr val="D4DDD6"/>
            </a:solidFill>
            <a:round/>
          </a:ln>
        </p:spPr>
      </p:cxnSp>
      <p:sp>
        <p:nvSpPr>
          <p:cNvPr id="433"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434" name="speaker footer"/>
          <p:cNvSpPr/>
          <p:nvPr/>
        </p:nvSpPr>
        <p:spPr>
          <a:xfrm>
            <a:off x="7223760" y="6473880"/>
            <a:ext cx="3474360" cy="182520"/>
          </a:xfrm>
          <a:prstGeom prst="rect">
            <a:avLst/>
          </a:prstGeom>
          <a:noFill/>
          <a:ln w="0">
            <a:noFill/>
          </a:ln>
        </p:spPr>
        <p:style>
          <a:lnRef idx="0"/>
          <a:fillRef idx="0"/>
          <a:effectRef idx="0"/>
          <a:fontRef idx="minor"/>
        </p:style>
        <p:txBody>
          <a:bodyPr lIns="0" tIns="7200" rIns="0" bIns="0" anchor="t">
            <a:noAutofit/>
          </a:bodyPr>
          <a:p>
            <a:pPr algn="r" defTabSz="457200">
              <a:lnSpc>
                <a:spcPts val="1074"/>
              </a:lnSpc>
            </a:pPr>
            <a:r>
              <a:rPr lang="en-US" sz="950" b="0" u="none" strike="noStrike">
                <a:solidFill>
                  <a:srgbClr val="5E6B65"/>
                </a:solidFill>
                <a:effectLst/>
                <a:uFillTx/>
                <a:latin typeface="Arial"/>
              </a:rPr>
              <a:t>Zou Zhihua</a:t>
            </a:r>
            <a:endParaRPr lang="en-US" sz="950" b="0" u="none" strike="noStrike">
              <a:solidFill>
                <a:srgbClr val="000000"/>
              </a:solidFill>
              <a:effectLst/>
              <a:uFillTx/>
              <a:latin typeface="Arial"/>
            </a:endParaRPr>
          </a:p>
        </p:txBody>
      </p:sp>
      <p:sp>
        <p:nvSpPr>
          <p:cNvPr id="435"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13 / 18</a:t>
            </a:r>
            <a:endParaRPr lang="en-US" sz="1000" b="0" u="none" strike="noStrike">
              <a:solidFill>
                <a:srgbClr val="000000"/>
              </a:solidFill>
              <a:effectLst/>
              <a:uFillTx/>
              <a:latin typeface="Arial"/>
            </a:endParaRPr>
          </a:p>
        </p:txBody>
      </p:sp>
      <p:sp>
        <p:nvSpPr>
          <p:cNvPr id="436"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B13F36"/>
                </a:solidFill>
                <a:effectLst/>
                <a:uFillTx/>
                <a:latin typeface="Arial"/>
              </a:rPr>
              <a:t>Q3 / OPPOSING VIEW</a:t>
            </a:r>
            <a:endParaRPr lang="en-US" sz="1150" b="0" u="none" strike="noStrike">
              <a:solidFill>
                <a:srgbClr val="000000"/>
              </a:solidFill>
              <a:effectLst/>
              <a:uFillTx/>
              <a:latin typeface="Arial"/>
            </a:endParaRPr>
          </a:p>
        </p:txBody>
      </p:sp>
      <p:sp>
        <p:nvSpPr>
          <p:cNvPr id="437" name="slide title"/>
          <p:cNvSpPr/>
          <p:nvPr/>
        </p:nvSpPr>
        <p:spPr>
          <a:xfrm>
            <a:off x="658440" y="859680"/>
            <a:ext cx="10835280" cy="676440"/>
          </a:xfrm>
          <a:prstGeom prst="rect">
            <a:avLst/>
          </a:prstGeom>
          <a:noFill/>
          <a:ln w="0">
            <a:noFill/>
          </a:ln>
        </p:spPr>
        <p:style>
          <a:lnRef idx="0"/>
          <a:fillRef idx="0"/>
          <a:effectRef idx="0"/>
          <a:fontRef idx="minor"/>
        </p:style>
        <p:txBody>
          <a:bodyPr lIns="0" tIns="25920" rIns="0" bIns="0" anchor="t">
            <a:noAutofit/>
          </a:bodyPr>
          <a:p>
            <a:pPr defTabSz="457200">
              <a:lnSpc>
                <a:spcPts val="3637"/>
              </a:lnSpc>
            </a:pPr>
            <a:r>
              <a:rPr lang="en-US" sz="3400" b="1" u="none" strike="noStrike">
                <a:solidFill>
                  <a:srgbClr val="17302B"/>
                </a:solidFill>
                <a:effectLst/>
                <a:uFillTx/>
                <a:latin typeface="Arial"/>
              </a:rPr>
              <a:t>Robinhood users bore the cost of the restriction</a:t>
            </a:r>
            <a:endParaRPr lang="en-US" sz="3400" b="0" u="none" strike="noStrike">
              <a:solidFill>
                <a:srgbClr val="000000"/>
              </a:solidFill>
              <a:effectLst/>
              <a:uFillTx/>
              <a:latin typeface="Arial"/>
            </a:endParaRPr>
          </a:p>
        </p:txBody>
      </p:sp>
      <p:sp>
        <p:nvSpPr>
          <p:cNvPr id="438"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The case for fair access and better contingency planning.</a:t>
            </a:r>
            <a:endParaRPr lang="en-US" sz="1700" b="0" u="none" strike="noStrike">
              <a:solidFill>
                <a:srgbClr val="000000"/>
              </a:solidFill>
              <a:effectLst/>
              <a:uFillTx/>
              <a:latin typeface="Arial"/>
            </a:endParaRPr>
          </a:p>
        </p:txBody>
      </p:sp>
      <p:sp>
        <p:nvSpPr>
          <p:cNvPr id="439" name="eyebrow"/>
          <p:cNvSpPr/>
          <p:nvPr/>
        </p:nvSpPr>
        <p:spPr>
          <a:xfrm>
            <a:off x="713160" y="2267640"/>
            <a:ext cx="283428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B13F36"/>
                </a:solidFill>
                <a:effectLst/>
                <a:uFillTx/>
                <a:latin typeface="Arial"/>
              </a:rPr>
              <a:t>02 / ONE-SIDED ACCESS</a:t>
            </a:r>
            <a:endParaRPr lang="en-US" sz="1150" b="0" u="none" strike="noStrike">
              <a:solidFill>
                <a:srgbClr val="000000"/>
              </a:solidFill>
              <a:effectLst/>
              <a:uFillTx/>
              <a:latin typeface="Arial"/>
            </a:endParaRPr>
          </a:p>
        </p:txBody>
      </p:sp>
      <p:sp>
        <p:nvSpPr>
          <p:cNvPr id="440" name="fair access thesis"/>
          <p:cNvSpPr/>
          <p:nvPr/>
        </p:nvSpPr>
        <p:spPr>
          <a:xfrm>
            <a:off x="713160" y="2688480"/>
            <a:ext cx="2770200" cy="877320"/>
          </a:xfrm>
          <a:prstGeom prst="rect">
            <a:avLst/>
          </a:prstGeom>
          <a:noFill/>
          <a:ln w="0">
            <a:noFill/>
          </a:ln>
        </p:spPr>
        <p:style>
          <a:lnRef idx="0"/>
          <a:fillRef idx="0"/>
          <a:effectRef idx="0"/>
          <a:fontRef idx="minor"/>
        </p:style>
        <p:txBody>
          <a:bodyPr lIns="0" tIns="16920" rIns="0" bIns="0" anchor="t">
            <a:noAutofit/>
          </a:bodyPr>
          <a:p>
            <a:pPr defTabSz="457200">
              <a:lnSpc>
                <a:spcPts val="2463"/>
              </a:lnSpc>
            </a:pPr>
            <a:r>
              <a:rPr lang="en-US" sz="2200" b="1" u="none" strike="noStrike">
                <a:solidFill>
                  <a:srgbClr val="17302B"/>
                </a:solidFill>
                <a:effectLst/>
                <a:uFillTx/>
                <a:latin typeface="Arial"/>
              </a:rPr>
              <a:t>New buys blocked.</a:t>
            </a:r>
            <a:endParaRPr lang="en-US" sz="2200" b="0" u="none" strike="noStrike">
              <a:solidFill>
                <a:srgbClr val="000000"/>
              </a:solidFill>
              <a:effectLst/>
              <a:uFillTx/>
              <a:latin typeface="Arial"/>
            </a:endParaRPr>
          </a:p>
          <a:p>
            <a:pPr defTabSz="457200">
              <a:lnSpc>
                <a:spcPts val="2463"/>
              </a:lnSpc>
            </a:pPr>
            <a:r>
              <a:rPr lang="en-US" sz="2200" b="1" u="none" strike="noStrike">
                <a:solidFill>
                  <a:srgbClr val="17302B"/>
                </a:solidFill>
                <a:effectLst/>
                <a:uFillTx/>
                <a:latin typeface="Arial"/>
              </a:rPr>
              <a:t>Selling allowed.</a:t>
            </a:r>
            <a:endParaRPr lang="en-US" sz="2200" b="0" u="none" strike="noStrike">
              <a:solidFill>
                <a:srgbClr val="000000"/>
              </a:solidFill>
              <a:effectLst/>
              <a:uFillTx/>
              <a:latin typeface="Arial"/>
            </a:endParaRPr>
          </a:p>
        </p:txBody>
      </p:sp>
      <p:sp>
        <p:nvSpPr>
          <p:cNvPr id="441" name="fairness explanation"/>
          <p:cNvSpPr/>
          <p:nvPr/>
        </p:nvSpPr>
        <p:spPr>
          <a:xfrm>
            <a:off x="713160" y="3684960"/>
            <a:ext cx="2770200" cy="54828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0" u="none" strike="noStrike">
                <a:solidFill>
                  <a:srgbClr val="5E6B65"/>
                </a:solidFill>
                <a:effectLst/>
                <a:uFillTx/>
                <a:latin typeface="Arial"/>
              </a:rPr>
              <a:t>A restriction on only one</a:t>
            </a:r>
            <a:endParaRPr lang="en-US" sz="1700" b="0" u="none" strike="noStrike">
              <a:solidFill>
                <a:srgbClr val="000000"/>
              </a:solidFill>
              <a:effectLst/>
              <a:uFillTx/>
              <a:latin typeface="Arial"/>
            </a:endParaRPr>
          </a:p>
          <a:p>
            <a:pPr defTabSz="457200">
              <a:lnSpc>
                <a:spcPts val="1919"/>
              </a:lnSpc>
            </a:pPr>
            <a:r>
              <a:rPr lang="en-US" sz="1700" b="0" u="none" strike="noStrike">
                <a:solidFill>
                  <a:srgbClr val="5E6B65"/>
                </a:solidFill>
                <a:effectLst/>
                <a:uFillTx/>
                <a:latin typeface="Arial"/>
              </a:rPr>
              <a:t>side is not neutral.</a:t>
            </a:r>
            <a:endParaRPr lang="en-US" sz="1700" b="0" u="none" strike="noStrike">
              <a:solidFill>
                <a:srgbClr val="000000"/>
              </a:solidFill>
              <a:effectLst/>
              <a:uFillTx/>
              <a:latin typeface="Arial"/>
            </a:endParaRPr>
          </a:p>
        </p:txBody>
      </p:sp>
      <p:sp>
        <p:nvSpPr>
          <p:cNvPr id="442" name="eyebrow"/>
          <p:cNvSpPr/>
          <p:nvPr/>
        </p:nvSpPr>
        <p:spPr>
          <a:xfrm>
            <a:off x="4087440" y="2267640"/>
            <a:ext cx="283428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5E6B65"/>
                </a:solidFill>
                <a:effectLst/>
                <a:uFillTx/>
                <a:latin typeface="Arial"/>
              </a:rPr>
              <a:t>JAN 28, 2021</a:t>
            </a:r>
            <a:endParaRPr lang="en-US" sz="1150" b="0" u="none" strike="noStrike">
              <a:solidFill>
                <a:srgbClr val="000000"/>
              </a:solidFill>
              <a:effectLst/>
              <a:uFillTx/>
              <a:latin typeface="Arial"/>
            </a:endParaRPr>
          </a:p>
        </p:txBody>
      </p:sp>
      <p:sp>
        <p:nvSpPr>
          <p:cNvPr id="443" name="retail comparison title"/>
          <p:cNvSpPr/>
          <p:nvPr/>
        </p:nvSpPr>
        <p:spPr>
          <a:xfrm>
            <a:off x="4087440" y="2724840"/>
            <a:ext cx="2157480" cy="365400"/>
          </a:xfrm>
          <a:prstGeom prst="rect">
            <a:avLst/>
          </a:prstGeom>
          <a:noFill/>
          <a:ln w="0">
            <a:noFill/>
          </a:ln>
        </p:spPr>
        <p:style>
          <a:lnRef idx="0"/>
          <a:fillRef idx="0"/>
          <a:effectRef idx="0"/>
          <a:fontRef idx="minor"/>
        </p:style>
        <p:txBody>
          <a:bodyPr lIns="0" tIns="14400" rIns="0" bIns="0" anchor="t">
            <a:noAutofit/>
          </a:bodyPr>
          <a:p>
            <a:pPr defTabSz="457200">
              <a:lnSpc>
                <a:spcPts val="2146"/>
              </a:lnSpc>
            </a:pPr>
            <a:r>
              <a:rPr lang="en-US" sz="1900" b="1" u="none" strike="noStrike">
                <a:solidFill>
                  <a:srgbClr val="17302B"/>
                </a:solidFill>
                <a:effectLst/>
                <a:uFillTx/>
                <a:latin typeface="Arial"/>
              </a:rPr>
              <a:t>Robinhood users</a:t>
            </a:r>
            <a:endParaRPr lang="en-US" sz="1900" b="0" u="none" strike="noStrike">
              <a:solidFill>
                <a:srgbClr val="000000"/>
              </a:solidFill>
              <a:effectLst/>
              <a:uFillTx/>
              <a:latin typeface="Arial"/>
            </a:endParaRPr>
          </a:p>
        </p:txBody>
      </p:sp>
      <p:sp>
        <p:nvSpPr>
          <p:cNvPr id="444" name="retail sell only"/>
          <p:cNvSpPr/>
          <p:nvPr/>
        </p:nvSpPr>
        <p:spPr>
          <a:xfrm>
            <a:off x="4087440" y="3227760"/>
            <a:ext cx="2102760" cy="447840"/>
          </a:xfrm>
          <a:prstGeom prst="rect">
            <a:avLst/>
          </a:prstGeom>
          <a:noFill/>
          <a:ln w="0">
            <a:noFill/>
          </a:ln>
        </p:spPr>
        <p:style>
          <a:lnRef idx="0"/>
          <a:fillRef idx="0"/>
          <a:effectRef idx="0"/>
          <a:fontRef idx="minor"/>
        </p:style>
        <p:txBody>
          <a:bodyPr lIns="0" tIns="18360" rIns="0" bIns="0" anchor="t">
            <a:noAutofit/>
          </a:bodyPr>
          <a:p>
            <a:pPr defTabSz="457200">
              <a:lnSpc>
                <a:spcPts val="2710"/>
              </a:lnSpc>
            </a:pPr>
            <a:r>
              <a:rPr lang="en-US" sz="2400" b="1" u="none" strike="noStrike">
                <a:solidFill>
                  <a:srgbClr val="B13F36"/>
                </a:solidFill>
                <a:effectLst/>
                <a:uFillTx/>
                <a:latin typeface="Arial"/>
              </a:rPr>
              <a:t>Sell only</a:t>
            </a:r>
            <a:endParaRPr lang="en-US" sz="2400" b="0" u="none" strike="noStrike">
              <a:solidFill>
                <a:srgbClr val="000000"/>
              </a:solidFill>
              <a:effectLst/>
              <a:uFillTx/>
              <a:latin typeface="Arial"/>
            </a:endParaRPr>
          </a:p>
        </p:txBody>
      </p:sp>
      <p:sp>
        <p:nvSpPr>
          <p:cNvPr id="445" name="institution comparison title"/>
          <p:cNvSpPr/>
          <p:nvPr/>
        </p:nvSpPr>
        <p:spPr>
          <a:xfrm>
            <a:off x="6583680" y="2724840"/>
            <a:ext cx="2084400" cy="365400"/>
          </a:xfrm>
          <a:prstGeom prst="rect">
            <a:avLst/>
          </a:prstGeom>
          <a:noFill/>
          <a:ln w="0">
            <a:noFill/>
          </a:ln>
        </p:spPr>
        <p:style>
          <a:lnRef idx="0"/>
          <a:fillRef idx="0"/>
          <a:effectRef idx="0"/>
          <a:fontRef idx="minor"/>
        </p:style>
        <p:txBody>
          <a:bodyPr lIns="0" tIns="14400" rIns="0" bIns="0" anchor="t">
            <a:noAutofit/>
          </a:bodyPr>
          <a:p>
            <a:pPr defTabSz="457200">
              <a:lnSpc>
                <a:spcPts val="2146"/>
              </a:lnSpc>
            </a:pPr>
            <a:r>
              <a:rPr lang="en-US" sz="1900" b="1" u="none" strike="noStrike">
                <a:solidFill>
                  <a:srgbClr val="17302B"/>
                </a:solidFill>
                <a:effectLst/>
                <a:uFillTx/>
                <a:latin typeface="Arial"/>
              </a:rPr>
              <a:t>Institutions</a:t>
            </a:r>
            <a:endParaRPr lang="en-US" sz="1900" b="0" u="none" strike="noStrike">
              <a:solidFill>
                <a:srgbClr val="000000"/>
              </a:solidFill>
              <a:effectLst/>
              <a:uFillTx/>
              <a:latin typeface="Arial"/>
            </a:endParaRPr>
          </a:p>
        </p:txBody>
      </p:sp>
      <p:sp>
        <p:nvSpPr>
          <p:cNvPr id="446" name="institution trading"/>
          <p:cNvSpPr/>
          <p:nvPr/>
        </p:nvSpPr>
        <p:spPr>
          <a:xfrm>
            <a:off x="6583680" y="3227760"/>
            <a:ext cx="2102760" cy="447840"/>
          </a:xfrm>
          <a:prstGeom prst="rect">
            <a:avLst/>
          </a:prstGeom>
          <a:noFill/>
          <a:ln w="0">
            <a:noFill/>
          </a:ln>
        </p:spPr>
        <p:style>
          <a:lnRef idx="0"/>
          <a:fillRef idx="0"/>
          <a:effectRef idx="0"/>
          <a:fontRef idx="minor"/>
        </p:style>
        <p:txBody>
          <a:bodyPr lIns="0" tIns="15840" rIns="0" bIns="0" anchor="t">
            <a:noAutofit/>
          </a:bodyPr>
          <a:p>
            <a:pPr defTabSz="457200">
              <a:lnSpc>
                <a:spcPts val="2373"/>
              </a:lnSpc>
            </a:pPr>
            <a:r>
              <a:rPr lang="en-US" sz="2100" b="1" u="none" strike="noStrike">
                <a:solidFill>
                  <a:srgbClr val="2F7358"/>
                </a:solidFill>
                <a:effectLst/>
                <a:uFillTx/>
                <a:latin typeface="Arial"/>
              </a:rPr>
              <a:t>Traded freely</a:t>
            </a:r>
            <a:endParaRPr lang="en-US" sz="2100" b="0" u="none" strike="noStrike">
              <a:solidFill>
                <a:srgbClr val="000000"/>
              </a:solidFill>
              <a:effectLst/>
              <a:uFillTx/>
              <a:latin typeface="Arial"/>
            </a:endParaRPr>
          </a:p>
        </p:txBody>
      </p:sp>
      <p:cxnSp>
        <p:nvCxnSpPr>
          <p:cNvPr id="447" name="connector"/>
          <p:cNvCxnSpPr/>
          <p:nvPr/>
        </p:nvCxnSpPr>
        <p:spPr>
          <a:xfrm>
            <a:off x="9144000" y="2423160"/>
            <a:ext cx="360" cy="1536480"/>
          </a:xfrm>
          <a:prstGeom prst="straightConnector1">
            <a:avLst/>
          </a:prstGeom>
          <a:ln w="8890">
            <a:solidFill>
              <a:srgbClr val="D4DDD6"/>
            </a:solidFill>
            <a:round/>
          </a:ln>
        </p:spPr>
      </p:cxnSp>
      <p:sp>
        <p:nvSpPr>
          <p:cNvPr id="448" name="GME daily drop"/>
          <p:cNvSpPr/>
          <p:nvPr/>
        </p:nvSpPr>
        <p:spPr>
          <a:xfrm>
            <a:off x="9500760" y="2688480"/>
            <a:ext cx="1992960" cy="776880"/>
          </a:xfrm>
          <a:prstGeom prst="rect">
            <a:avLst/>
          </a:prstGeom>
          <a:noFill/>
          <a:ln w="0">
            <a:noFill/>
          </a:ln>
        </p:spPr>
        <p:style>
          <a:lnRef idx="0"/>
          <a:fillRef idx="0"/>
          <a:effectRef idx="0"/>
          <a:fontRef idx="minor"/>
        </p:style>
        <p:txBody>
          <a:bodyPr lIns="0" tIns="33480" rIns="0" bIns="0" anchor="t">
            <a:noAutofit/>
          </a:bodyPr>
          <a:p>
            <a:pPr defTabSz="457200">
              <a:lnSpc>
                <a:spcPts val="4972"/>
              </a:lnSpc>
            </a:pPr>
            <a:r>
              <a:rPr lang="en-US" sz="4400" b="1" u="none" strike="noStrike">
                <a:solidFill>
                  <a:srgbClr val="B13F36"/>
                </a:solidFill>
                <a:effectLst/>
                <a:uFillTx/>
                <a:latin typeface="Arial"/>
              </a:rPr>
              <a:t>−44%</a:t>
            </a:r>
            <a:endParaRPr lang="en-US" sz="4400" b="0" u="none" strike="noStrike">
              <a:solidFill>
                <a:srgbClr val="000000"/>
              </a:solidFill>
              <a:effectLst/>
              <a:uFillTx/>
              <a:latin typeface="Arial"/>
            </a:endParaRPr>
          </a:p>
        </p:txBody>
      </p:sp>
      <p:sp>
        <p:nvSpPr>
          <p:cNvPr id="449" name="drop interpretation"/>
          <p:cNvSpPr/>
          <p:nvPr/>
        </p:nvSpPr>
        <p:spPr>
          <a:xfrm>
            <a:off x="9509760" y="3547800"/>
            <a:ext cx="1928880" cy="594000"/>
          </a:xfrm>
          <a:prstGeom prst="rect">
            <a:avLst/>
          </a:prstGeom>
          <a:noFill/>
          <a:ln w="0">
            <a:noFill/>
          </a:ln>
        </p:spPr>
        <p:style>
          <a:lnRef idx="0"/>
          <a:fillRef idx="0"/>
          <a:effectRef idx="0"/>
          <a:fontRef idx="minor"/>
        </p:style>
        <p:txBody>
          <a:bodyPr lIns="0" tIns="11880" rIns="0" bIns="0" anchor="t">
            <a:noAutofit/>
          </a:bodyPr>
          <a:p>
            <a:pPr defTabSz="457200">
              <a:lnSpc>
                <a:spcPts val="1752"/>
              </a:lnSpc>
            </a:pPr>
            <a:r>
              <a:rPr lang="en-US" sz="1550" b="0" u="none" strike="noStrike">
                <a:solidFill>
                  <a:srgbClr val="5E6B65"/>
                </a:solidFill>
                <a:effectLst/>
                <a:uFillTx/>
                <a:latin typeface="Arial"/>
              </a:rPr>
              <a:t>GME that day; short</a:t>
            </a:r>
            <a:endParaRPr lang="en-US" sz="1550" b="0" u="none" strike="noStrike">
              <a:solidFill>
                <a:srgbClr val="000000"/>
              </a:solidFill>
              <a:effectLst/>
              <a:uFillTx/>
              <a:latin typeface="Arial"/>
            </a:endParaRPr>
          </a:p>
          <a:p>
            <a:pPr defTabSz="457200">
              <a:lnSpc>
                <a:spcPts val="1752"/>
              </a:lnSpc>
            </a:pPr>
            <a:r>
              <a:rPr lang="en-US" sz="1550" b="0" u="none" strike="noStrike">
                <a:solidFill>
                  <a:srgbClr val="5E6B65"/>
                </a:solidFill>
                <a:effectLst/>
                <a:uFillTx/>
                <a:latin typeface="Arial"/>
              </a:rPr>
              <a:t>sellers benefited.</a:t>
            </a:r>
            <a:endParaRPr lang="en-US" sz="1550" b="0" u="none" strike="noStrike">
              <a:solidFill>
                <a:srgbClr val="000000"/>
              </a:solidFill>
              <a:effectLst/>
              <a:uFillTx/>
              <a:latin typeface="Arial"/>
            </a:endParaRPr>
          </a:p>
        </p:txBody>
      </p:sp>
      <p:cxnSp>
        <p:nvCxnSpPr>
          <p:cNvPr id="450" name="connector"/>
          <p:cNvCxnSpPr/>
          <p:nvPr/>
        </p:nvCxnSpPr>
        <p:spPr>
          <a:xfrm>
            <a:off x="713160" y="4370760"/>
            <a:ext cx="10762920" cy="360"/>
          </a:xfrm>
          <a:prstGeom prst="straightConnector1">
            <a:avLst/>
          </a:prstGeom>
          <a:ln w="8890">
            <a:solidFill>
              <a:srgbClr val="D4DDD6"/>
            </a:solidFill>
            <a:round/>
          </a:ln>
        </p:spPr>
      </p:cxnSp>
      <p:sp>
        <p:nvSpPr>
          <p:cNvPr id="451" name="eyebrow"/>
          <p:cNvSpPr/>
          <p:nvPr/>
        </p:nvSpPr>
        <p:spPr>
          <a:xfrm>
            <a:off x="713160" y="4626720"/>
            <a:ext cx="283428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F7358"/>
                </a:solidFill>
                <a:effectLst/>
                <a:uFillTx/>
                <a:latin typeface="Arial"/>
              </a:rPr>
              <a:t>03 / PREPAREDNESS</a:t>
            </a:r>
            <a:endParaRPr lang="en-US" sz="1150" b="0" u="none" strike="noStrike">
              <a:solidFill>
                <a:srgbClr val="000000"/>
              </a:solidFill>
              <a:effectLst/>
              <a:uFillTx/>
              <a:latin typeface="Arial"/>
            </a:endParaRPr>
          </a:p>
        </p:txBody>
      </p:sp>
      <p:sp>
        <p:nvSpPr>
          <p:cNvPr id="452" name="funding preparedness thesis"/>
          <p:cNvSpPr/>
          <p:nvPr/>
        </p:nvSpPr>
        <p:spPr>
          <a:xfrm>
            <a:off x="713160" y="5001840"/>
            <a:ext cx="2834280" cy="822600"/>
          </a:xfrm>
          <a:prstGeom prst="rect">
            <a:avLst/>
          </a:prstGeom>
          <a:noFill/>
          <a:ln w="0">
            <a:noFill/>
          </a:ln>
        </p:spPr>
        <p:style>
          <a:lnRef idx="0"/>
          <a:fillRef idx="0"/>
          <a:effectRef idx="0"/>
          <a:fontRef idx="minor"/>
        </p:style>
        <p:txBody>
          <a:bodyPr lIns="0" tIns="17640" rIns="0" bIns="0" anchor="t">
            <a:noAutofit/>
          </a:bodyPr>
          <a:p>
            <a:pPr defTabSz="457200">
              <a:lnSpc>
                <a:spcPts val="2622"/>
              </a:lnSpc>
            </a:pPr>
            <a:r>
              <a:rPr lang="en-US" sz="2300" b="1" u="none" strike="noStrike">
                <a:solidFill>
                  <a:srgbClr val="17302B"/>
                </a:solidFill>
                <a:effectLst/>
                <a:uFillTx/>
                <a:latin typeface="Arial"/>
              </a:rPr>
              <a:t>Funding followed</a:t>
            </a:r>
            <a:endParaRPr lang="en-US" sz="2300" b="0" u="none" strike="noStrike">
              <a:solidFill>
                <a:srgbClr val="000000"/>
              </a:solidFill>
              <a:effectLst/>
              <a:uFillTx/>
              <a:latin typeface="Arial"/>
            </a:endParaRPr>
          </a:p>
          <a:p>
            <a:pPr defTabSz="457200">
              <a:lnSpc>
                <a:spcPts val="2622"/>
              </a:lnSpc>
            </a:pPr>
            <a:r>
              <a:rPr lang="en-US" sz="2300" b="1" u="none" strike="noStrike">
                <a:solidFill>
                  <a:srgbClr val="17302B"/>
                </a:solidFill>
                <a:effectLst/>
                <a:uFillTx/>
                <a:latin typeface="Arial"/>
              </a:rPr>
              <a:t>the restriction.</a:t>
            </a:r>
            <a:endParaRPr lang="en-US" sz="2300" b="0" u="none" strike="noStrike">
              <a:solidFill>
                <a:srgbClr val="000000"/>
              </a:solidFill>
              <a:effectLst/>
              <a:uFillTx/>
              <a:latin typeface="Arial"/>
            </a:endParaRPr>
          </a:p>
        </p:txBody>
      </p:sp>
      <p:cxnSp>
        <p:nvCxnSpPr>
          <p:cNvPr id="453" name="funding timeline"/>
          <p:cNvCxnSpPr/>
          <p:nvPr/>
        </p:nvCxnSpPr>
        <p:spPr>
          <a:xfrm>
            <a:off x="4617720" y="5056560"/>
            <a:ext cx="3099960" cy="360"/>
          </a:xfrm>
          <a:prstGeom prst="straightConnector1">
            <a:avLst/>
          </a:prstGeom>
          <a:ln w="17780">
            <a:solidFill>
              <a:srgbClr val="2F7358"/>
            </a:solidFill>
            <a:round/>
            <a:tailEnd len="med" type="triangle" w="med"/>
          </a:ln>
        </p:spPr>
      </p:cxnSp>
      <p:sp>
        <p:nvSpPr>
          <p:cNvPr id="454" name="circle"/>
          <p:cNvSpPr/>
          <p:nvPr/>
        </p:nvSpPr>
        <p:spPr>
          <a:xfrm>
            <a:off x="4526280" y="4965120"/>
            <a:ext cx="182520" cy="182520"/>
          </a:xfrm>
          <a:prstGeom prst="ellipse">
            <a:avLst/>
          </a:prstGeom>
          <a:solidFill>
            <a:srgbClr val="2F7358"/>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55" name="circle"/>
          <p:cNvSpPr/>
          <p:nvPr/>
        </p:nvSpPr>
        <p:spPr>
          <a:xfrm>
            <a:off x="7626240" y="4965120"/>
            <a:ext cx="182520" cy="182520"/>
          </a:xfrm>
          <a:prstGeom prst="ellipse">
            <a:avLst/>
          </a:prstGeom>
          <a:solidFill>
            <a:srgbClr val="2F7358"/>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56" name="eyebrow"/>
          <p:cNvSpPr/>
          <p:nvPr/>
        </p:nvSpPr>
        <p:spPr>
          <a:xfrm>
            <a:off x="4087440" y="4590360"/>
            <a:ext cx="232236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5E6B65"/>
                </a:solidFill>
                <a:effectLst/>
                <a:uFillTx/>
                <a:latin typeface="Arial"/>
              </a:rPr>
              <a:t>JAN 28</a:t>
            </a:r>
            <a:endParaRPr lang="en-US" sz="1150" b="0" u="none" strike="noStrike">
              <a:solidFill>
                <a:srgbClr val="000000"/>
              </a:solidFill>
              <a:effectLst/>
              <a:uFillTx/>
              <a:latin typeface="Arial"/>
            </a:endParaRPr>
          </a:p>
        </p:txBody>
      </p:sp>
      <p:sp>
        <p:nvSpPr>
          <p:cNvPr id="457" name="eyebrow"/>
          <p:cNvSpPr/>
          <p:nvPr/>
        </p:nvSpPr>
        <p:spPr>
          <a:xfrm>
            <a:off x="7278480" y="4590360"/>
            <a:ext cx="228564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5E6B65"/>
                </a:solidFill>
                <a:effectLst/>
                <a:uFillTx/>
                <a:latin typeface="Arial"/>
              </a:rPr>
              <a:t>JAN 29</a:t>
            </a:r>
            <a:endParaRPr lang="en-US" sz="1150" b="0" u="none" strike="noStrike">
              <a:solidFill>
                <a:srgbClr val="000000"/>
              </a:solidFill>
              <a:effectLst/>
              <a:uFillTx/>
              <a:latin typeface="Arial"/>
            </a:endParaRPr>
          </a:p>
        </p:txBody>
      </p:sp>
      <p:sp>
        <p:nvSpPr>
          <p:cNvPr id="458" name="cash shortage"/>
          <p:cNvSpPr/>
          <p:nvPr/>
        </p:nvSpPr>
        <p:spPr>
          <a:xfrm>
            <a:off x="4087440" y="5367600"/>
            <a:ext cx="2413800" cy="60300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1" u="none" strike="noStrike">
                <a:solidFill>
                  <a:srgbClr val="17302B"/>
                </a:solidFill>
                <a:effectLst/>
                <a:uFillTx/>
                <a:latin typeface="Arial"/>
              </a:rPr>
              <a:t>“Not enough cash”</a:t>
            </a:r>
            <a:endParaRPr lang="en-US" sz="1700" b="0" u="none" strike="noStrike">
              <a:solidFill>
                <a:srgbClr val="000000"/>
              </a:solidFill>
              <a:effectLst/>
              <a:uFillTx/>
              <a:latin typeface="Arial"/>
            </a:endParaRPr>
          </a:p>
        </p:txBody>
      </p:sp>
      <p:sp>
        <p:nvSpPr>
          <p:cNvPr id="459" name="next day funding"/>
          <p:cNvSpPr/>
          <p:nvPr/>
        </p:nvSpPr>
        <p:spPr>
          <a:xfrm>
            <a:off x="7278480" y="5367600"/>
            <a:ext cx="2239920" cy="60300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1" u="none" strike="noStrike">
                <a:solidFill>
                  <a:srgbClr val="2F7358"/>
                </a:solidFill>
                <a:effectLst/>
                <a:uFillTx/>
                <a:latin typeface="Arial"/>
              </a:rPr>
              <a:t>$1bn raised</a:t>
            </a:r>
            <a:endParaRPr lang="en-US" sz="2200" b="0" u="none" strike="noStrike">
              <a:solidFill>
                <a:srgbClr val="000000"/>
              </a:solidFill>
              <a:effectLst/>
              <a:uFillTx/>
              <a:latin typeface="Arial"/>
            </a:endParaRPr>
          </a:p>
        </p:txBody>
      </p:sp>
      <p:sp>
        <p:nvSpPr>
          <p:cNvPr id="460" name="contingency planning critique"/>
          <p:cNvSpPr/>
          <p:nvPr/>
        </p:nvSpPr>
        <p:spPr>
          <a:xfrm>
            <a:off x="9546480" y="4818960"/>
            <a:ext cx="1919880" cy="813600"/>
          </a:xfrm>
          <a:prstGeom prst="rect">
            <a:avLst/>
          </a:prstGeom>
          <a:noFill/>
          <a:ln w="0">
            <a:noFill/>
          </a:ln>
        </p:spPr>
        <p:style>
          <a:lnRef idx="0"/>
          <a:fillRef idx="0"/>
          <a:effectRef idx="0"/>
          <a:fontRef idx="minor"/>
        </p:style>
        <p:txBody>
          <a:bodyPr lIns="0" tIns="13320" rIns="0" bIns="0" anchor="t">
            <a:noAutofit/>
          </a:bodyPr>
          <a:p>
            <a:pPr defTabSz="457200">
              <a:lnSpc>
                <a:spcPts val="1976"/>
              </a:lnSpc>
            </a:pPr>
            <a:r>
              <a:rPr lang="en-US" sz="1750" b="1" u="none" strike="noStrike">
                <a:solidFill>
                  <a:srgbClr val="17302B"/>
                </a:solidFill>
                <a:effectLst/>
                <a:uFillTx/>
                <a:latin typeface="Arial"/>
              </a:rPr>
              <a:t>Our critique:</a:t>
            </a:r>
            <a:endParaRPr lang="en-US" sz="1750" b="0" u="none" strike="noStrike">
              <a:solidFill>
                <a:srgbClr val="000000"/>
              </a:solidFill>
              <a:effectLst/>
              <a:uFillTx/>
              <a:latin typeface="Arial"/>
            </a:endParaRPr>
          </a:p>
          <a:p>
            <a:pPr defTabSz="457200">
              <a:lnSpc>
                <a:spcPts val="1976"/>
              </a:lnSpc>
            </a:pPr>
            <a:r>
              <a:rPr lang="en-US" sz="1750" b="1" u="none" strike="noStrike">
                <a:solidFill>
                  <a:srgbClr val="17302B"/>
                </a:solidFill>
                <a:effectLst/>
                <a:uFillTx/>
                <a:latin typeface="Arial"/>
              </a:rPr>
              <a:t>customers paid</a:t>
            </a:r>
            <a:endParaRPr lang="en-US" sz="1750" b="0" u="none" strike="noStrike">
              <a:solidFill>
                <a:srgbClr val="000000"/>
              </a:solidFill>
              <a:effectLst/>
              <a:uFillTx/>
              <a:latin typeface="Arial"/>
            </a:endParaRPr>
          </a:p>
          <a:p>
            <a:pPr defTabSz="457200">
              <a:lnSpc>
                <a:spcPts val="1976"/>
              </a:lnSpc>
            </a:pPr>
            <a:r>
              <a:rPr lang="en-US" sz="1750" b="1" u="none" strike="noStrike">
                <a:solidFill>
                  <a:srgbClr val="17302B"/>
                </a:solidFill>
                <a:effectLst/>
                <a:uFillTx/>
                <a:latin typeface="Arial"/>
              </a:rPr>
              <a:t>the price.</a:t>
            </a:r>
            <a:endParaRPr lang="en-US" sz="1750" b="0" u="none" strike="noStrike">
              <a:solidFill>
                <a:srgbClr val="000000"/>
              </a:solidFill>
              <a:effectLst/>
              <a:uFillTx/>
              <a:latin typeface="Arial"/>
            </a:endParaRPr>
          </a:p>
        </p:txBody>
      </p:sp>
      <p:sp>
        <p:nvSpPr>
          <p:cNvPr id="461" name="conclusion mark"/>
          <p:cNvSpPr/>
          <p:nvPr/>
        </p:nvSpPr>
        <p:spPr>
          <a:xfrm>
            <a:off x="658440" y="5980320"/>
            <a:ext cx="50040" cy="365400"/>
          </a:xfrm>
          <a:prstGeom prst="rect">
            <a:avLst/>
          </a:prstGeom>
          <a:solidFill>
            <a:srgbClr val="B13F36"/>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62" name="takeaway"/>
          <p:cNvSpPr/>
          <p:nvPr/>
        </p:nvSpPr>
        <p:spPr>
          <a:xfrm>
            <a:off x="877680" y="5952600"/>
            <a:ext cx="10560960" cy="493560"/>
          </a:xfrm>
          <a:prstGeom prst="rect">
            <a:avLst/>
          </a:prstGeom>
          <a:noFill/>
          <a:ln w="0">
            <a:noFill/>
          </a:ln>
        </p:spPr>
        <p:style>
          <a:lnRef idx="0"/>
          <a:fillRef idx="0"/>
          <a:effectRef idx="0"/>
          <a:fontRef idx="minor"/>
        </p:style>
        <p:txBody>
          <a:bodyPr lIns="0" tIns="14040" rIns="0" bIns="0" anchor="t">
            <a:noAutofit/>
          </a:bodyPr>
          <a:p>
            <a:pPr defTabSz="457200">
              <a:lnSpc>
                <a:spcPts val="2035"/>
              </a:lnSpc>
            </a:pPr>
            <a:r>
              <a:rPr lang="en-US" sz="1850" b="1" u="none" strike="noStrike">
                <a:solidFill>
                  <a:srgbClr val="17302B"/>
                </a:solidFill>
                <a:effectLst/>
                <a:uFillTx/>
                <a:latin typeface="Arial"/>
              </a:rPr>
              <a:t>Our verdict: not justified from the retail investor perspective.</a:t>
            </a:r>
            <a:endParaRPr lang="en-US" sz="1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A"/>
        </a:solidFill>
      </p:bgPr>
    </p:bg>
    <p:spTree>
      <p:nvGrpSpPr>
        <p:cNvPr id="1" name=""/>
        <p:cNvGrpSpPr/>
        <p:nvPr/>
      </p:nvGrpSpPr>
      <p:grpSpPr>
        <a:xfrm>
          <a:off x="0" y="0"/>
          <a:ext cx="0" cy="0"/>
          <a:chOff x="0" y="0"/>
          <a:chExt cx="0" cy="0"/>
        </a:xfrm>
      </p:grpSpPr>
      <p:cxnSp>
        <p:nvCxnSpPr>
          <p:cNvPr id="463" name="footer rule"/>
          <p:cNvCxnSpPr/>
          <p:nvPr/>
        </p:nvCxnSpPr>
        <p:spPr>
          <a:xfrm>
            <a:off x="658080" y="6373080"/>
            <a:ext cx="10872720" cy="360"/>
          </a:xfrm>
          <a:prstGeom prst="straightConnector1">
            <a:avLst/>
          </a:prstGeom>
          <a:ln w="7620">
            <a:solidFill>
              <a:srgbClr val="D4DDD6"/>
            </a:solidFill>
            <a:round/>
          </a:ln>
        </p:spPr>
      </p:cxnSp>
      <p:sp>
        <p:nvSpPr>
          <p:cNvPr id="464"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465" name="speaker footer"/>
          <p:cNvSpPr/>
          <p:nvPr/>
        </p:nvSpPr>
        <p:spPr>
          <a:xfrm>
            <a:off x="7223760" y="6473880"/>
            <a:ext cx="3474360" cy="182520"/>
          </a:xfrm>
          <a:prstGeom prst="rect">
            <a:avLst/>
          </a:prstGeom>
          <a:noFill/>
          <a:ln w="0">
            <a:noFill/>
          </a:ln>
        </p:spPr>
        <p:style>
          <a:lnRef idx="0"/>
          <a:fillRef idx="0"/>
          <a:effectRef idx="0"/>
          <a:fontRef idx="minor"/>
        </p:style>
        <p:txBody>
          <a:bodyPr lIns="0" tIns="7200" rIns="0" bIns="0" anchor="t">
            <a:noAutofit/>
          </a:bodyPr>
          <a:p>
            <a:pPr algn="r" defTabSz="457200">
              <a:lnSpc>
                <a:spcPts val="1074"/>
              </a:lnSpc>
            </a:pPr>
            <a:r>
              <a:rPr lang="en-US" sz="950" b="0" u="none" strike="noStrike">
                <a:solidFill>
                  <a:srgbClr val="5E6B65"/>
                </a:solidFill>
                <a:effectLst/>
                <a:uFillTx/>
                <a:latin typeface="Arial"/>
              </a:rPr>
              <a:t>Guo Jing</a:t>
            </a:r>
            <a:endParaRPr lang="en-US" sz="950" b="0" u="none" strike="noStrike">
              <a:solidFill>
                <a:srgbClr val="000000"/>
              </a:solidFill>
              <a:effectLst/>
              <a:uFillTx/>
              <a:latin typeface="Arial"/>
            </a:endParaRPr>
          </a:p>
        </p:txBody>
      </p:sp>
      <p:sp>
        <p:nvSpPr>
          <p:cNvPr id="466"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14 / 18</a:t>
            </a:r>
            <a:endParaRPr lang="en-US" sz="1000" b="0" u="none" strike="noStrike">
              <a:solidFill>
                <a:srgbClr val="000000"/>
              </a:solidFill>
              <a:effectLst/>
              <a:uFillTx/>
              <a:latin typeface="Arial"/>
            </a:endParaRPr>
          </a:p>
        </p:txBody>
      </p:sp>
      <p:sp>
        <p:nvSpPr>
          <p:cNvPr id="467"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6D5A99"/>
                </a:solidFill>
                <a:effectLst/>
                <a:uFillTx/>
                <a:latin typeface="Arial"/>
              </a:rPr>
              <a:t>Q4 / PLATFORM DESIGN</a:t>
            </a:r>
            <a:endParaRPr lang="en-US" sz="1150" b="0" u="none" strike="noStrike">
              <a:solidFill>
                <a:srgbClr val="000000"/>
              </a:solidFill>
              <a:effectLst/>
              <a:uFillTx/>
              <a:latin typeface="Arial"/>
            </a:endParaRPr>
          </a:p>
        </p:txBody>
      </p:sp>
      <p:sp>
        <p:nvSpPr>
          <p:cNvPr id="468" name="slide title"/>
          <p:cNvSpPr/>
          <p:nvPr/>
        </p:nvSpPr>
        <p:spPr>
          <a:xfrm>
            <a:off x="658440" y="859680"/>
            <a:ext cx="10835280" cy="676440"/>
          </a:xfrm>
          <a:prstGeom prst="rect">
            <a:avLst/>
          </a:prstGeom>
          <a:noFill/>
          <a:ln w="0">
            <a:noFill/>
          </a:ln>
        </p:spPr>
        <p:style>
          <a:lnRef idx="0"/>
          <a:fillRef idx="0"/>
          <a:effectRef idx="0"/>
          <a:fontRef idx="minor"/>
        </p:style>
        <p:txBody>
          <a:bodyPr lIns="0" tIns="25200" rIns="0" bIns="0" anchor="t">
            <a:noAutofit/>
          </a:bodyPr>
          <a:p>
            <a:pPr defTabSz="457200">
              <a:lnSpc>
                <a:spcPts val="3532"/>
              </a:lnSpc>
            </a:pPr>
            <a:r>
              <a:rPr lang="en-US" sz="3300" b="1" u="none" strike="noStrike">
                <a:solidFill>
                  <a:srgbClr val="17302B"/>
                </a:solidFill>
                <a:effectLst/>
                <a:uFillTx/>
                <a:latin typeface="Arial"/>
              </a:rPr>
              <a:t>Gamification lowered the barriers to trading</a:t>
            </a:r>
            <a:endParaRPr lang="en-US" sz="3300" b="0" u="none" strike="noStrike">
              <a:solidFill>
                <a:srgbClr val="000000"/>
              </a:solidFill>
              <a:effectLst/>
              <a:uFillTx/>
              <a:latin typeface="Arial"/>
            </a:endParaRPr>
          </a:p>
        </p:txBody>
      </p:sp>
      <p:sp>
        <p:nvSpPr>
          <p:cNvPr id="469"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Lower barriers expanded participation—and reduced the perceived cost of risk.</a:t>
            </a:r>
            <a:endParaRPr lang="en-US" sz="1700" b="0" u="none" strike="noStrike">
              <a:solidFill>
                <a:srgbClr val="000000"/>
              </a:solidFill>
              <a:effectLst/>
              <a:uFillTx/>
              <a:latin typeface="Arial"/>
            </a:endParaRPr>
          </a:p>
        </p:txBody>
      </p:sp>
      <p:sp>
        <p:nvSpPr>
          <p:cNvPr id="470" name="illustrative phone"/>
          <p:cNvSpPr/>
          <p:nvPr/>
        </p:nvSpPr>
        <p:spPr>
          <a:xfrm>
            <a:off x="713160" y="2176200"/>
            <a:ext cx="2788560" cy="3318840"/>
          </a:xfrm>
          <a:prstGeom prst="roundRect">
            <a:avLst>
              <a:gd name="adj" fmla="val 12000"/>
            </a:avLst>
          </a:prstGeom>
          <a:solidFill>
            <a:srgbClr val="FFFFFF"/>
          </a:solidFill>
          <a:ln w="15240">
            <a:solidFill>
              <a:srgbClr val="17302B"/>
            </a:solidFill>
            <a:round/>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71" name="interface annotation"/>
          <p:cNvSpPr/>
          <p:nvPr/>
        </p:nvSpPr>
        <p:spPr>
          <a:xfrm>
            <a:off x="951120" y="1965960"/>
            <a:ext cx="2377080" cy="182520"/>
          </a:xfrm>
          <a:prstGeom prst="rect">
            <a:avLst/>
          </a:prstGeom>
          <a:noFill/>
          <a:ln w="0">
            <a:noFill/>
          </a:ln>
        </p:spPr>
        <p:style>
          <a:lnRef idx="0"/>
          <a:fillRef idx="0"/>
          <a:effectRef idx="0"/>
          <a:fontRef idx="minor"/>
        </p:style>
        <p:txBody>
          <a:bodyPr lIns="0" tIns="7920" rIns="0" bIns="0" anchor="t">
            <a:noAutofit/>
          </a:bodyPr>
          <a:p>
            <a:pPr defTabSz="457200">
              <a:lnSpc>
                <a:spcPts val="1185"/>
              </a:lnSpc>
            </a:pPr>
            <a:r>
              <a:rPr lang="en-US" sz="1050" b="0" u="none" strike="noStrike">
                <a:solidFill>
                  <a:srgbClr val="5E6B65"/>
                </a:solidFill>
                <a:effectLst/>
                <a:uFillTx/>
                <a:latin typeface="Arial"/>
              </a:rPr>
              <a:t>Illustrative mobile interface</a:t>
            </a:r>
            <a:endParaRPr lang="en-US" sz="1050" b="0" u="none" strike="noStrike">
              <a:solidFill>
                <a:srgbClr val="000000"/>
              </a:solidFill>
              <a:effectLst/>
              <a:uFillTx/>
              <a:latin typeface="Arial"/>
            </a:endParaRPr>
          </a:p>
        </p:txBody>
      </p:sp>
      <p:sp>
        <p:nvSpPr>
          <p:cNvPr id="472" name="phone speaker"/>
          <p:cNvSpPr/>
          <p:nvPr/>
        </p:nvSpPr>
        <p:spPr>
          <a:xfrm>
            <a:off x="1691640" y="2295000"/>
            <a:ext cx="831600" cy="63720"/>
          </a:xfrm>
          <a:prstGeom prst="roundRect">
            <a:avLst>
              <a:gd name="adj" fmla="val 12000"/>
            </a:avLst>
          </a:prstGeom>
          <a:solidFill>
            <a:srgbClr val="17302B"/>
          </a:solidFill>
          <a:ln>
            <a:noFill/>
          </a:ln>
        </p:spPr>
        <p:style>
          <a:lnRef idx="1">
            <a:schemeClr val="accent1"/>
          </a:lnRef>
          <a:fillRef idx="3">
            <a:schemeClr val="accent1"/>
          </a:fillRef>
          <a:effectRef idx="0">
            <a:schemeClr val="accent1"/>
          </a:effectRef>
          <a:fontRef idx="minor"/>
        </p:style>
        <p:txBody>
          <a:bodyPr lIns="90000" tIns="14400" rIns="90000" bIns="14400" anchor="ctr">
            <a:noAutofit/>
          </a:bodyPr>
          <a:p>
            <a:pPr/>
            <a:endParaRPr lang="en-US" sz="1800" b="0" u="none" strike="noStrike">
              <a:solidFill>
                <a:schemeClr val="lt1"/>
              </a:solidFill>
              <a:effectLst/>
              <a:uFillTx/>
              <a:latin typeface="Calibri"/>
            </a:endParaRPr>
          </a:p>
        </p:txBody>
      </p:sp>
      <p:sp>
        <p:nvSpPr>
          <p:cNvPr id="473" name="phone ticker"/>
          <p:cNvSpPr/>
          <p:nvPr/>
        </p:nvSpPr>
        <p:spPr>
          <a:xfrm>
            <a:off x="932760" y="2532960"/>
            <a:ext cx="1371240" cy="319680"/>
          </a:xfrm>
          <a:prstGeom prst="rect">
            <a:avLst/>
          </a:prstGeom>
          <a:noFill/>
          <a:ln w="0">
            <a:noFill/>
          </a:ln>
        </p:spPr>
        <p:style>
          <a:lnRef idx="0"/>
          <a:fillRef idx="0"/>
          <a:effectRef idx="0"/>
          <a:fontRef idx="minor"/>
        </p:style>
        <p:txBody>
          <a:bodyPr lIns="0" tIns="14400" rIns="0" bIns="0" anchor="t">
            <a:noAutofit/>
          </a:bodyPr>
          <a:p>
            <a:pPr defTabSz="457200">
              <a:lnSpc>
                <a:spcPts val="2146"/>
              </a:lnSpc>
            </a:pPr>
            <a:r>
              <a:rPr lang="en-US" sz="1900" b="1" u="none" strike="noStrike">
                <a:solidFill>
                  <a:srgbClr val="17302B"/>
                </a:solidFill>
                <a:effectLst/>
                <a:uFillTx/>
                <a:latin typeface="Arial"/>
              </a:rPr>
              <a:t>GME</a:t>
            </a:r>
            <a:endParaRPr lang="en-US" sz="1900" b="0" u="none" strike="noStrike">
              <a:solidFill>
                <a:srgbClr val="000000"/>
              </a:solidFill>
              <a:effectLst/>
              <a:uFillTx/>
              <a:latin typeface="Arial"/>
            </a:endParaRPr>
          </a:p>
        </p:txBody>
      </p:sp>
      <p:sp>
        <p:nvSpPr>
          <p:cNvPr id="474" name="zero commission"/>
          <p:cNvSpPr/>
          <p:nvPr/>
        </p:nvSpPr>
        <p:spPr>
          <a:xfrm>
            <a:off x="2267640" y="2578680"/>
            <a:ext cx="1032840" cy="219240"/>
          </a:xfrm>
          <a:prstGeom prst="rect">
            <a:avLst/>
          </a:prstGeom>
          <a:noFill/>
          <a:ln w="0">
            <a:noFill/>
          </a:ln>
        </p:spPr>
        <p:style>
          <a:lnRef idx="0"/>
          <a:fillRef idx="0"/>
          <a:effectRef idx="0"/>
          <a:fontRef idx="minor"/>
        </p:style>
        <p:txBody>
          <a:bodyPr lIns="0" tIns="8280" rIns="0" bIns="0" anchor="t">
            <a:noAutofit/>
          </a:bodyPr>
          <a:p>
            <a:pPr algn="r" defTabSz="457200">
              <a:lnSpc>
                <a:spcPts val="1244"/>
              </a:lnSpc>
            </a:pPr>
            <a:r>
              <a:rPr lang="en-US" sz="1100" b="1" u="none" strike="noStrike">
                <a:solidFill>
                  <a:srgbClr val="6D5A99"/>
                </a:solidFill>
                <a:effectLst/>
                <a:uFillTx/>
                <a:latin typeface="Arial"/>
              </a:rPr>
              <a:t>$0 commission</a:t>
            </a:r>
            <a:endParaRPr lang="en-US" sz="1100" b="0" u="none" strike="noStrike">
              <a:solidFill>
                <a:srgbClr val="000000"/>
              </a:solidFill>
              <a:effectLst/>
              <a:uFillTx/>
              <a:latin typeface="Arial"/>
            </a:endParaRPr>
          </a:p>
        </p:txBody>
      </p:sp>
      <p:sp>
        <p:nvSpPr>
          <p:cNvPr id="475" name="illustrative chart surface"/>
          <p:cNvSpPr/>
          <p:nvPr/>
        </p:nvSpPr>
        <p:spPr>
          <a:xfrm>
            <a:off x="932760" y="3026520"/>
            <a:ext cx="2368080" cy="923040"/>
          </a:xfrm>
          <a:prstGeom prst="rect">
            <a:avLst/>
          </a:prstGeom>
          <a:solidFill>
            <a:srgbClr val="EEEAF4"/>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cxnSp>
        <p:nvCxnSpPr>
          <p:cNvPr id="476" name="illustrative app chart"/>
          <p:cNvCxnSpPr/>
          <p:nvPr/>
        </p:nvCxnSpPr>
        <p:spPr>
          <a:xfrm flipV="1">
            <a:off x="1087920" y="3602520"/>
            <a:ext cx="347760" cy="146520"/>
          </a:xfrm>
          <a:prstGeom prst="straightConnector1">
            <a:avLst/>
          </a:prstGeom>
          <a:ln>
            <a:solidFill>
              <a:srgbClr val="6D5A99"/>
            </a:solidFill>
            <a:round/>
          </a:ln>
        </p:spPr>
      </p:cxnSp>
      <p:cxnSp>
        <p:nvCxnSpPr>
          <p:cNvPr id="477" name="illustrative app chart"/>
          <p:cNvCxnSpPr/>
          <p:nvPr/>
        </p:nvCxnSpPr>
        <p:spPr>
          <a:xfrm>
            <a:off x="1435320" y="3602520"/>
            <a:ext cx="338760" cy="73440"/>
          </a:xfrm>
          <a:prstGeom prst="straightConnector1">
            <a:avLst/>
          </a:prstGeom>
          <a:ln>
            <a:solidFill>
              <a:srgbClr val="6D5A99"/>
            </a:solidFill>
            <a:round/>
          </a:ln>
        </p:spPr>
      </p:cxnSp>
      <p:cxnSp>
        <p:nvCxnSpPr>
          <p:cNvPr id="478" name="illustrative app chart"/>
          <p:cNvCxnSpPr/>
          <p:nvPr/>
        </p:nvCxnSpPr>
        <p:spPr>
          <a:xfrm flipV="1">
            <a:off x="1773720" y="3364920"/>
            <a:ext cx="329760" cy="311040"/>
          </a:xfrm>
          <a:prstGeom prst="straightConnector1">
            <a:avLst/>
          </a:prstGeom>
          <a:ln>
            <a:solidFill>
              <a:srgbClr val="6D5A99"/>
            </a:solidFill>
            <a:round/>
          </a:ln>
        </p:spPr>
      </p:cxnSp>
      <p:cxnSp>
        <p:nvCxnSpPr>
          <p:cNvPr id="479" name="illustrative app chart"/>
          <p:cNvCxnSpPr/>
          <p:nvPr/>
        </p:nvCxnSpPr>
        <p:spPr>
          <a:xfrm>
            <a:off x="2103120" y="3364920"/>
            <a:ext cx="347760" cy="119160"/>
          </a:xfrm>
          <a:prstGeom prst="straightConnector1">
            <a:avLst/>
          </a:prstGeom>
          <a:ln>
            <a:solidFill>
              <a:srgbClr val="6D5A99"/>
            </a:solidFill>
            <a:round/>
          </a:ln>
        </p:spPr>
      </p:cxnSp>
      <p:cxnSp>
        <p:nvCxnSpPr>
          <p:cNvPr id="480" name="illustrative app chart"/>
          <p:cNvCxnSpPr/>
          <p:nvPr/>
        </p:nvCxnSpPr>
        <p:spPr>
          <a:xfrm flipV="1">
            <a:off x="2450520" y="3218400"/>
            <a:ext cx="320400" cy="265680"/>
          </a:xfrm>
          <a:prstGeom prst="straightConnector1">
            <a:avLst/>
          </a:prstGeom>
          <a:ln>
            <a:solidFill>
              <a:srgbClr val="6D5A99"/>
            </a:solidFill>
            <a:round/>
          </a:ln>
        </p:spPr>
      </p:cxnSp>
      <p:cxnSp>
        <p:nvCxnSpPr>
          <p:cNvPr id="481" name="illustrative app chart"/>
          <p:cNvCxnSpPr/>
          <p:nvPr/>
        </p:nvCxnSpPr>
        <p:spPr>
          <a:xfrm flipV="1">
            <a:off x="2770560" y="3126960"/>
            <a:ext cx="356760" cy="91800"/>
          </a:xfrm>
          <a:prstGeom prst="straightConnector1">
            <a:avLst/>
          </a:prstGeom>
          <a:ln>
            <a:solidFill>
              <a:srgbClr val="6D5A99"/>
            </a:solidFill>
            <a:round/>
          </a:ln>
        </p:spPr>
      </p:cxnSp>
      <p:sp>
        <p:nvSpPr>
          <p:cNvPr id="482" name="buy button"/>
          <p:cNvSpPr/>
          <p:nvPr/>
        </p:nvSpPr>
        <p:spPr>
          <a:xfrm>
            <a:off x="932760" y="4178880"/>
            <a:ext cx="987120" cy="347040"/>
          </a:xfrm>
          <a:prstGeom prst="roundRect">
            <a:avLst>
              <a:gd name="adj" fmla="val 12000"/>
            </a:avLst>
          </a:prstGeom>
          <a:solidFill>
            <a:srgbClr val="6D5A99"/>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83" name="buy label"/>
          <p:cNvSpPr/>
          <p:nvPr/>
        </p:nvSpPr>
        <p:spPr>
          <a:xfrm>
            <a:off x="932760" y="4270320"/>
            <a:ext cx="987120" cy="182520"/>
          </a:xfrm>
          <a:prstGeom prst="rect">
            <a:avLst/>
          </a:prstGeom>
          <a:noFill/>
          <a:ln w="0">
            <a:noFill/>
          </a:ln>
        </p:spPr>
        <p:style>
          <a:lnRef idx="0"/>
          <a:fillRef idx="0"/>
          <a:effectRef idx="0"/>
          <a:fontRef idx="minor"/>
        </p:style>
        <p:txBody>
          <a:bodyPr lIns="0" tIns="7920" rIns="0" bIns="0" anchor="t">
            <a:noAutofit/>
          </a:bodyPr>
          <a:p>
            <a:pPr algn="ctr" defTabSz="457200">
              <a:lnSpc>
                <a:spcPts val="1185"/>
              </a:lnSpc>
            </a:pPr>
            <a:r>
              <a:rPr lang="en-US" sz="1050" b="1" u="none" strike="noStrike">
                <a:solidFill>
                  <a:srgbClr val="FFFFFF"/>
                </a:solidFill>
                <a:effectLst/>
                <a:uFillTx/>
                <a:latin typeface="Arial"/>
              </a:rPr>
              <a:t>BUY</a:t>
            </a:r>
            <a:endParaRPr lang="en-US" sz="1050" b="0" u="none" strike="noStrike">
              <a:solidFill>
                <a:srgbClr val="000000"/>
              </a:solidFill>
              <a:effectLst/>
              <a:uFillTx/>
              <a:latin typeface="Arial"/>
            </a:endParaRPr>
          </a:p>
        </p:txBody>
      </p:sp>
      <p:sp>
        <p:nvSpPr>
          <p:cNvPr id="484" name="options button"/>
          <p:cNvSpPr/>
          <p:nvPr/>
        </p:nvSpPr>
        <p:spPr>
          <a:xfrm>
            <a:off x="2103120" y="4178880"/>
            <a:ext cx="1197360" cy="347040"/>
          </a:xfrm>
          <a:prstGeom prst="roundRect">
            <a:avLst>
              <a:gd name="adj" fmla="val 12000"/>
            </a:avLst>
          </a:prstGeom>
          <a:solidFill>
            <a:srgbClr val="EAF2EC"/>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85" name="options label"/>
          <p:cNvSpPr/>
          <p:nvPr/>
        </p:nvSpPr>
        <p:spPr>
          <a:xfrm>
            <a:off x="2103120" y="4270320"/>
            <a:ext cx="1197360" cy="182520"/>
          </a:xfrm>
          <a:prstGeom prst="rect">
            <a:avLst/>
          </a:prstGeom>
          <a:noFill/>
          <a:ln w="0">
            <a:noFill/>
          </a:ln>
        </p:spPr>
        <p:style>
          <a:lnRef idx="0"/>
          <a:fillRef idx="0"/>
          <a:effectRef idx="0"/>
          <a:fontRef idx="minor"/>
        </p:style>
        <p:txBody>
          <a:bodyPr lIns="0" tIns="7920" rIns="0" bIns="0" anchor="t">
            <a:noAutofit/>
          </a:bodyPr>
          <a:p>
            <a:pPr algn="ctr" defTabSz="457200">
              <a:lnSpc>
                <a:spcPts val="1185"/>
              </a:lnSpc>
            </a:pPr>
            <a:r>
              <a:rPr lang="en-US" sz="1050" b="1" u="none" strike="noStrike">
                <a:solidFill>
                  <a:srgbClr val="2F7358"/>
                </a:solidFill>
                <a:effectLst/>
                <a:uFillTx/>
                <a:latin typeface="Arial"/>
              </a:rPr>
              <a:t>OPTIONS</a:t>
            </a:r>
            <a:endParaRPr lang="en-US" sz="1050" b="0" u="none" strike="noStrike">
              <a:solidFill>
                <a:srgbClr val="000000"/>
              </a:solidFill>
              <a:effectLst/>
              <a:uFillTx/>
              <a:latin typeface="Arial"/>
            </a:endParaRPr>
          </a:p>
        </p:txBody>
      </p:sp>
      <p:sp>
        <p:nvSpPr>
          <p:cNvPr id="486" name="app features"/>
          <p:cNvSpPr/>
          <p:nvPr/>
        </p:nvSpPr>
        <p:spPr>
          <a:xfrm>
            <a:off x="932760" y="4754880"/>
            <a:ext cx="2349720" cy="639720"/>
          </a:xfrm>
          <a:prstGeom prst="rect">
            <a:avLst/>
          </a:prstGeom>
          <a:noFill/>
          <a:ln w="0">
            <a:noFill/>
          </a:ln>
        </p:spPr>
        <p:style>
          <a:lnRef idx="0"/>
          <a:fillRef idx="0"/>
          <a:effectRef idx="0"/>
          <a:fontRef idx="minor"/>
        </p:style>
        <p:txBody>
          <a:bodyPr lIns="0" tIns="10440" rIns="0" bIns="0" anchor="t">
            <a:noAutofit/>
          </a:bodyPr>
          <a:p>
            <a:pPr defTabSz="457200">
              <a:lnSpc>
                <a:spcPts val="1579"/>
              </a:lnSpc>
            </a:pPr>
            <a:r>
              <a:rPr lang="en-US" sz="1350" b="0" u="none" strike="noStrike">
                <a:solidFill>
                  <a:srgbClr val="5E6B65"/>
                </a:solidFill>
                <a:effectLst/>
                <a:uFillTx/>
                <a:latin typeface="Arial"/>
              </a:rPr>
              <a:t>Instant alerts</a:t>
            </a:r>
            <a:endParaRPr lang="en-US" sz="1350" b="0" u="none" strike="noStrike">
              <a:solidFill>
                <a:srgbClr val="000000"/>
              </a:solidFill>
              <a:effectLst/>
              <a:uFillTx/>
              <a:latin typeface="Arial"/>
            </a:endParaRPr>
          </a:p>
          <a:p>
            <a:pPr defTabSz="457200">
              <a:lnSpc>
                <a:spcPts val="1579"/>
              </a:lnSpc>
            </a:pPr>
            <a:r>
              <a:rPr lang="en-US" sz="1350" b="0" u="none" strike="noStrike">
                <a:solidFill>
                  <a:srgbClr val="5E6B65"/>
                </a:solidFill>
                <a:effectLst/>
                <a:uFillTx/>
                <a:latin typeface="Arial"/>
              </a:rPr>
              <a:t>One-tap trades · simple</a:t>
            </a:r>
            <a:endParaRPr lang="en-US" sz="1350" b="0" u="none" strike="noStrike">
              <a:solidFill>
                <a:srgbClr val="000000"/>
              </a:solidFill>
              <a:effectLst/>
              <a:uFillTx/>
              <a:latin typeface="Arial"/>
            </a:endParaRPr>
          </a:p>
          <a:p>
            <a:pPr defTabSz="457200">
              <a:lnSpc>
                <a:spcPts val="1579"/>
              </a:lnSpc>
            </a:pPr>
            <a:r>
              <a:rPr lang="en-US" sz="1350" b="0" u="none" strike="noStrike">
                <a:solidFill>
                  <a:srgbClr val="5E6B65"/>
                </a:solidFill>
                <a:effectLst/>
                <a:uFillTx/>
                <a:latin typeface="Arial"/>
              </a:rPr>
              <a:t>mobile UI</a:t>
            </a:r>
            <a:endParaRPr lang="en-US" sz="1350" b="0" u="none" strike="noStrike">
              <a:solidFill>
                <a:srgbClr val="000000"/>
              </a:solidFill>
              <a:effectLst/>
              <a:uFillTx/>
              <a:latin typeface="Arial"/>
            </a:endParaRPr>
          </a:p>
        </p:txBody>
      </p:sp>
      <p:sp>
        <p:nvSpPr>
          <p:cNvPr id="487" name="circle"/>
          <p:cNvSpPr/>
          <p:nvPr/>
        </p:nvSpPr>
        <p:spPr>
          <a:xfrm>
            <a:off x="4242960" y="2377440"/>
            <a:ext cx="402120" cy="402120"/>
          </a:xfrm>
          <a:prstGeom prst="ellipse">
            <a:avLst/>
          </a:prstGeom>
          <a:noFill/>
          <a:ln w="12700">
            <a:solidFill>
              <a:srgbClr val="6D5A99"/>
            </a:solidFill>
            <a:round/>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cxnSp>
        <p:nvCxnSpPr>
          <p:cNvPr id="488" name="connector"/>
          <p:cNvCxnSpPr/>
          <p:nvPr/>
        </p:nvCxnSpPr>
        <p:spPr>
          <a:xfrm flipV="1">
            <a:off x="4288320" y="2413800"/>
            <a:ext cx="311400" cy="329760"/>
          </a:xfrm>
          <a:prstGeom prst="straightConnector1">
            <a:avLst/>
          </a:prstGeom>
          <a:ln w="17780">
            <a:solidFill>
              <a:srgbClr val="6D5A99"/>
            </a:solidFill>
            <a:round/>
          </a:ln>
        </p:spPr>
      </p:cxnSp>
      <p:sp>
        <p:nvSpPr>
          <p:cNvPr id="489" name="low friction feature"/>
          <p:cNvSpPr/>
          <p:nvPr/>
        </p:nvSpPr>
        <p:spPr>
          <a:xfrm>
            <a:off x="4818960" y="2340720"/>
            <a:ext cx="1554120" cy="658080"/>
          </a:xfrm>
          <a:prstGeom prst="rect">
            <a:avLst/>
          </a:prstGeom>
          <a:noFill/>
          <a:ln w="0">
            <a:noFill/>
          </a:ln>
        </p:spPr>
        <p:style>
          <a:lnRef idx="0"/>
          <a:fillRef idx="0"/>
          <a:effectRef idx="0"/>
          <a:fontRef idx="minor"/>
        </p:style>
        <p:txBody>
          <a:bodyPr lIns="0" tIns="14040" rIns="0" bIns="0" anchor="t">
            <a:noAutofit/>
          </a:bodyPr>
          <a:p>
            <a:pPr defTabSz="457200">
              <a:lnSpc>
                <a:spcPts val="2126"/>
              </a:lnSpc>
            </a:pPr>
            <a:r>
              <a:rPr lang="en-US" sz="1850" b="1" u="none" strike="noStrike">
                <a:solidFill>
                  <a:srgbClr val="17302B"/>
                </a:solidFill>
                <a:effectLst/>
                <a:uFillTx/>
                <a:latin typeface="Arial"/>
              </a:rPr>
              <a:t>Zero</a:t>
            </a:r>
            <a:endParaRPr lang="en-US" sz="1850" b="0" u="none" strike="noStrike">
              <a:solidFill>
                <a:srgbClr val="000000"/>
              </a:solidFill>
              <a:effectLst/>
              <a:uFillTx/>
              <a:latin typeface="Arial"/>
            </a:endParaRPr>
          </a:p>
          <a:p>
            <a:pPr defTabSz="457200">
              <a:lnSpc>
                <a:spcPts val="2126"/>
              </a:lnSpc>
            </a:pPr>
            <a:r>
              <a:rPr lang="en-US" sz="1850" b="1" u="none" strike="noStrike">
                <a:solidFill>
                  <a:srgbClr val="17302B"/>
                </a:solidFill>
                <a:effectLst/>
                <a:uFillTx/>
                <a:latin typeface="Arial"/>
              </a:rPr>
              <a:t>commission</a:t>
            </a:r>
            <a:endParaRPr lang="en-US" sz="1850" b="0" u="none" strike="noStrike">
              <a:solidFill>
                <a:srgbClr val="000000"/>
              </a:solidFill>
              <a:effectLst/>
              <a:uFillTx/>
              <a:latin typeface="Arial"/>
            </a:endParaRPr>
          </a:p>
        </p:txBody>
      </p:sp>
      <p:cxnSp>
        <p:nvCxnSpPr>
          <p:cNvPr id="490" name="connector"/>
          <p:cNvCxnSpPr/>
          <p:nvPr/>
        </p:nvCxnSpPr>
        <p:spPr>
          <a:xfrm>
            <a:off x="5239440" y="3117960"/>
            <a:ext cx="360" cy="329400"/>
          </a:xfrm>
          <a:prstGeom prst="straightConnector1">
            <a:avLst/>
          </a:prstGeom>
          <a:ln w="12700">
            <a:solidFill>
              <a:srgbClr val="C0B3D3"/>
            </a:solidFill>
            <a:round/>
          </a:ln>
        </p:spPr>
      </p:cxnSp>
      <p:sp>
        <p:nvSpPr>
          <p:cNvPr id="491" name="surface"/>
          <p:cNvSpPr/>
          <p:nvPr/>
        </p:nvSpPr>
        <p:spPr>
          <a:xfrm>
            <a:off x="6867000" y="2377440"/>
            <a:ext cx="273960" cy="438480"/>
          </a:xfrm>
          <a:prstGeom prst="roundRect">
            <a:avLst>
              <a:gd name="adj" fmla="val 12000"/>
            </a:avLst>
          </a:prstGeom>
          <a:noFill/>
          <a:ln w="10160">
            <a:solidFill>
              <a:srgbClr val="6D5A99"/>
            </a:solidFill>
            <a:round/>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cxnSp>
        <p:nvCxnSpPr>
          <p:cNvPr id="492" name="connector"/>
          <p:cNvCxnSpPr/>
          <p:nvPr/>
        </p:nvCxnSpPr>
        <p:spPr>
          <a:xfrm>
            <a:off x="6940080" y="2733840"/>
            <a:ext cx="128520" cy="360"/>
          </a:xfrm>
          <a:prstGeom prst="straightConnector1">
            <a:avLst/>
          </a:prstGeom>
          <a:ln w="12700">
            <a:solidFill>
              <a:srgbClr val="6D5A99"/>
            </a:solidFill>
            <a:round/>
          </a:ln>
        </p:spPr>
      </p:cxnSp>
      <p:sp>
        <p:nvSpPr>
          <p:cNvPr id="493" name="low friction feature"/>
          <p:cNvSpPr/>
          <p:nvPr/>
        </p:nvSpPr>
        <p:spPr>
          <a:xfrm>
            <a:off x="7379280" y="2340720"/>
            <a:ext cx="1554120" cy="658080"/>
          </a:xfrm>
          <a:prstGeom prst="rect">
            <a:avLst/>
          </a:prstGeom>
          <a:noFill/>
          <a:ln w="0">
            <a:noFill/>
          </a:ln>
        </p:spPr>
        <p:style>
          <a:lnRef idx="0"/>
          <a:fillRef idx="0"/>
          <a:effectRef idx="0"/>
          <a:fontRef idx="minor"/>
        </p:style>
        <p:txBody>
          <a:bodyPr lIns="0" tIns="14040" rIns="0" bIns="0" anchor="t">
            <a:noAutofit/>
          </a:bodyPr>
          <a:p>
            <a:pPr defTabSz="457200">
              <a:lnSpc>
                <a:spcPts val="2126"/>
              </a:lnSpc>
            </a:pPr>
            <a:r>
              <a:rPr lang="en-US" sz="1850" b="1" u="none" strike="noStrike">
                <a:solidFill>
                  <a:srgbClr val="17302B"/>
                </a:solidFill>
                <a:effectLst/>
                <a:uFillTx/>
                <a:latin typeface="Arial"/>
              </a:rPr>
              <a:t>Simple</a:t>
            </a:r>
            <a:endParaRPr lang="en-US" sz="1850" b="0" u="none" strike="noStrike">
              <a:solidFill>
                <a:srgbClr val="000000"/>
              </a:solidFill>
              <a:effectLst/>
              <a:uFillTx/>
              <a:latin typeface="Arial"/>
            </a:endParaRPr>
          </a:p>
          <a:p>
            <a:pPr defTabSz="457200">
              <a:lnSpc>
                <a:spcPts val="2126"/>
              </a:lnSpc>
            </a:pPr>
            <a:r>
              <a:rPr lang="en-US" sz="1850" b="1" u="none" strike="noStrike">
                <a:solidFill>
                  <a:srgbClr val="17302B"/>
                </a:solidFill>
                <a:effectLst/>
                <a:uFillTx/>
                <a:latin typeface="Arial"/>
              </a:rPr>
              <a:t>mobile UI</a:t>
            </a:r>
            <a:endParaRPr lang="en-US" sz="1850" b="0" u="none" strike="noStrike">
              <a:solidFill>
                <a:srgbClr val="000000"/>
              </a:solidFill>
              <a:effectLst/>
              <a:uFillTx/>
              <a:latin typeface="Arial"/>
            </a:endParaRPr>
          </a:p>
        </p:txBody>
      </p:sp>
      <p:cxnSp>
        <p:nvCxnSpPr>
          <p:cNvPr id="494" name="connector"/>
          <p:cNvCxnSpPr/>
          <p:nvPr/>
        </p:nvCxnSpPr>
        <p:spPr>
          <a:xfrm>
            <a:off x="7799760" y="3117960"/>
            <a:ext cx="360" cy="329400"/>
          </a:xfrm>
          <a:prstGeom prst="straightConnector1">
            <a:avLst/>
          </a:prstGeom>
          <a:ln w="12700">
            <a:solidFill>
              <a:srgbClr val="C0B3D3"/>
            </a:solidFill>
            <a:round/>
          </a:ln>
        </p:spPr>
      </p:cxnSp>
      <p:cxnSp>
        <p:nvCxnSpPr>
          <p:cNvPr id="495" name="path"/>
          <p:cNvCxnSpPr/>
          <p:nvPr/>
        </p:nvCxnSpPr>
        <p:spPr>
          <a:xfrm flipV="1">
            <a:off x="9408960" y="2486880"/>
            <a:ext cx="46080" cy="219960"/>
          </a:xfrm>
          <a:prstGeom prst="straightConnector1">
            <a:avLst/>
          </a:prstGeom>
          <a:ln w="17780">
            <a:solidFill>
              <a:srgbClr val="6D5A99"/>
            </a:solidFill>
            <a:round/>
          </a:ln>
        </p:spPr>
      </p:cxnSp>
      <p:cxnSp>
        <p:nvCxnSpPr>
          <p:cNvPr id="496" name="path"/>
          <p:cNvCxnSpPr/>
          <p:nvPr/>
        </p:nvCxnSpPr>
        <p:spPr>
          <a:xfrm flipV="1">
            <a:off x="9454680" y="2432160"/>
            <a:ext cx="91800" cy="55080"/>
          </a:xfrm>
          <a:prstGeom prst="straightConnector1">
            <a:avLst/>
          </a:prstGeom>
          <a:ln w="17780">
            <a:solidFill>
              <a:srgbClr val="6D5A99"/>
            </a:solidFill>
            <a:round/>
          </a:ln>
        </p:spPr>
      </p:cxnSp>
      <p:cxnSp>
        <p:nvCxnSpPr>
          <p:cNvPr id="497" name="path"/>
          <p:cNvCxnSpPr/>
          <p:nvPr/>
        </p:nvCxnSpPr>
        <p:spPr>
          <a:xfrm>
            <a:off x="9546120" y="2432160"/>
            <a:ext cx="91800" cy="55080"/>
          </a:xfrm>
          <a:prstGeom prst="straightConnector1">
            <a:avLst/>
          </a:prstGeom>
          <a:ln w="17780">
            <a:solidFill>
              <a:srgbClr val="6D5A99"/>
            </a:solidFill>
            <a:round/>
          </a:ln>
        </p:spPr>
      </p:cxnSp>
      <p:cxnSp>
        <p:nvCxnSpPr>
          <p:cNvPr id="498" name="path"/>
          <p:cNvCxnSpPr/>
          <p:nvPr/>
        </p:nvCxnSpPr>
        <p:spPr>
          <a:xfrm>
            <a:off x="9637560" y="2486880"/>
            <a:ext cx="46080" cy="219960"/>
          </a:xfrm>
          <a:prstGeom prst="straightConnector1">
            <a:avLst/>
          </a:prstGeom>
          <a:ln w="17780">
            <a:solidFill>
              <a:srgbClr val="6D5A99"/>
            </a:solidFill>
            <a:round/>
          </a:ln>
        </p:spPr>
      </p:cxnSp>
      <p:cxnSp>
        <p:nvCxnSpPr>
          <p:cNvPr id="499" name="path"/>
          <p:cNvCxnSpPr/>
          <p:nvPr/>
        </p:nvCxnSpPr>
        <p:spPr>
          <a:xfrm flipH="1">
            <a:off x="9408960" y="2706480"/>
            <a:ext cx="274680" cy="360"/>
          </a:xfrm>
          <a:prstGeom prst="straightConnector1">
            <a:avLst/>
          </a:prstGeom>
          <a:ln w="17780">
            <a:solidFill>
              <a:srgbClr val="6D5A99"/>
            </a:solidFill>
            <a:round/>
          </a:ln>
        </p:spPr>
      </p:cxnSp>
      <p:sp>
        <p:nvSpPr>
          <p:cNvPr id="500" name="circle"/>
          <p:cNvSpPr/>
          <p:nvPr/>
        </p:nvSpPr>
        <p:spPr>
          <a:xfrm>
            <a:off x="9509760" y="2743200"/>
            <a:ext cx="82080" cy="63720"/>
          </a:xfrm>
          <a:prstGeom prst="ellipse">
            <a:avLst/>
          </a:prstGeom>
          <a:solidFill>
            <a:srgbClr val="6D5A99"/>
          </a:solidFill>
          <a:ln>
            <a:noFill/>
          </a:ln>
        </p:spPr>
        <p:style>
          <a:lnRef idx="1">
            <a:schemeClr val="accent1"/>
          </a:lnRef>
          <a:fillRef idx="3">
            <a:schemeClr val="accent1"/>
          </a:fillRef>
          <a:effectRef idx="0">
            <a:schemeClr val="accent1"/>
          </a:effectRef>
          <a:fontRef idx="minor"/>
        </p:style>
        <p:txBody>
          <a:bodyPr lIns="90000" tIns="0" rIns="90000" bIns="0" anchor="ctr">
            <a:noAutofit/>
          </a:bodyPr>
          <a:p>
            <a:pPr/>
            <a:endParaRPr lang="en-US" sz="1800" b="0" u="none" strike="noStrike">
              <a:solidFill>
                <a:schemeClr val="lt1"/>
              </a:solidFill>
              <a:effectLst/>
              <a:uFillTx/>
              <a:latin typeface="Calibri"/>
            </a:endParaRPr>
          </a:p>
        </p:txBody>
      </p:sp>
      <p:sp>
        <p:nvSpPr>
          <p:cNvPr id="501" name="low friction feature"/>
          <p:cNvSpPr/>
          <p:nvPr/>
        </p:nvSpPr>
        <p:spPr>
          <a:xfrm>
            <a:off x="9921240" y="2340720"/>
            <a:ext cx="1554120" cy="658080"/>
          </a:xfrm>
          <a:prstGeom prst="rect">
            <a:avLst/>
          </a:prstGeom>
          <a:noFill/>
          <a:ln w="0">
            <a:noFill/>
          </a:ln>
        </p:spPr>
        <p:style>
          <a:lnRef idx="0"/>
          <a:fillRef idx="0"/>
          <a:effectRef idx="0"/>
          <a:fontRef idx="minor"/>
        </p:style>
        <p:txBody>
          <a:bodyPr lIns="0" tIns="14040" rIns="0" bIns="0" anchor="t">
            <a:noAutofit/>
          </a:bodyPr>
          <a:p>
            <a:pPr defTabSz="457200">
              <a:lnSpc>
                <a:spcPts val="2126"/>
              </a:lnSpc>
            </a:pPr>
            <a:r>
              <a:rPr lang="en-US" sz="1850" b="1" u="none" strike="noStrike">
                <a:solidFill>
                  <a:srgbClr val="17302B"/>
                </a:solidFill>
                <a:effectLst/>
                <a:uFillTx/>
                <a:latin typeface="Arial"/>
              </a:rPr>
              <a:t>Instant</a:t>
            </a:r>
            <a:endParaRPr lang="en-US" sz="1850" b="0" u="none" strike="noStrike">
              <a:solidFill>
                <a:srgbClr val="000000"/>
              </a:solidFill>
              <a:effectLst/>
              <a:uFillTx/>
              <a:latin typeface="Arial"/>
            </a:endParaRPr>
          </a:p>
          <a:p>
            <a:pPr defTabSz="457200">
              <a:lnSpc>
                <a:spcPts val="2126"/>
              </a:lnSpc>
            </a:pPr>
            <a:r>
              <a:rPr lang="en-US" sz="1850" b="1" u="none" strike="noStrike">
                <a:solidFill>
                  <a:srgbClr val="17302B"/>
                </a:solidFill>
                <a:effectLst/>
                <a:uFillTx/>
                <a:latin typeface="Arial"/>
              </a:rPr>
              <a:t>feedback</a:t>
            </a:r>
            <a:endParaRPr lang="en-US" sz="1850" b="0" u="none" strike="noStrike">
              <a:solidFill>
                <a:srgbClr val="000000"/>
              </a:solidFill>
              <a:effectLst/>
              <a:uFillTx/>
              <a:latin typeface="Arial"/>
            </a:endParaRPr>
          </a:p>
        </p:txBody>
      </p:sp>
      <p:cxnSp>
        <p:nvCxnSpPr>
          <p:cNvPr id="502" name="connector"/>
          <p:cNvCxnSpPr/>
          <p:nvPr/>
        </p:nvCxnSpPr>
        <p:spPr>
          <a:xfrm>
            <a:off x="10341720" y="3117960"/>
            <a:ext cx="360" cy="329400"/>
          </a:xfrm>
          <a:prstGeom prst="straightConnector1">
            <a:avLst/>
          </a:prstGeom>
          <a:ln w="12700">
            <a:solidFill>
              <a:srgbClr val="C0B3D3"/>
            </a:solidFill>
            <a:round/>
          </a:ln>
        </p:spPr>
      </p:cxnSp>
      <p:cxnSp>
        <p:nvCxnSpPr>
          <p:cNvPr id="503" name="connector"/>
          <p:cNvCxnSpPr/>
          <p:nvPr/>
        </p:nvCxnSpPr>
        <p:spPr>
          <a:xfrm>
            <a:off x="5239440" y="3447000"/>
            <a:ext cx="5102640" cy="360"/>
          </a:xfrm>
          <a:prstGeom prst="straightConnector1">
            <a:avLst/>
          </a:prstGeom>
          <a:ln w="12700">
            <a:solidFill>
              <a:srgbClr val="C0B3D3"/>
            </a:solidFill>
            <a:round/>
          </a:ln>
        </p:spPr>
      </p:cxnSp>
      <p:cxnSp>
        <p:nvCxnSpPr>
          <p:cNvPr id="504" name="friction convergence"/>
          <p:cNvCxnSpPr/>
          <p:nvPr/>
        </p:nvCxnSpPr>
        <p:spPr>
          <a:xfrm>
            <a:off x="7790400" y="3447000"/>
            <a:ext cx="360" cy="228960"/>
          </a:xfrm>
          <a:prstGeom prst="straightConnector1">
            <a:avLst/>
          </a:prstGeom>
          <a:ln w="15240">
            <a:solidFill>
              <a:srgbClr val="6D5A99"/>
            </a:solidFill>
            <a:round/>
            <a:tailEnd len="med" type="triangle" w="med"/>
          </a:ln>
        </p:spPr>
      </p:cxnSp>
      <p:sp>
        <p:nvSpPr>
          <p:cNvPr id="505" name="friction mechanism"/>
          <p:cNvSpPr/>
          <p:nvPr/>
        </p:nvSpPr>
        <p:spPr>
          <a:xfrm>
            <a:off x="4260960" y="3803760"/>
            <a:ext cx="7223400" cy="484200"/>
          </a:xfrm>
          <a:prstGeom prst="rect">
            <a:avLst/>
          </a:prstGeom>
          <a:noFill/>
          <a:ln w="0">
            <a:noFill/>
          </a:ln>
        </p:spPr>
        <p:style>
          <a:lnRef idx="0"/>
          <a:fillRef idx="0"/>
          <a:effectRef idx="0"/>
          <a:fontRef idx="minor"/>
        </p:style>
        <p:txBody>
          <a:bodyPr lIns="0" tIns="21240" rIns="0" bIns="0" anchor="t">
            <a:noAutofit/>
          </a:bodyPr>
          <a:p>
            <a:pPr algn="ctr" defTabSz="457200">
              <a:lnSpc>
                <a:spcPts val="3163"/>
              </a:lnSpc>
            </a:pPr>
            <a:r>
              <a:rPr lang="en-US" sz="2800" b="1" u="none" strike="noStrike">
                <a:solidFill>
                  <a:srgbClr val="6D5A99"/>
                </a:solidFill>
                <a:effectLst/>
                <a:uFillTx/>
                <a:latin typeface="Arial"/>
              </a:rPr>
              <a:t>Lower trading friction</a:t>
            </a:r>
            <a:endParaRPr lang="en-US" sz="2800" b="0" u="none" strike="noStrike">
              <a:solidFill>
                <a:srgbClr val="000000"/>
              </a:solidFill>
              <a:effectLst/>
              <a:uFillTx/>
              <a:latin typeface="Arial"/>
            </a:endParaRPr>
          </a:p>
        </p:txBody>
      </p:sp>
      <p:cxnSp>
        <p:nvCxnSpPr>
          <p:cNvPr id="506" name="friction benefit branch"/>
          <p:cNvCxnSpPr/>
          <p:nvPr/>
        </p:nvCxnSpPr>
        <p:spPr>
          <a:xfrm>
            <a:off x="7790400" y="4434840"/>
            <a:ext cx="360" cy="137520"/>
          </a:xfrm>
          <a:prstGeom prst="straightConnector1">
            <a:avLst/>
          </a:prstGeom>
          <a:ln w="14604">
            <a:solidFill>
              <a:srgbClr val="2F7358"/>
            </a:solidFill>
            <a:round/>
          </a:ln>
        </p:spPr>
      </p:cxnSp>
      <p:cxnSp>
        <p:nvCxnSpPr>
          <p:cNvPr id="507" name="friction benefit branch"/>
          <p:cNvCxnSpPr/>
          <p:nvPr/>
        </p:nvCxnSpPr>
        <p:spPr>
          <a:xfrm flipH="1">
            <a:off x="5614200" y="4572000"/>
            <a:ext cx="2176560" cy="360"/>
          </a:xfrm>
          <a:prstGeom prst="straightConnector1">
            <a:avLst/>
          </a:prstGeom>
          <a:ln w="14604">
            <a:solidFill>
              <a:srgbClr val="2F7358"/>
            </a:solidFill>
            <a:round/>
          </a:ln>
        </p:spPr>
      </p:cxnSp>
      <p:cxnSp>
        <p:nvCxnSpPr>
          <p:cNvPr id="508" name="friction benefit branch"/>
          <p:cNvCxnSpPr/>
          <p:nvPr/>
        </p:nvCxnSpPr>
        <p:spPr>
          <a:xfrm>
            <a:off x="5614200" y="4572000"/>
            <a:ext cx="360" cy="210600"/>
          </a:xfrm>
          <a:prstGeom prst="straightConnector1">
            <a:avLst/>
          </a:prstGeom>
          <a:ln w="14604">
            <a:solidFill>
              <a:srgbClr val="2F7358"/>
            </a:solidFill>
            <a:round/>
            <a:tailEnd len="med" type="triangle" w="med"/>
          </a:ln>
        </p:spPr>
      </p:cxnSp>
      <p:cxnSp>
        <p:nvCxnSpPr>
          <p:cNvPr id="509" name="friction risk branch"/>
          <p:cNvCxnSpPr/>
          <p:nvPr/>
        </p:nvCxnSpPr>
        <p:spPr>
          <a:xfrm>
            <a:off x="7790400" y="4434840"/>
            <a:ext cx="360" cy="137520"/>
          </a:xfrm>
          <a:prstGeom prst="straightConnector1">
            <a:avLst/>
          </a:prstGeom>
          <a:ln w="14604">
            <a:solidFill>
              <a:srgbClr val="B13F36"/>
            </a:solidFill>
            <a:round/>
          </a:ln>
        </p:spPr>
      </p:cxnSp>
      <p:cxnSp>
        <p:nvCxnSpPr>
          <p:cNvPr id="510" name="friction risk branch"/>
          <p:cNvCxnSpPr/>
          <p:nvPr/>
        </p:nvCxnSpPr>
        <p:spPr>
          <a:xfrm>
            <a:off x="7790400" y="4572000"/>
            <a:ext cx="1920600" cy="360"/>
          </a:xfrm>
          <a:prstGeom prst="straightConnector1">
            <a:avLst/>
          </a:prstGeom>
          <a:ln w="14604">
            <a:solidFill>
              <a:srgbClr val="B13F36"/>
            </a:solidFill>
            <a:round/>
          </a:ln>
        </p:spPr>
      </p:cxnSp>
      <p:cxnSp>
        <p:nvCxnSpPr>
          <p:cNvPr id="511" name="friction risk branch"/>
          <p:cNvCxnSpPr/>
          <p:nvPr/>
        </p:nvCxnSpPr>
        <p:spPr>
          <a:xfrm>
            <a:off x="9710640" y="4572000"/>
            <a:ext cx="360" cy="210600"/>
          </a:xfrm>
          <a:prstGeom prst="straightConnector1">
            <a:avLst/>
          </a:prstGeom>
          <a:ln w="14604">
            <a:solidFill>
              <a:srgbClr val="B13F36"/>
            </a:solidFill>
            <a:round/>
            <a:tailEnd len="med" type="triangle" w="med"/>
          </a:ln>
        </p:spPr>
      </p:cxnSp>
      <p:sp>
        <p:nvSpPr>
          <p:cNvPr id="512" name="eyebrow"/>
          <p:cNvSpPr/>
          <p:nvPr/>
        </p:nvSpPr>
        <p:spPr>
          <a:xfrm>
            <a:off x="4233600" y="4956120"/>
            <a:ext cx="31453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F7358"/>
                </a:solidFill>
                <a:effectLst/>
                <a:uFillTx/>
                <a:latin typeface="Arial"/>
              </a:rPr>
              <a:t>BENEFIT</a:t>
            </a:r>
            <a:endParaRPr lang="en-US" sz="1150" b="0" u="none" strike="noStrike">
              <a:solidFill>
                <a:srgbClr val="000000"/>
              </a:solidFill>
              <a:effectLst/>
              <a:uFillTx/>
              <a:latin typeface="Arial"/>
            </a:endParaRPr>
          </a:p>
        </p:txBody>
      </p:sp>
      <p:sp>
        <p:nvSpPr>
          <p:cNvPr id="513" name="gamification benefit"/>
          <p:cNvSpPr/>
          <p:nvPr/>
        </p:nvSpPr>
        <p:spPr>
          <a:xfrm>
            <a:off x="4233600" y="5303520"/>
            <a:ext cx="3227400" cy="667080"/>
          </a:xfrm>
          <a:prstGeom prst="rect">
            <a:avLst/>
          </a:prstGeom>
          <a:noFill/>
          <a:ln w="0">
            <a:noFill/>
          </a:ln>
        </p:spPr>
        <p:style>
          <a:lnRef idx="0"/>
          <a:fillRef idx="0"/>
          <a:effectRef idx="0"/>
          <a:fontRef idx="minor"/>
        </p:style>
        <p:txBody>
          <a:bodyPr lIns="0" tIns="16920" rIns="0" bIns="0" anchor="t">
            <a:noAutofit/>
          </a:bodyPr>
          <a:p>
            <a:pPr defTabSz="457200">
              <a:lnSpc>
                <a:spcPts val="2421"/>
              </a:lnSpc>
            </a:pPr>
            <a:r>
              <a:rPr lang="en-US" sz="2200" b="1" u="none" strike="noStrike">
                <a:solidFill>
                  <a:srgbClr val="17302B"/>
                </a:solidFill>
                <a:effectLst/>
                <a:uFillTx/>
                <a:latin typeface="Arial"/>
              </a:rPr>
              <a:t>More retail</a:t>
            </a:r>
            <a:endParaRPr lang="en-US" sz="2200" b="0" u="none" strike="noStrike">
              <a:solidFill>
                <a:srgbClr val="000000"/>
              </a:solidFill>
              <a:effectLst/>
              <a:uFillTx/>
              <a:latin typeface="Arial"/>
            </a:endParaRPr>
          </a:p>
          <a:p>
            <a:pPr defTabSz="457200">
              <a:lnSpc>
                <a:spcPts val="2421"/>
              </a:lnSpc>
            </a:pPr>
            <a:r>
              <a:rPr lang="en-US" sz="2200" b="1" u="none" strike="noStrike">
                <a:solidFill>
                  <a:srgbClr val="17302B"/>
                </a:solidFill>
                <a:effectLst/>
                <a:uFillTx/>
                <a:latin typeface="Arial"/>
              </a:rPr>
              <a:t>participation</a:t>
            </a:r>
            <a:endParaRPr lang="en-US" sz="2200" b="0" u="none" strike="noStrike">
              <a:solidFill>
                <a:srgbClr val="000000"/>
              </a:solidFill>
              <a:effectLst/>
              <a:uFillTx/>
              <a:latin typeface="Arial"/>
            </a:endParaRPr>
          </a:p>
        </p:txBody>
      </p:sp>
      <p:sp>
        <p:nvSpPr>
          <p:cNvPr id="514" name="eyebrow"/>
          <p:cNvSpPr/>
          <p:nvPr/>
        </p:nvSpPr>
        <p:spPr>
          <a:xfrm>
            <a:off x="8266320" y="4956120"/>
            <a:ext cx="310860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B13F36"/>
                </a:solidFill>
                <a:effectLst/>
                <a:uFillTx/>
                <a:latin typeface="Arial"/>
              </a:rPr>
              <a:t>RISK</a:t>
            </a:r>
            <a:endParaRPr lang="en-US" sz="1150" b="0" u="none" strike="noStrike">
              <a:solidFill>
                <a:srgbClr val="000000"/>
              </a:solidFill>
              <a:effectLst/>
              <a:uFillTx/>
              <a:latin typeface="Arial"/>
            </a:endParaRPr>
          </a:p>
        </p:txBody>
      </p:sp>
      <p:sp>
        <p:nvSpPr>
          <p:cNvPr id="515" name="gamification risk"/>
          <p:cNvSpPr/>
          <p:nvPr/>
        </p:nvSpPr>
        <p:spPr>
          <a:xfrm>
            <a:off x="8266320" y="5303520"/>
            <a:ext cx="3218400" cy="667080"/>
          </a:xfrm>
          <a:prstGeom prst="rect">
            <a:avLst/>
          </a:prstGeom>
          <a:noFill/>
          <a:ln w="0">
            <a:noFill/>
          </a:ln>
        </p:spPr>
        <p:style>
          <a:lnRef idx="0"/>
          <a:fillRef idx="0"/>
          <a:effectRef idx="0"/>
          <a:fontRef idx="minor"/>
        </p:style>
        <p:txBody>
          <a:bodyPr lIns="0" tIns="16920" rIns="0" bIns="0" anchor="t">
            <a:noAutofit/>
          </a:bodyPr>
          <a:p>
            <a:pPr defTabSz="457200">
              <a:lnSpc>
                <a:spcPts val="2421"/>
              </a:lnSpc>
            </a:pPr>
            <a:r>
              <a:rPr lang="en-US" sz="2200" b="1" u="none" strike="noStrike">
                <a:solidFill>
                  <a:srgbClr val="17302B"/>
                </a:solidFill>
                <a:effectLst/>
                <a:uFillTx/>
                <a:latin typeface="Arial"/>
              </a:rPr>
              <a:t>More frequent or</a:t>
            </a:r>
            <a:endParaRPr lang="en-US" sz="2200" b="0" u="none" strike="noStrike">
              <a:solidFill>
                <a:srgbClr val="000000"/>
              </a:solidFill>
              <a:effectLst/>
              <a:uFillTx/>
              <a:latin typeface="Arial"/>
            </a:endParaRPr>
          </a:p>
          <a:p>
            <a:pPr defTabSz="457200">
              <a:lnSpc>
                <a:spcPts val="2421"/>
              </a:lnSpc>
            </a:pPr>
            <a:r>
              <a:rPr lang="en-US" sz="2200" b="1" u="none" strike="noStrike">
                <a:solidFill>
                  <a:srgbClr val="17302B"/>
                </a:solidFill>
                <a:effectLst/>
                <a:uFillTx/>
                <a:latin typeface="Arial"/>
              </a:rPr>
              <a:t>impulsive trading</a:t>
            </a:r>
            <a:endParaRPr lang="en-US" sz="2200" b="0" u="none" strike="noStrike">
              <a:solidFill>
                <a:srgbClr val="000000"/>
              </a:solidFill>
              <a:effectLst/>
              <a:uFillTx/>
              <a:latin typeface="Arial"/>
            </a:endParaRPr>
          </a:p>
        </p:txBody>
      </p:sp>
      <p:sp>
        <p:nvSpPr>
          <p:cNvPr id="516" name="first time user percentage"/>
          <p:cNvSpPr/>
          <p:nvPr/>
        </p:nvSpPr>
        <p:spPr>
          <a:xfrm>
            <a:off x="713160" y="5660280"/>
            <a:ext cx="1215720" cy="594000"/>
          </a:xfrm>
          <a:prstGeom prst="rect">
            <a:avLst/>
          </a:prstGeom>
          <a:noFill/>
          <a:ln w="0">
            <a:noFill/>
          </a:ln>
        </p:spPr>
        <p:style>
          <a:lnRef idx="0"/>
          <a:fillRef idx="0"/>
          <a:effectRef idx="0"/>
          <a:fontRef idx="minor"/>
        </p:style>
        <p:txBody>
          <a:bodyPr lIns="0" tIns="23760" rIns="0" bIns="0" anchor="t">
            <a:noAutofit/>
          </a:bodyPr>
          <a:p>
            <a:pPr defTabSz="457200">
              <a:lnSpc>
                <a:spcPts val="3501"/>
              </a:lnSpc>
            </a:pPr>
            <a:r>
              <a:rPr lang="en-US" sz="3100" b="1" u="none" strike="noStrike">
                <a:solidFill>
                  <a:srgbClr val="6D5A99"/>
                </a:solidFill>
                <a:effectLst/>
                <a:uFillTx/>
                <a:latin typeface="Arial"/>
              </a:rPr>
              <a:t>~50%</a:t>
            </a:r>
            <a:endParaRPr lang="en-US" sz="3100" b="0" u="none" strike="noStrike">
              <a:solidFill>
                <a:srgbClr val="000000"/>
              </a:solidFill>
              <a:effectLst/>
              <a:uFillTx/>
              <a:latin typeface="Arial"/>
            </a:endParaRPr>
          </a:p>
        </p:txBody>
      </p:sp>
      <p:sp>
        <p:nvSpPr>
          <p:cNvPr id="517" name="first time user basis"/>
          <p:cNvSpPr/>
          <p:nvPr/>
        </p:nvSpPr>
        <p:spPr>
          <a:xfrm>
            <a:off x="1993320" y="5660280"/>
            <a:ext cx="1572480" cy="603000"/>
          </a:xfrm>
          <a:prstGeom prst="rect">
            <a:avLst/>
          </a:prstGeom>
          <a:noFill/>
          <a:ln w="0">
            <a:noFill/>
          </a:ln>
        </p:spPr>
        <p:style>
          <a:lnRef idx="0"/>
          <a:fillRef idx="0"/>
          <a:effectRef idx="0"/>
          <a:fontRef idx="minor"/>
        </p:style>
        <p:txBody>
          <a:bodyPr lIns="0" tIns="9000" rIns="0" bIns="0" anchor="t">
            <a:noAutofit/>
          </a:bodyPr>
          <a:p>
            <a:pPr defTabSz="457200">
              <a:lnSpc>
                <a:spcPts val="1355"/>
              </a:lnSpc>
            </a:pPr>
            <a:r>
              <a:rPr lang="en-US" sz="1200" b="0" u="none" strike="noStrike">
                <a:solidFill>
                  <a:srgbClr val="5E6B65"/>
                </a:solidFill>
                <a:effectLst/>
                <a:uFillTx/>
                <a:latin typeface="Arial"/>
              </a:rPr>
              <a:t>of Robinhood’s new</a:t>
            </a:r>
            <a:endParaRPr lang="en-US" sz="1200" b="0" u="none" strike="noStrike">
              <a:solidFill>
                <a:srgbClr val="000000"/>
              </a:solidFill>
              <a:effectLst/>
              <a:uFillTx/>
              <a:latin typeface="Arial"/>
            </a:endParaRPr>
          </a:p>
          <a:p>
            <a:pPr defTabSz="457200">
              <a:lnSpc>
                <a:spcPts val="1355"/>
              </a:lnSpc>
            </a:pPr>
            <a:r>
              <a:rPr lang="en-US" sz="1200" b="0" u="none" strike="noStrike">
                <a:solidFill>
                  <a:srgbClr val="5E6B65"/>
                </a:solidFill>
                <a:effectLst/>
                <a:uFillTx/>
                <a:latin typeface="Arial"/>
              </a:rPr>
              <a:t>2020 users were</a:t>
            </a:r>
            <a:endParaRPr lang="en-US" sz="1200" b="0" u="none" strike="noStrike">
              <a:solidFill>
                <a:srgbClr val="000000"/>
              </a:solidFill>
              <a:effectLst/>
              <a:uFillTx/>
              <a:latin typeface="Arial"/>
            </a:endParaRPr>
          </a:p>
          <a:p>
            <a:pPr defTabSz="457200">
              <a:lnSpc>
                <a:spcPts val="1355"/>
              </a:lnSpc>
            </a:pPr>
            <a:r>
              <a:rPr lang="en-US" sz="1200" b="0" u="none" strike="noStrike">
                <a:solidFill>
                  <a:srgbClr val="5E6B65"/>
                </a:solidFill>
                <a:effectLst/>
                <a:uFillTx/>
                <a:latin typeface="Arial"/>
              </a:rPr>
              <a:t>first-timers</a:t>
            </a:r>
            <a:endParaRPr lang="en-US" sz="1200" b="0" u="none" strike="noStrike">
              <a:solidFill>
                <a:srgbClr val="000000"/>
              </a:solidFill>
              <a:effectLst/>
              <a:uFillTx/>
              <a:latin typeface="Arial"/>
            </a:endParaRPr>
          </a:p>
        </p:txBody>
      </p:sp>
      <p:sp>
        <p:nvSpPr>
          <p:cNvPr id="518" name="psychological friction takeaway"/>
          <p:cNvSpPr/>
          <p:nvPr/>
        </p:nvSpPr>
        <p:spPr>
          <a:xfrm>
            <a:off x="4233600" y="6062400"/>
            <a:ext cx="7269120" cy="246600"/>
          </a:xfrm>
          <a:prstGeom prst="rect">
            <a:avLst/>
          </a:prstGeom>
          <a:noFill/>
          <a:ln w="0">
            <a:noFill/>
          </a:ln>
        </p:spPr>
        <p:style>
          <a:lnRef idx="0"/>
          <a:fillRef idx="0"/>
          <a:effectRef idx="0"/>
          <a:fontRef idx="minor"/>
        </p:style>
        <p:txBody>
          <a:bodyPr lIns="0" tIns="11160" rIns="0" bIns="0" anchor="t">
            <a:noAutofit/>
          </a:bodyPr>
          <a:p>
            <a:pPr defTabSz="457200">
              <a:lnSpc>
                <a:spcPts val="1638"/>
              </a:lnSpc>
            </a:pPr>
            <a:r>
              <a:rPr lang="en-US" sz="1450" b="1" u="none" strike="noStrike">
                <a:solidFill>
                  <a:srgbClr val="6D5A99"/>
                </a:solidFill>
                <a:effectLst/>
                <a:uFillTx/>
                <a:latin typeface="Arial"/>
              </a:rPr>
              <a:t>Lower transaction friction also lowered psychological friction.</a:t>
            </a:r>
            <a:endParaRPr lang="en-US" sz="14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A"/>
        </a:solidFill>
      </p:bgPr>
    </p:bg>
    <p:spTree>
      <p:nvGrpSpPr>
        <p:cNvPr id="1" name=""/>
        <p:cNvGrpSpPr/>
        <p:nvPr/>
      </p:nvGrpSpPr>
      <p:grpSpPr>
        <a:xfrm>
          <a:off x="0" y="0"/>
          <a:ext cx="0" cy="0"/>
          <a:chOff x="0" y="0"/>
          <a:chExt cx="0" cy="0"/>
        </a:xfrm>
      </p:grpSpPr>
      <p:cxnSp>
        <p:nvCxnSpPr>
          <p:cNvPr id="519" name="footer rule"/>
          <p:cNvCxnSpPr/>
          <p:nvPr/>
        </p:nvCxnSpPr>
        <p:spPr>
          <a:xfrm>
            <a:off x="658080" y="6373080"/>
            <a:ext cx="10872720" cy="360"/>
          </a:xfrm>
          <a:prstGeom prst="straightConnector1">
            <a:avLst/>
          </a:prstGeom>
          <a:ln w="7620">
            <a:solidFill>
              <a:srgbClr val="D4DDD6"/>
            </a:solidFill>
            <a:round/>
          </a:ln>
        </p:spPr>
      </p:cxnSp>
      <p:sp>
        <p:nvSpPr>
          <p:cNvPr id="520"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521" name="speaker footer"/>
          <p:cNvSpPr/>
          <p:nvPr/>
        </p:nvSpPr>
        <p:spPr>
          <a:xfrm>
            <a:off x="7223760" y="6473880"/>
            <a:ext cx="3474360" cy="182520"/>
          </a:xfrm>
          <a:prstGeom prst="rect">
            <a:avLst/>
          </a:prstGeom>
          <a:noFill/>
          <a:ln w="0">
            <a:noFill/>
          </a:ln>
        </p:spPr>
        <p:style>
          <a:lnRef idx="0"/>
          <a:fillRef idx="0"/>
          <a:effectRef idx="0"/>
          <a:fontRef idx="minor"/>
        </p:style>
        <p:txBody>
          <a:bodyPr lIns="0" tIns="7200" rIns="0" bIns="0" anchor="t">
            <a:noAutofit/>
          </a:bodyPr>
          <a:p>
            <a:pPr algn="r" defTabSz="457200">
              <a:lnSpc>
                <a:spcPts val="1074"/>
              </a:lnSpc>
            </a:pPr>
            <a:r>
              <a:rPr lang="en-US" sz="950" b="0" u="none" strike="noStrike">
                <a:solidFill>
                  <a:srgbClr val="5E6B65"/>
                </a:solidFill>
                <a:effectLst/>
                <a:uFillTx/>
                <a:latin typeface="Arial"/>
              </a:rPr>
              <a:t>Guo Jing</a:t>
            </a:r>
            <a:endParaRPr lang="en-US" sz="950" b="0" u="none" strike="noStrike">
              <a:solidFill>
                <a:srgbClr val="000000"/>
              </a:solidFill>
              <a:effectLst/>
              <a:uFillTx/>
              <a:latin typeface="Arial"/>
            </a:endParaRPr>
          </a:p>
        </p:txBody>
      </p:sp>
      <p:sp>
        <p:nvSpPr>
          <p:cNvPr id="522"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15 / 18</a:t>
            </a:r>
            <a:endParaRPr lang="en-US" sz="1000" b="0" u="none" strike="noStrike">
              <a:solidFill>
                <a:srgbClr val="000000"/>
              </a:solidFill>
              <a:effectLst/>
              <a:uFillTx/>
              <a:latin typeface="Arial"/>
            </a:endParaRPr>
          </a:p>
        </p:txBody>
      </p:sp>
      <p:sp>
        <p:nvSpPr>
          <p:cNvPr id="523"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6D5A99"/>
                </a:solidFill>
                <a:effectLst/>
                <a:uFillTx/>
                <a:latin typeface="Arial"/>
              </a:rPr>
              <a:t>Q4 / SOCIAL AMPLIFICATION</a:t>
            </a:r>
            <a:endParaRPr lang="en-US" sz="1150" b="0" u="none" strike="noStrike">
              <a:solidFill>
                <a:srgbClr val="000000"/>
              </a:solidFill>
              <a:effectLst/>
              <a:uFillTx/>
              <a:latin typeface="Arial"/>
            </a:endParaRPr>
          </a:p>
        </p:txBody>
      </p:sp>
      <p:sp>
        <p:nvSpPr>
          <p:cNvPr id="524" name="slide title"/>
          <p:cNvSpPr/>
          <p:nvPr/>
        </p:nvSpPr>
        <p:spPr>
          <a:xfrm>
            <a:off x="658440" y="859680"/>
            <a:ext cx="10835280" cy="676440"/>
          </a:xfrm>
          <a:prstGeom prst="rect">
            <a:avLst/>
          </a:prstGeom>
          <a:noFill/>
          <a:ln w="0">
            <a:noFill/>
          </a:ln>
        </p:spPr>
        <p:style>
          <a:lnRef idx="0"/>
          <a:fillRef idx="0"/>
          <a:effectRef idx="0"/>
          <a:fontRef idx="minor"/>
        </p:style>
        <p:txBody>
          <a:bodyPr lIns="0" tIns="25200" rIns="0" bIns="0" anchor="t">
            <a:noAutofit/>
          </a:bodyPr>
          <a:p>
            <a:pPr defTabSz="457200">
              <a:lnSpc>
                <a:spcPts val="3532"/>
              </a:lnSpc>
            </a:pPr>
            <a:r>
              <a:rPr lang="en-US" sz="3300" b="1" u="none" strike="noStrike">
                <a:solidFill>
                  <a:srgbClr val="17302B"/>
                </a:solidFill>
                <a:effectLst/>
                <a:uFillTx/>
                <a:latin typeface="Arial"/>
              </a:rPr>
              <a:t>Social media turned individuals into a crowd</a:t>
            </a:r>
            <a:endParaRPr lang="en-US" sz="3300" b="0" u="none" strike="noStrike">
              <a:solidFill>
                <a:srgbClr val="000000"/>
              </a:solidFill>
              <a:effectLst/>
              <a:uFillTx/>
              <a:latin typeface="Arial"/>
            </a:endParaRPr>
          </a:p>
        </p:txBody>
      </p:sp>
      <p:sp>
        <p:nvSpPr>
          <p:cNvPr id="525"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Reddit amplified information sharing, group identity, FOMO and price momentum.</a:t>
            </a:r>
            <a:endParaRPr lang="en-US" sz="1700" b="0" u="none" strike="noStrike">
              <a:solidFill>
                <a:srgbClr val="000000"/>
              </a:solidFill>
              <a:effectLst/>
              <a:uFillTx/>
              <a:latin typeface="Arial"/>
            </a:endParaRPr>
          </a:p>
        </p:txBody>
      </p:sp>
      <p:sp>
        <p:nvSpPr>
          <p:cNvPr id="526" name="WSB growth"/>
          <p:cNvSpPr/>
          <p:nvPr/>
        </p:nvSpPr>
        <p:spPr>
          <a:xfrm>
            <a:off x="713160" y="2304360"/>
            <a:ext cx="2313000" cy="621360"/>
          </a:xfrm>
          <a:prstGeom prst="rect">
            <a:avLst/>
          </a:prstGeom>
          <a:noFill/>
          <a:ln w="0">
            <a:noFill/>
          </a:ln>
        </p:spPr>
        <p:style>
          <a:lnRef idx="0"/>
          <a:fillRef idx="0"/>
          <a:effectRef idx="0"/>
          <a:fontRef idx="minor"/>
        </p:style>
        <p:txBody>
          <a:bodyPr lIns="0" tIns="22680" rIns="0" bIns="0" anchor="t">
            <a:noAutofit/>
          </a:bodyPr>
          <a:p>
            <a:pPr defTabSz="457200">
              <a:lnSpc>
                <a:spcPts val="3390"/>
              </a:lnSpc>
            </a:pPr>
            <a:r>
              <a:rPr lang="en-US" sz="3000" b="1" u="none" strike="noStrike">
                <a:solidFill>
                  <a:srgbClr val="6D5A99"/>
                </a:solidFill>
                <a:effectLst/>
                <a:uFillTx/>
                <a:latin typeface="Arial"/>
              </a:rPr>
              <a:t>+1.1 million</a:t>
            </a:r>
            <a:endParaRPr lang="en-US" sz="3000" b="0" u="none" strike="noStrike">
              <a:solidFill>
                <a:srgbClr val="000000"/>
              </a:solidFill>
              <a:effectLst/>
              <a:uFillTx/>
              <a:latin typeface="Arial"/>
            </a:endParaRPr>
          </a:p>
        </p:txBody>
      </p:sp>
      <p:sp>
        <p:nvSpPr>
          <p:cNvPr id="527" name="WSB growth basis"/>
          <p:cNvSpPr/>
          <p:nvPr/>
        </p:nvSpPr>
        <p:spPr>
          <a:xfrm>
            <a:off x="713160" y="2971800"/>
            <a:ext cx="2066040" cy="594000"/>
          </a:xfrm>
          <a:prstGeom prst="rect">
            <a:avLst/>
          </a:prstGeom>
          <a:noFill/>
          <a:ln w="0">
            <a:noFill/>
          </a:ln>
        </p:spPr>
        <p:style>
          <a:lnRef idx="0"/>
          <a:fillRef idx="0"/>
          <a:effectRef idx="0"/>
          <a:fontRef idx="minor"/>
        </p:style>
        <p:txBody>
          <a:bodyPr lIns="0" tIns="12240" rIns="0" bIns="0" anchor="t">
            <a:noAutofit/>
          </a:bodyPr>
          <a:p>
            <a:pPr defTabSz="457200">
              <a:lnSpc>
                <a:spcPts val="1806"/>
              </a:lnSpc>
            </a:pPr>
            <a:r>
              <a:rPr lang="en-US" sz="1600" b="0" u="none" strike="noStrike">
                <a:solidFill>
                  <a:srgbClr val="5E6B65"/>
                </a:solidFill>
                <a:effectLst/>
                <a:uFillTx/>
                <a:latin typeface="Arial"/>
              </a:rPr>
              <a:t>new WSB members</a:t>
            </a:r>
            <a:endParaRPr lang="en-US" sz="1600" b="0" u="none" strike="noStrike">
              <a:solidFill>
                <a:srgbClr val="000000"/>
              </a:solidFill>
              <a:effectLst/>
              <a:uFillTx/>
              <a:latin typeface="Arial"/>
            </a:endParaRPr>
          </a:p>
          <a:p>
            <a:pPr defTabSz="457200">
              <a:lnSpc>
                <a:spcPts val="1806"/>
              </a:lnSpc>
            </a:pPr>
            <a:r>
              <a:rPr lang="en-US" sz="1600" b="0" u="none" strike="noStrike">
                <a:solidFill>
                  <a:srgbClr val="5E6B65"/>
                </a:solidFill>
                <a:effectLst/>
                <a:uFillTx/>
                <a:latin typeface="Arial"/>
              </a:rPr>
              <a:t>in one day</a:t>
            </a:r>
            <a:endParaRPr lang="en-US" sz="1600" b="0" u="none" strike="noStrike">
              <a:solidFill>
                <a:srgbClr val="000000"/>
              </a:solidFill>
              <a:effectLst/>
              <a:uFillTx/>
              <a:latin typeface="Arial"/>
            </a:endParaRPr>
          </a:p>
        </p:txBody>
      </p:sp>
      <p:cxnSp>
        <p:nvCxnSpPr>
          <p:cNvPr id="528" name="reddit to memes"/>
          <p:cNvCxnSpPr/>
          <p:nvPr/>
        </p:nvCxnSpPr>
        <p:spPr>
          <a:xfrm>
            <a:off x="5760720" y="2962440"/>
            <a:ext cx="1234800" cy="347760"/>
          </a:xfrm>
          <a:prstGeom prst="straightConnector1">
            <a:avLst/>
          </a:prstGeom>
          <a:ln w="20320">
            <a:solidFill>
              <a:srgbClr val="6D5A99"/>
            </a:solidFill>
            <a:round/>
            <a:tailEnd len="med" type="triangle" w="med"/>
          </a:ln>
        </p:spPr>
      </p:cxnSp>
      <p:cxnSp>
        <p:nvCxnSpPr>
          <p:cNvPr id="529" name="memes to FOMO"/>
          <p:cNvCxnSpPr/>
          <p:nvPr/>
        </p:nvCxnSpPr>
        <p:spPr>
          <a:xfrm flipH="1">
            <a:off x="7333200" y="4215240"/>
            <a:ext cx="384480" cy="439200"/>
          </a:xfrm>
          <a:prstGeom prst="straightConnector1">
            <a:avLst/>
          </a:prstGeom>
          <a:ln w="20320">
            <a:solidFill>
              <a:srgbClr val="6D5A99"/>
            </a:solidFill>
            <a:round/>
            <a:tailEnd len="med" type="triangle" w="med"/>
          </a:ln>
        </p:spPr>
      </p:cxnSp>
      <p:cxnSp>
        <p:nvCxnSpPr>
          <p:cNvPr id="530" name="FOMO to price"/>
          <p:cNvCxnSpPr/>
          <p:nvPr/>
        </p:nvCxnSpPr>
        <p:spPr>
          <a:xfrm flipH="1">
            <a:off x="5294160" y="5138640"/>
            <a:ext cx="933120" cy="360"/>
          </a:xfrm>
          <a:prstGeom prst="straightConnector1">
            <a:avLst/>
          </a:prstGeom>
          <a:ln w="20320">
            <a:solidFill>
              <a:srgbClr val="6D5A99"/>
            </a:solidFill>
            <a:round/>
            <a:tailEnd len="med" type="triangle" w="med"/>
          </a:ln>
        </p:spPr>
      </p:cxnSp>
      <p:cxnSp>
        <p:nvCxnSpPr>
          <p:cNvPr id="531" name="price to attention"/>
          <p:cNvCxnSpPr/>
          <p:nvPr/>
        </p:nvCxnSpPr>
        <p:spPr>
          <a:xfrm flipH="1" flipV="1">
            <a:off x="3264120" y="3995640"/>
            <a:ext cx="494280" cy="658800"/>
          </a:xfrm>
          <a:prstGeom prst="straightConnector1">
            <a:avLst/>
          </a:prstGeom>
          <a:ln w="20320">
            <a:solidFill>
              <a:srgbClr val="6D5A99"/>
            </a:solidFill>
            <a:round/>
            <a:tailEnd len="med" type="triangle" w="med"/>
          </a:ln>
        </p:spPr>
      </p:cxnSp>
      <p:cxnSp>
        <p:nvCxnSpPr>
          <p:cNvPr id="532" name="attention to reddit"/>
          <p:cNvCxnSpPr/>
          <p:nvPr/>
        </p:nvCxnSpPr>
        <p:spPr>
          <a:xfrm flipV="1">
            <a:off x="3767040" y="2962440"/>
            <a:ext cx="668160" cy="347760"/>
          </a:xfrm>
          <a:prstGeom prst="straightConnector1">
            <a:avLst/>
          </a:prstGeom>
          <a:ln w="20320">
            <a:solidFill>
              <a:srgbClr val="6D5A99"/>
            </a:solidFill>
            <a:round/>
            <a:tailEnd len="med" type="triangle" w="med"/>
          </a:ln>
        </p:spPr>
      </p:cxnSp>
      <p:sp>
        <p:nvSpPr>
          <p:cNvPr id="533" name="diagram node"/>
          <p:cNvSpPr/>
          <p:nvPr/>
        </p:nvSpPr>
        <p:spPr>
          <a:xfrm>
            <a:off x="3822120" y="2331720"/>
            <a:ext cx="2742840" cy="575640"/>
          </a:xfrm>
          <a:prstGeom prst="roundRect">
            <a:avLst>
              <a:gd name="adj" fmla="val 12000"/>
            </a:avLst>
          </a:prstGeom>
          <a:solidFill>
            <a:srgbClr val="EEEAF4"/>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34" name="diagram label"/>
          <p:cNvSpPr/>
          <p:nvPr/>
        </p:nvSpPr>
        <p:spPr>
          <a:xfrm>
            <a:off x="3940920" y="2459880"/>
            <a:ext cx="2505240" cy="356400"/>
          </a:xfrm>
          <a:prstGeom prst="rect">
            <a:avLst/>
          </a:prstGeom>
          <a:noFill/>
          <a:ln w="0">
            <a:noFill/>
          </a:ln>
        </p:spPr>
        <p:style>
          <a:lnRef idx="0"/>
          <a:fillRef idx="0"/>
          <a:effectRef idx="0"/>
          <a:fontRef idx="minor"/>
        </p:style>
        <p:txBody>
          <a:bodyPr lIns="0" tIns="12600" rIns="0" bIns="0" anchor="t">
            <a:noAutofit/>
          </a:bodyPr>
          <a:p>
            <a:pPr algn="ctr" defTabSz="457200">
              <a:lnSpc>
                <a:spcPts val="1749"/>
              </a:lnSpc>
            </a:pPr>
            <a:r>
              <a:rPr lang="en-US" sz="1650" b="1" u="none" strike="noStrike">
                <a:solidFill>
                  <a:srgbClr val="17302B"/>
                </a:solidFill>
                <a:effectLst/>
                <a:uFillTx/>
                <a:latin typeface="Arial"/>
              </a:rPr>
              <a:t>Reddit / WallStreetBets</a:t>
            </a:r>
            <a:endParaRPr lang="en-US" sz="1650" b="0" u="none" strike="noStrike">
              <a:solidFill>
                <a:srgbClr val="000000"/>
              </a:solidFill>
              <a:effectLst/>
              <a:uFillTx/>
              <a:latin typeface="Arial"/>
            </a:endParaRPr>
          </a:p>
        </p:txBody>
      </p:sp>
      <p:sp>
        <p:nvSpPr>
          <p:cNvPr id="535" name="diagram node"/>
          <p:cNvSpPr/>
          <p:nvPr/>
        </p:nvSpPr>
        <p:spPr>
          <a:xfrm>
            <a:off x="6629400" y="3364920"/>
            <a:ext cx="1865160" cy="795240"/>
          </a:xfrm>
          <a:prstGeom prst="roundRect">
            <a:avLst>
              <a:gd name="adj" fmla="val 12000"/>
            </a:avLst>
          </a:prstGeom>
          <a:solidFill>
            <a:srgbClr val="EEEAF4"/>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36" name="diagram label"/>
          <p:cNvSpPr/>
          <p:nvPr/>
        </p:nvSpPr>
        <p:spPr>
          <a:xfrm>
            <a:off x="6748200" y="3493080"/>
            <a:ext cx="1627200" cy="575640"/>
          </a:xfrm>
          <a:prstGeom prst="rect">
            <a:avLst/>
          </a:prstGeom>
          <a:noFill/>
          <a:ln w="0">
            <a:noFill/>
          </a:ln>
        </p:spPr>
        <p:style>
          <a:lnRef idx="0"/>
          <a:fillRef idx="0"/>
          <a:effectRef idx="0"/>
          <a:fontRef idx="minor"/>
        </p:style>
        <p:txBody>
          <a:bodyPr lIns="0" tIns="11880" rIns="0" bIns="0" anchor="t">
            <a:noAutofit/>
          </a:bodyPr>
          <a:p>
            <a:pPr algn="ctr" defTabSz="457200">
              <a:lnSpc>
                <a:spcPts val="1644"/>
              </a:lnSpc>
            </a:pPr>
            <a:r>
              <a:rPr lang="en-US" sz="1550" b="1" u="none" strike="noStrike">
                <a:solidFill>
                  <a:srgbClr val="17302B"/>
                </a:solidFill>
                <a:effectLst/>
                <a:uFillTx/>
                <a:latin typeface="Arial"/>
              </a:rPr>
              <a:t>Memes &amp;</a:t>
            </a:r>
            <a:endParaRPr lang="en-US" sz="1550" b="0" u="none" strike="noStrike">
              <a:solidFill>
                <a:srgbClr val="000000"/>
              </a:solidFill>
              <a:effectLst/>
              <a:uFillTx/>
              <a:latin typeface="Arial"/>
            </a:endParaRPr>
          </a:p>
          <a:p>
            <a:pPr algn="ctr" defTabSz="457200">
              <a:lnSpc>
                <a:spcPts val="1644"/>
              </a:lnSpc>
            </a:pPr>
            <a:r>
              <a:rPr lang="en-US" sz="1550" b="1" u="none" strike="noStrike">
                <a:solidFill>
                  <a:srgbClr val="17302B"/>
                </a:solidFill>
                <a:effectLst/>
                <a:uFillTx/>
                <a:latin typeface="Arial"/>
              </a:rPr>
              <a:t>screenshots</a:t>
            </a:r>
            <a:endParaRPr lang="en-US" sz="1550" b="0" u="none" strike="noStrike">
              <a:solidFill>
                <a:srgbClr val="000000"/>
              </a:solidFill>
              <a:effectLst/>
              <a:uFillTx/>
              <a:latin typeface="Arial"/>
            </a:endParaRPr>
          </a:p>
        </p:txBody>
      </p:sp>
      <p:sp>
        <p:nvSpPr>
          <p:cNvPr id="537" name="diagram node"/>
          <p:cNvSpPr/>
          <p:nvPr/>
        </p:nvSpPr>
        <p:spPr>
          <a:xfrm>
            <a:off x="6282000" y="4709160"/>
            <a:ext cx="2130120" cy="840960"/>
          </a:xfrm>
          <a:prstGeom prst="roundRect">
            <a:avLst>
              <a:gd name="adj" fmla="val 12000"/>
            </a:avLst>
          </a:prstGeom>
          <a:solidFill>
            <a:srgbClr val="F7ECE8"/>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38" name="diagram label"/>
          <p:cNvSpPr/>
          <p:nvPr/>
        </p:nvSpPr>
        <p:spPr>
          <a:xfrm>
            <a:off x="6400800" y="4837320"/>
            <a:ext cx="1892520" cy="621360"/>
          </a:xfrm>
          <a:prstGeom prst="rect">
            <a:avLst/>
          </a:prstGeom>
          <a:noFill/>
          <a:ln w="0">
            <a:noFill/>
          </a:ln>
        </p:spPr>
        <p:style>
          <a:lnRef idx="0"/>
          <a:fillRef idx="0"/>
          <a:effectRef idx="0"/>
          <a:fontRef idx="minor"/>
        </p:style>
        <p:txBody>
          <a:bodyPr lIns="0" tIns="12960" rIns="0" bIns="0" anchor="t">
            <a:noAutofit/>
          </a:bodyPr>
          <a:p>
            <a:pPr algn="ctr" defTabSz="457200">
              <a:lnSpc>
                <a:spcPts val="1803"/>
              </a:lnSpc>
            </a:pPr>
            <a:r>
              <a:rPr lang="en-US" sz="1700" b="1" u="none" strike="noStrike">
                <a:solidFill>
                  <a:srgbClr val="17302B"/>
                </a:solidFill>
                <a:effectLst/>
                <a:uFillTx/>
                <a:latin typeface="Arial"/>
              </a:rPr>
              <a:t>FOMO &amp;</a:t>
            </a:r>
            <a:endParaRPr lang="en-US" sz="1700" b="0" u="none" strike="noStrike">
              <a:solidFill>
                <a:srgbClr val="000000"/>
              </a:solidFill>
              <a:effectLst/>
              <a:uFillTx/>
              <a:latin typeface="Arial"/>
            </a:endParaRPr>
          </a:p>
          <a:p>
            <a:pPr algn="ctr" defTabSz="457200">
              <a:lnSpc>
                <a:spcPts val="1803"/>
              </a:lnSpc>
            </a:pPr>
            <a:r>
              <a:rPr lang="en-US" sz="1700" b="1" u="none" strike="noStrike">
                <a:solidFill>
                  <a:srgbClr val="17302B"/>
                </a:solidFill>
                <a:effectLst/>
                <a:uFillTx/>
                <a:latin typeface="Arial"/>
              </a:rPr>
              <a:t>herd buying</a:t>
            </a:r>
            <a:endParaRPr lang="en-US" sz="1700" b="0" u="none" strike="noStrike">
              <a:solidFill>
                <a:srgbClr val="000000"/>
              </a:solidFill>
              <a:effectLst/>
              <a:uFillTx/>
              <a:latin typeface="Arial"/>
            </a:endParaRPr>
          </a:p>
        </p:txBody>
      </p:sp>
      <p:sp>
        <p:nvSpPr>
          <p:cNvPr id="539" name="diagram node"/>
          <p:cNvSpPr/>
          <p:nvPr/>
        </p:nvSpPr>
        <p:spPr>
          <a:xfrm>
            <a:off x="3081600" y="4709160"/>
            <a:ext cx="2157480" cy="840960"/>
          </a:xfrm>
          <a:prstGeom prst="roundRect">
            <a:avLst>
              <a:gd name="adj" fmla="val 12000"/>
            </a:avLst>
          </a:prstGeom>
          <a:solidFill>
            <a:srgbClr val="EEEAF4"/>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40" name="diagram label"/>
          <p:cNvSpPr/>
          <p:nvPr/>
        </p:nvSpPr>
        <p:spPr>
          <a:xfrm>
            <a:off x="3200400" y="4837320"/>
            <a:ext cx="1919880" cy="621360"/>
          </a:xfrm>
          <a:prstGeom prst="rect">
            <a:avLst/>
          </a:prstGeom>
          <a:noFill/>
          <a:ln w="0">
            <a:noFill/>
          </a:ln>
        </p:spPr>
        <p:style>
          <a:lnRef idx="0"/>
          <a:fillRef idx="0"/>
          <a:effectRef idx="0"/>
          <a:fontRef idx="minor"/>
        </p:style>
        <p:txBody>
          <a:bodyPr lIns="0" tIns="12960" rIns="0" bIns="0" anchor="t">
            <a:noAutofit/>
          </a:bodyPr>
          <a:p>
            <a:pPr algn="ctr" defTabSz="457200">
              <a:lnSpc>
                <a:spcPts val="1803"/>
              </a:lnSpc>
            </a:pPr>
            <a:r>
              <a:rPr lang="en-US" sz="1700" b="1" u="none" strike="noStrike">
                <a:solidFill>
                  <a:srgbClr val="17302B"/>
                </a:solidFill>
                <a:effectLst/>
                <a:uFillTx/>
                <a:latin typeface="Arial"/>
              </a:rPr>
              <a:t>GME</a:t>
            </a:r>
            <a:endParaRPr lang="en-US" sz="1700" b="0" u="none" strike="noStrike">
              <a:solidFill>
                <a:srgbClr val="000000"/>
              </a:solidFill>
              <a:effectLst/>
              <a:uFillTx/>
              <a:latin typeface="Arial"/>
            </a:endParaRPr>
          </a:p>
          <a:p>
            <a:pPr algn="ctr" defTabSz="457200">
              <a:lnSpc>
                <a:spcPts val="1803"/>
              </a:lnSpc>
            </a:pPr>
            <a:r>
              <a:rPr lang="en-US" sz="1700" b="1" u="none" strike="noStrike">
                <a:solidFill>
                  <a:srgbClr val="17302B"/>
                </a:solidFill>
                <a:effectLst/>
                <a:uFillTx/>
                <a:latin typeface="Arial"/>
              </a:rPr>
              <a:t>price rises</a:t>
            </a:r>
            <a:endParaRPr lang="en-US" sz="1700" b="0" u="none" strike="noStrike">
              <a:solidFill>
                <a:srgbClr val="000000"/>
              </a:solidFill>
              <a:effectLst/>
              <a:uFillTx/>
              <a:latin typeface="Arial"/>
            </a:endParaRPr>
          </a:p>
        </p:txBody>
      </p:sp>
      <p:sp>
        <p:nvSpPr>
          <p:cNvPr id="541" name="diagram node"/>
          <p:cNvSpPr/>
          <p:nvPr/>
        </p:nvSpPr>
        <p:spPr>
          <a:xfrm>
            <a:off x="2496240" y="3364920"/>
            <a:ext cx="2020320" cy="575640"/>
          </a:xfrm>
          <a:prstGeom prst="roundRect">
            <a:avLst>
              <a:gd name="adj" fmla="val 12000"/>
            </a:avLst>
          </a:prstGeom>
          <a:solidFill>
            <a:srgbClr val="EEEAF4"/>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42" name="diagram label"/>
          <p:cNvSpPr/>
          <p:nvPr/>
        </p:nvSpPr>
        <p:spPr>
          <a:xfrm>
            <a:off x="2615040" y="3493080"/>
            <a:ext cx="1782720" cy="356400"/>
          </a:xfrm>
          <a:prstGeom prst="rect">
            <a:avLst/>
          </a:prstGeom>
          <a:noFill/>
          <a:ln w="0">
            <a:noFill/>
          </a:ln>
        </p:spPr>
        <p:style>
          <a:lnRef idx="0"/>
          <a:fillRef idx="0"/>
          <a:effectRef idx="0"/>
          <a:fontRef idx="minor"/>
        </p:style>
        <p:txBody>
          <a:bodyPr lIns="0" tIns="12960" rIns="0" bIns="0" anchor="t">
            <a:noAutofit/>
          </a:bodyPr>
          <a:p>
            <a:pPr algn="ctr" defTabSz="457200">
              <a:lnSpc>
                <a:spcPts val="1803"/>
              </a:lnSpc>
            </a:pPr>
            <a:r>
              <a:rPr lang="en-US" sz="1700" b="1" u="none" strike="noStrike">
                <a:solidFill>
                  <a:srgbClr val="17302B"/>
                </a:solidFill>
                <a:effectLst/>
                <a:uFillTx/>
                <a:latin typeface="Arial"/>
              </a:rPr>
              <a:t>More attention</a:t>
            </a:r>
            <a:endParaRPr lang="en-US" sz="1700" b="0" u="none" strike="noStrike">
              <a:solidFill>
                <a:srgbClr val="000000"/>
              </a:solidFill>
              <a:effectLst/>
              <a:uFillTx/>
              <a:latin typeface="Arial"/>
            </a:endParaRPr>
          </a:p>
        </p:txBody>
      </p:sp>
      <p:sp>
        <p:nvSpPr>
          <p:cNvPr id="543" name="feedback cycle center"/>
          <p:cNvSpPr/>
          <p:nvPr/>
        </p:nvSpPr>
        <p:spPr>
          <a:xfrm>
            <a:off x="4700160" y="3602880"/>
            <a:ext cx="1691280" cy="914040"/>
          </a:xfrm>
          <a:prstGeom prst="rect">
            <a:avLst/>
          </a:prstGeom>
          <a:noFill/>
          <a:ln w="0">
            <a:noFill/>
          </a:ln>
        </p:spPr>
        <p:style>
          <a:lnRef idx="0"/>
          <a:fillRef idx="0"/>
          <a:effectRef idx="0"/>
          <a:fontRef idx="minor"/>
        </p:style>
        <p:txBody>
          <a:bodyPr lIns="0" tIns="13680" rIns="0" bIns="0" anchor="t">
            <a:noAutofit/>
          </a:bodyPr>
          <a:p>
            <a:pPr algn="ctr" defTabSz="457200">
              <a:lnSpc>
                <a:spcPts val="2089"/>
              </a:lnSpc>
            </a:pPr>
            <a:r>
              <a:rPr lang="en-US" sz="1800" b="1" u="none" strike="noStrike">
                <a:solidFill>
                  <a:srgbClr val="17302B"/>
                </a:solidFill>
                <a:effectLst/>
                <a:uFillTx/>
                <a:latin typeface="Arial"/>
              </a:rPr>
              <a:t>Self-reinforcing</a:t>
            </a:r>
            <a:endParaRPr lang="en-US" sz="1800" b="0" u="none" strike="noStrike">
              <a:solidFill>
                <a:srgbClr val="000000"/>
              </a:solidFill>
              <a:effectLst/>
              <a:uFillTx/>
              <a:latin typeface="Arial"/>
            </a:endParaRPr>
          </a:p>
          <a:p>
            <a:pPr algn="ctr" defTabSz="457200">
              <a:lnSpc>
                <a:spcPts val="2089"/>
              </a:lnSpc>
            </a:pPr>
            <a:r>
              <a:rPr lang="en-US" sz="1800" b="1" u="none" strike="noStrike">
                <a:solidFill>
                  <a:srgbClr val="17302B"/>
                </a:solidFill>
                <a:effectLst/>
                <a:uFillTx/>
                <a:latin typeface="Arial"/>
              </a:rPr>
              <a:t>feedback loop</a:t>
            </a:r>
            <a:endParaRPr lang="en-US" sz="1800" b="0" u="none" strike="noStrike">
              <a:solidFill>
                <a:srgbClr val="000000"/>
              </a:solidFill>
              <a:effectLst/>
              <a:uFillTx/>
              <a:latin typeface="Arial"/>
            </a:endParaRPr>
          </a:p>
        </p:txBody>
      </p:sp>
      <p:cxnSp>
        <p:nvCxnSpPr>
          <p:cNvPr id="544" name="connector"/>
          <p:cNvCxnSpPr/>
          <p:nvPr/>
        </p:nvCxnSpPr>
        <p:spPr>
          <a:xfrm>
            <a:off x="8887680" y="2267640"/>
            <a:ext cx="360" cy="3310560"/>
          </a:xfrm>
          <a:prstGeom prst="straightConnector1">
            <a:avLst/>
          </a:prstGeom>
          <a:ln w="8890">
            <a:solidFill>
              <a:srgbClr val="D4DDD6"/>
            </a:solidFill>
            <a:round/>
          </a:ln>
        </p:spPr>
      </p:cxnSp>
      <p:sp>
        <p:nvSpPr>
          <p:cNvPr id="545" name="eyebrow"/>
          <p:cNvSpPr/>
          <p:nvPr/>
        </p:nvSpPr>
        <p:spPr>
          <a:xfrm>
            <a:off x="9308520" y="2404800"/>
            <a:ext cx="214848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F7358"/>
                </a:solidFill>
                <a:effectLst/>
                <a:uFillTx/>
                <a:latin typeface="Arial"/>
              </a:rPr>
              <a:t>BENEFITS</a:t>
            </a:r>
            <a:endParaRPr lang="en-US" sz="1150" b="0" u="none" strike="noStrike">
              <a:solidFill>
                <a:srgbClr val="000000"/>
              </a:solidFill>
              <a:effectLst/>
              <a:uFillTx/>
              <a:latin typeface="Arial"/>
            </a:endParaRPr>
          </a:p>
        </p:txBody>
      </p:sp>
      <p:sp>
        <p:nvSpPr>
          <p:cNvPr id="546" name="social media benefits"/>
          <p:cNvSpPr/>
          <p:nvPr/>
        </p:nvSpPr>
        <p:spPr>
          <a:xfrm>
            <a:off x="9308520" y="2834640"/>
            <a:ext cx="2157480" cy="932400"/>
          </a:xfrm>
          <a:prstGeom prst="rect">
            <a:avLst/>
          </a:prstGeom>
          <a:noFill/>
          <a:ln w="0">
            <a:noFill/>
          </a:ln>
        </p:spPr>
        <p:style>
          <a:lnRef idx="0"/>
          <a:fillRef idx="0"/>
          <a:effectRef idx="0"/>
          <a:fontRef idx="minor"/>
        </p:style>
        <p:txBody>
          <a:bodyPr lIns="0" tIns="12240" rIns="0" bIns="0" anchor="t">
            <a:noAutofit/>
          </a:bodyPr>
          <a:p>
            <a:pPr defTabSz="457200">
              <a:lnSpc>
                <a:spcPts val="2047"/>
              </a:lnSpc>
            </a:pPr>
            <a:r>
              <a:rPr lang="en-US" sz="1600" b="0" u="none" strike="noStrike">
                <a:solidFill>
                  <a:srgbClr val="17302B"/>
                </a:solidFill>
                <a:effectLst/>
                <a:uFillTx/>
                <a:latin typeface="Arial"/>
              </a:rPr>
              <a:t>Faster information</a:t>
            </a:r>
            <a:endParaRPr lang="en-US" sz="1600" b="0" u="none" strike="noStrike">
              <a:solidFill>
                <a:srgbClr val="000000"/>
              </a:solidFill>
              <a:effectLst/>
              <a:uFillTx/>
              <a:latin typeface="Arial"/>
            </a:endParaRPr>
          </a:p>
          <a:p>
            <a:pPr defTabSz="457200">
              <a:lnSpc>
                <a:spcPts val="2047"/>
              </a:lnSpc>
            </a:pPr>
            <a:r>
              <a:rPr lang="en-US" sz="1600" b="0" u="none" strike="noStrike">
                <a:solidFill>
                  <a:srgbClr val="17302B"/>
                </a:solidFill>
                <a:effectLst/>
                <a:uFillTx/>
                <a:latin typeface="Arial"/>
              </a:rPr>
              <a:t>Wider participation</a:t>
            </a:r>
            <a:endParaRPr lang="en-US" sz="1600" b="0" u="none" strike="noStrike">
              <a:solidFill>
                <a:srgbClr val="000000"/>
              </a:solidFill>
              <a:effectLst/>
              <a:uFillTx/>
              <a:latin typeface="Arial"/>
            </a:endParaRPr>
          </a:p>
          <a:p>
            <a:pPr defTabSz="457200">
              <a:lnSpc>
                <a:spcPts val="2047"/>
              </a:lnSpc>
            </a:pPr>
            <a:r>
              <a:rPr lang="en-US" sz="1600" b="0" u="none" strike="noStrike">
                <a:solidFill>
                  <a:srgbClr val="17302B"/>
                </a:solidFill>
                <a:effectLst/>
                <a:uFillTx/>
                <a:latin typeface="Arial"/>
              </a:rPr>
              <a:t>Retail investor voice</a:t>
            </a:r>
            <a:endParaRPr lang="en-US" sz="1600" b="0" u="none" strike="noStrike">
              <a:solidFill>
                <a:srgbClr val="000000"/>
              </a:solidFill>
              <a:effectLst/>
              <a:uFillTx/>
              <a:latin typeface="Arial"/>
            </a:endParaRPr>
          </a:p>
        </p:txBody>
      </p:sp>
      <p:sp>
        <p:nvSpPr>
          <p:cNvPr id="547" name="eyebrow"/>
          <p:cNvSpPr/>
          <p:nvPr/>
        </p:nvSpPr>
        <p:spPr>
          <a:xfrm>
            <a:off x="9308520" y="4279320"/>
            <a:ext cx="214848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B13F36"/>
                </a:solidFill>
                <a:effectLst/>
                <a:uFillTx/>
                <a:latin typeface="Arial"/>
              </a:rPr>
              <a:t>RISKS</a:t>
            </a:r>
            <a:endParaRPr lang="en-US" sz="1150" b="0" u="none" strike="noStrike">
              <a:solidFill>
                <a:srgbClr val="000000"/>
              </a:solidFill>
              <a:effectLst/>
              <a:uFillTx/>
              <a:latin typeface="Arial"/>
            </a:endParaRPr>
          </a:p>
        </p:txBody>
      </p:sp>
      <p:sp>
        <p:nvSpPr>
          <p:cNvPr id="548" name="social media risks"/>
          <p:cNvSpPr/>
          <p:nvPr/>
        </p:nvSpPr>
        <p:spPr>
          <a:xfrm>
            <a:off x="9308520" y="4709160"/>
            <a:ext cx="2157480" cy="840960"/>
          </a:xfrm>
          <a:prstGeom prst="rect">
            <a:avLst/>
          </a:prstGeom>
          <a:noFill/>
          <a:ln w="0">
            <a:noFill/>
          </a:ln>
        </p:spPr>
        <p:style>
          <a:lnRef idx="0"/>
          <a:fillRef idx="0"/>
          <a:effectRef idx="0"/>
          <a:fontRef idx="minor"/>
        </p:style>
        <p:txBody>
          <a:bodyPr lIns="0" tIns="12240" rIns="0" bIns="0" anchor="t">
            <a:noAutofit/>
          </a:bodyPr>
          <a:p>
            <a:pPr defTabSz="457200">
              <a:lnSpc>
                <a:spcPts val="2001"/>
              </a:lnSpc>
            </a:pPr>
            <a:r>
              <a:rPr lang="en-US" sz="1600" b="0" u="none" strike="noStrike">
                <a:solidFill>
                  <a:srgbClr val="17302B"/>
                </a:solidFill>
                <a:effectLst/>
                <a:uFillTx/>
                <a:latin typeface="Arial"/>
              </a:rPr>
              <a:t>FOMO</a:t>
            </a:r>
            <a:endParaRPr lang="en-US" sz="1600" b="0" u="none" strike="noStrike">
              <a:solidFill>
                <a:srgbClr val="000000"/>
              </a:solidFill>
              <a:effectLst/>
              <a:uFillTx/>
              <a:latin typeface="Arial"/>
            </a:endParaRPr>
          </a:p>
          <a:p>
            <a:pPr defTabSz="457200">
              <a:lnSpc>
                <a:spcPts val="2001"/>
              </a:lnSpc>
            </a:pPr>
            <a:r>
              <a:rPr lang="en-US" sz="1600" b="0" u="none" strike="noStrike">
                <a:solidFill>
                  <a:srgbClr val="17302B"/>
                </a:solidFill>
                <a:effectLst/>
                <a:uFillTx/>
                <a:latin typeface="Arial"/>
              </a:rPr>
              <a:t>Herd behavior</a:t>
            </a:r>
            <a:endParaRPr lang="en-US" sz="1600" b="0" u="none" strike="noStrike">
              <a:solidFill>
                <a:srgbClr val="000000"/>
              </a:solidFill>
              <a:effectLst/>
              <a:uFillTx/>
              <a:latin typeface="Arial"/>
            </a:endParaRPr>
          </a:p>
          <a:p>
            <a:pPr defTabSz="457200">
              <a:lnSpc>
                <a:spcPts val="2001"/>
              </a:lnSpc>
            </a:pPr>
            <a:r>
              <a:rPr lang="en-US" sz="1600" b="0" u="none" strike="noStrike">
                <a:solidFill>
                  <a:srgbClr val="17302B"/>
                </a:solidFill>
                <a:effectLst/>
                <a:uFillTx/>
                <a:latin typeface="Arial"/>
              </a:rPr>
              <a:t>Speculative momentum</a:t>
            </a:r>
            <a:endParaRPr lang="en-US" sz="1600" b="0" u="none" strike="noStrike">
              <a:solidFill>
                <a:srgbClr val="000000"/>
              </a:solidFill>
              <a:effectLst/>
              <a:uFillTx/>
              <a:latin typeface="Arial"/>
            </a:endParaRPr>
          </a:p>
        </p:txBody>
      </p:sp>
      <p:sp>
        <p:nvSpPr>
          <p:cNvPr id="549" name="manipulation boundary"/>
          <p:cNvSpPr/>
          <p:nvPr/>
        </p:nvSpPr>
        <p:spPr>
          <a:xfrm>
            <a:off x="713160" y="5916240"/>
            <a:ext cx="10734840" cy="383760"/>
          </a:xfrm>
          <a:prstGeom prst="rect">
            <a:avLst/>
          </a:prstGeom>
          <a:noFill/>
          <a:ln w="0">
            <a:noFill/>
          </a:ln>
        </p:spPr>
        <p:style>
          <a:lnRef idx="0"/>
          <a:fillRef idx="0"/>
          <a:effectRef idx="0"/>
          <a:fontRef idx="minor"/>
        </p:style>
        <p:txBody>
          <a:bodyPr lIns="0" tIns="16920" rIns="0" bIns="0" anchor="t">
            <a:noAutofit/>
          </a:bodyPr>
          <a:p>
            <a:pPr defTabSz="457200">
              <a:lnSpc>
                <a:spcPts val="2486"/>
              </a:lnSpc>
            </a:pPr>
            <a:r>
              <a:rPr lang="en-US" sz="2200" b="1" u="none" strike="noStrike">
                <a:solidFill>
                  <a:srgbClr val="17302B"/>
                </a:solidFill>
                <a:effectLst/>
                <a:uFillTx/>
                <a:latin typeface="Arial"/>
              </a:rPr>
              <a:t>Collective enthusiasm is not proof of manipulation.</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A"/>
        </a:solidFill>
      </p:bgPr>
    </p:bg>
    <p:spTree>
      <p:nvGrpSpPr>
        <p:cNvPr id="1" name=""/>
        <p:cNvGrpSpPr/>
        <p:nvPr/>
      </p:nvGrpSpPr>
      <p:grpSpPr>
        <a:xfrm>
          <a:off x="0" y="0"/>
          <a:ext cx="0" cy="0"/>
          <a:chOff x="0" y="0"/>
          <a:chExt cx="0" cy="0"/>
        </a:xfrm>
      </p:grpSpPr>
      <p:cxnSp>
        <p:nvCxnSpPr>
          <p:cNvPr id="550" name="footer rule"/>
          <p:cNvCxnSpPr/>
          <p:nvPr/>
        </p:nvCxnSpPr>
        <p:spPr>
          <a:xfrm>
            <a:off x="658080" y="6373080"/>
            <a:ext cx="10872720" cy="360"/>
          </a:xfrm>
          <a:prstGeom prst="straightConnector1">
            <a:avLst/>
          </a:prstGeom>
          <a:ln w="7620">
            <a:solidFill>
              <a:srgbClr val="D4DDD6"/>
            </a:solidFill>
            <a:round/>
          </a:ln>
        </p:spPr>
      </p:cxnSp>
      <p:sp>
        <p:nvSpPr>
          <p:cNvPr id="551"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552" name="speaker footer"/>
          <p:cNvSpPr/>
          <p:nvPr/>
        </p:nvSpPr>
        <p:spPr>
          <a:xfrm>
            <a:off x="7223760" y="6473880"/>
            <a:ext cx="3474360" cy="182520"/>
          </a:xfrm>
          <a:prstGeom prst="rect">
            <a:avLst/>
          </a:prstGeom>
          <a:noFill/>
          <a:ln w="0">
            <a:noFill/>
          </a:ln>
        </p:spPr>
        <p:style>
          <a:lnRef idx="0"/>
          <a:fillRef idx="0"/>
          <a:effectRef idx="0"/>
          <a:fontRef idx="minor"/>
        </p:style>
        <p:txBody>
          <a:bodyPr lIns="0" tIns="7200" rIns="0" bIns="0" anchor="t">
            <a:noAutofit/>
          </a:bodyPr>
          <a:p>
            <a:pPr algn="r" defTabSz="457200">
              <a:lnSpc>
                <a:spcPts val="1074"/>
              </a:lnSpc>
            </a:pPr>
            <a:r>
              <a:rPr lang="en-US" sz="950" b="0" u="none" strike="noStrike">
                <a:solidFill>
                  <a:srgbClr val="5E6B65"/>
                </a:solidFill>
                <a:effectLst/>
                <a:uFillTx/>
                <a:latin typeface="Arial"/>
              </a:rPr>
              <a:t>Lu Junyu</a:t>
            </a:r>
            <a:endParaRPr lang="en-US" sz="950" b="0" u="none" strike="noStrike">
              <a:solidFill>
                <a:srgbClr val="000000"/>
              </a:solidFill>
              <a:effectLst/>
              <a:uFillTx/>
              <a:latin typeface="Arial"/>
            </a:endParaRPr>
          </a:p>
        </p:txBody>
      </p:sp>
      <p:sp>
        <p:nvSpPr>
          <p:cNvPr id="553"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16 / 18</a:t>
            </a:r>
            <a:endParaRPr lang="en-US" sz="1000" b="0" u="none" strike="noStrike">
              <a:solidFill>
                <a:srgbClr val="000000"/>
              </a:solidFill>
              <a:effectLst/>
              <a:uFillTx/>
              <a:latin typeface="Arial"/>
            </a:endParaRPr>
          </a:p>
        </p:txBody>
      </p:sp>
      <p:sp>
        <p:nvSpPr>
          <p:cNvPr id="554"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6D5A99"/>
                </a:solidFill>
                <a:effectLst/>
                <a:uFillTx/>
                <a:latin typeface="Arial"/>
              </a:rPr>
              <a:t>Q4 / INDUSTRY RESPONSE</a:t>
            </a:r>
            <a:endParaRPr lang="en-US" sz="1150" b="0" u="none" strike="noStrike">
              <a:solidFill>
                <a:srgbClr val="000000"/>
              </a:solidFill>
              <a:effectLst/>
              <a:uFillTx/>
              <a:latin typeface="Arial"/>
            </a:endParaRPr>
          </a:p>
        </p:txBody>
      </p:sp>
      <p:sp>
        <p:nvSpPr>
          <p:cNvPr id="555" name="slide title"/>
          <p:cNvSpPr/>
          <p:nvPr/>
        </p:nvSpPr>
        <p:spPr>
          <a:xfrm>
            <a:off x="658440" y="859680"/>
            <a:ext cx="10835280" cy="676440"/>
          </a:xfrm>
          <a:prstGeom prst="rect">
            <a:avLst/>
          </a:prstGeom>
          <a:noFill/>
          <a:ln w="0">
            <a:noFill/>
          </a:ln>
        </p:spPr>
        <p:style>
          <a:lnRef idx="0"/>
          <a:fillRef idx="0"/>
          <a:effectRef idx="0"/>
          <a:fontRef idx="minor"/>
        </p:style>
        <p:txBody>
          <a:bodyPr lIns="0" tIns="25200" rIns="0" bIns="0" anchor="t">
            <a:noAutofit/>
          </a:bodyPr>
          <a:p>
            <a:pPr defTabSz="457200">
              <a:lnSpc>
                <a:spcPts val="3532"/>
              </a:lnSpc>
            </a:pPr>
            <a:r>
              <a:rPr lang="en-US" sz="3300" b="1" u="none" strike="noStrike">
                <a:solidFill>
                  <a:srgbClr val="17302B"/>
                </a:solidFill>
                <a:effectLst/>
                <a:uFillTx/>
                <a:latin typeface="Arial"/>
              </a:rPr>
              <a:t>Manage market risks—not the retail crowd</a:t>
            </a:r>
            <a:endParaRPr lang="en-US" sz="3300" b="0" u="none" strike="noStrike">
              <a:solidFill>
                <a:srgbClr val="000000"/>
              </a:solidFill>
              <a:effectLst/>
              <a:uFillTx/>
              <a:latin typeface="Arial"/>
            </a:endParaRPr>
          </a:p>
        </p:txBody>
      </p:sp>
      <p:sp>
        <p:nvSpPr>
          <p:cNvPr id="556"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Education, safer products and targeted oversight protect access and investor choice.</a:t>
            </a:r>
            <a:endParaRPr lang="en-US" sz="1700" b="0" u="none" strike="noStrike">
              <a:solidFill>
                <a:srgbClr val="000000"/>
              </a:solidFill>
              <a:effectLst/>
              <a:uFillTx/>
              <a:latin typeface="Arial"/>
            </a:endParaRPr>
          </a:p>
        </p:txBody>
      </p:sp>
      <p:cxnSp>
        <p:nvCxnSpPr>
          <p:cNvPr id="557" name="path"/>
          <p:cNvCxnSpPr/>
          <p:nvPr/>
        </p:nvCxnSpPr>
        <p:spPr>
          <a:xfrm flipH="1" flipV="1">
            <a:off x="767880" y="2322360"/>
            <a:ext cx="201600" cy="73440"/>
          </a:xfrm>
          <a:prstGeom prst="straightConnector1">
            <a:avLst/>
          </a:prstGeom>
          <a:ln w="16510">
            <a:solidFill>
              <a:srgbClr val="6D5A99"/>
            </a:solidFill>
            <a:round/>
          </a:ln>
        </p:spPr>
      </p:cxnSp>
      <p:cxnSp>
        <p:nvCxnSpPr>
          <p:cNvPr id="558" name="path"/>
          <p:cNvCxnSpPr/>
          <p:nvPr/>
        </p:nvCxnSpPr>
        <p:spPr>
          <a:xfrm>
            <a:off x="767880" y="2322360"/>
            <a:ext cx="360" cy="338760"/>
          </a:xfrm>
          <a:prstGeom prst="straightConnector1">
            <a:avLst/>
          </a:prstGeom>
          <a:ln w="16510">
            <a:solidFill>
              <a:srgbClr val="6D5A99"/>
            </a:solidFill>
            <a:round/>
          </a:ln>
        </p:spPr>
      </p:cxnSp>
      <p:cxnSp>
        <p:nvCxnSpPr>
          <p:cNvPr id="559" name="path"/>
          <p:cNvCxnSpPr/>
          <p:nvPr/>
        </p:nvCxnSpPr>
        <p:spPr>
          <a:xfrm>
            <a:off x="767880" y="2660760"/>
            <a:ext cx="201600" cy="64440"/>
          </a:xfrm>
          <a:prstGeom prst="straightConnector1">
            <a:avLst/>
          </a:prstGeom>
          <a:ln w="16510">
            <a:solidFill>
              <a:srgbClr val="6D5A99"/>
            </a:solidFill>
            <a:round/>
          </a:ln>
        </p:spPr>
      </p:cxnSp>
      <p:cxnSp>
        <p:nvCxnSpPr>
          <p:cNvPr id="560" name="path"/>
          <p:cNvCxnSpPr/>
          <p:nvPr/>
        </p:nvCxnSpPr>
        <p:spPr>
          <a:xfrm flipV="1">
            <a:off x="969120" y="2660760"/>
            <a:ext cx="201600" cy="64440"/>
          </a:xfrm>
          <a:prstGeom prst="straightConnector1">
            <a:avLst/>
          </a:prstGeom>
          <a:ln w="16510">
            <a:solidFill>
              <a:srgbClr val="6D5A99"/>
            </a:solidFill>
            <a:round/>
          </a:ln>
        </p:spPr>
      </p:cxnSp>
      <p:cxnSp>
        <p:nvCxnSpPr>
          <p:cNvPr id="561" name="path"/>
          <p:cNvCxnSpPr/>
          <p:nvPr/>
        </p:nvCxnSpPr>
        <p:spPr>
          <a:xfrm flipV="1">
            <a:off x="1170360" y="2322360"/>
            <a:ext cx="360" cy="338760"/>
          </a:xfrm>
          <a:prstGeom prst="straightConnector1">
            <a:avLst/>
          </a:prstGeom>
          <a:ln w="16510">
            <a:solidFill>
              <a:srgbClr val="6D5A99"/>
            </a:solidFill>
            <a:round/>
          </a:ln>
        </p:spPr>
      </p:cxnSp>
      <p:cxnSp>
        <p:nvCxnSpPr>
          <p:cNvPr id="562" name="path"/>
          <p:cNvCxnSpPr/>
          <p:nvPr/>
        </p:nvCxnSpPr>
        <p:spPr>
          <a:xfrm flipH="1">
            <a:off x="969120" y="2322360"/>
            <a:ext cx="201600" cy="73440"/>
          </a:xfrm>
          <a:prstGeom prst="straightConnector1">
            <a:avLst/>
          </a:prstGeom>
          <a:ln w="16510">
            <a:solidFill>
              <a:srgbClr val="6D5A99"/>
            </a:solidFill>
            <a:round/>
          </a:ln>
        </p:spPr>
      </p:cxnSp>
      <p:cxnSp>
        <p:nvCxnSpPr>
          <p:cNvPr id="563" name="path"/>
          <p:cNvCxnSpPr/>
          <p:nvPr/>
        </p:nvCxnSpPr>
        <p:spPr>
          <a:xfrm>
            <a:off x="969120" y="2395440"/>
            <a:ext cx="360" cy="329760"/>
          </a:xfrm>
          <a:prstGeom prst="straightConnector1">
            <a:avLst/>
          </a:prstGeom>
          <a:ln w="16510">
            <a:solidFill>
              <a:srgbClr val="6D5A99"/>
            </a:solidFill>
            <a:round/>
          </a:ln>
        </p:spPr>
      </p:cxnSp>
      <p:sp>
        <p:nvSpPr>
          <p:cNvPr id="564" name="industry action"/>
          <p:cNvSpPr/>
          <p:nvPr/>
        </p:nvSpPr>
        <p:spPr>
          <a:xfrm>
            <a:off x="1481400" y="2212920"/>
            <a:ext cx="6034680" cy="365400"/>
          </a:xfrm>
          <a:prstGeom prst="rect">
            <a:avLst/>
          </a:prstGeom>
          <a:noFill/>
          <a:ln w="0">
            <a:noFill/>
          </a:ln>
        </p:spPr>
        <p:style>
          <a:lnRef idx="0"/>
          <a:fillRef idx="0"/>
          <a:effectRef idx="0"/>
          <a:fontRef idx="minor"/>
        </p:style>
        <p:txBody>
          <a:bodyPr lIns="0" tIns="17640" rIns="0" bIns="0" anchor="t">
            <a:noAutofit/>
          </a:bodyPr>
          <a:p>
            <a:pPr defTabSz="457200">
              <a:lnSpc>
                <a:spcPts val="2599"/>
              </a:lnSpc>
            </a:pPr>
            <a:r>
              <a:rPr lang="en-US" sz="2300" b="1" u="none" strike="noStrike">
                <a:solidFill>
                  <a:srgbClr val="17302B"/>
                </a:solidFill>
                <a:effectLst/>
                <a:uFillTx/>
                <a:latin typeface="Arial"/>
              </a:rPr>
              <a:t>Investor education</a:t>
            </a:r>
            <a:endParaRPr lang="en-US" sz="2300" b="0" u="none" strike="noStrike">
              <a:solidFill>
                <a:srgbClr val="000000"/>
              </a:solidFill>
              <a:effectLst/>
              <a:uFillTx/>
              <a:latin typeface="Arial"/>
            </a:endParaRPr>
          </a:p>
        </p:txBody>
      </p:sp>
      <p:sp>
        <p:nvSpPr>
          <p:cNvPr id="565" name="industry action detail"/>
          <p:cNvSpPr/>
          <p:nvPr/>
        </p:nvSpPr>
        <p:spPr>
          <a:xfrm>
            <a:off x="1481400" y="2734200"/>
            <a:ext cx="5815080" cy="59400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0" u="none" strike="noStrike">
                <a:solidFill>
                  <a:srgbClr val="5E6B65"/>
                </a:solidFill>
                <a:effectLst/>
                <a:uFillTx/>
                <a:latin typeface="Arial"/>
              </a:rPr>
              <a:t>Explain volatility, short squeezes and potential losses in</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plain language.</a:t>
            </a:r>
            <a:endParaRPr lang="en-US" sz="1800" b="0" u="none" strike="noStrike">
              <a:solidFill>
                <a:srgbClr val="000000"/>
              </a:solidFill>
              <a:effectLst/>
              <a:uFillTx/>
              <a:latin typeface="Arial"/>
            </a:endParaRPr>
          </a:p>
        </p:txBody>
      </p:sp>
      <p:sp>
        <p:nvSpPr>
          <p:cNvPr id="566" name="eyebrow"/>
          <p:cNvSpPr/>
          <p:nvPr/>
        </p:nvSpPr>
        <p:spPr>
          <a:xfrm>
            <a:off x="8330040" y="2231280"/>
            <a:ext cx="29257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6D5A99"/>
                </a:solidFill>
                <a:effectLst/>
                <a:uFillTx/>
                <a:latin typeface="Arial"/>
              </a:rPr>
              <a:t>BEFORE TRADING</a:t>
            </a:r>
            <a:endParaRPr lang="en-US" sz="1150" b="0" u="none" strike="noStrike">
              <a:solidFill>
                <a:srgbClr val="000000"/>
              </a:solidFill>
              <a:effectLst/>
              <a:uFillTx/>
              <a:latin typeface="Arial"/>
            </a:endParaRPr>
          </a:p>
        </p:txBody>
      </p:sp>
      <p:sp>
        <p:nvSpPr>
          <p:cNvPr id="567" name="action purpose"/>
          <p:cNvSpPr/>
          <p:nvPr/>
        </p:nvSpPr>
        <p:spPr>
          <a:xfrm>
            <a:off x="8330040" y="2615040"/>
            <a:ext cx="2889000" cy="65808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1" u="none" strike="noStrike">
                <a:solidFill>
                  <a:srgbClr val="17302B"/>
                </a:solidFill>
                <a:effectLst/>
                <a:uFillTx/>
                <a:latin typeface="Arial"/>
              </a:rPr>
              <a:t>Inform first-time investors</a:t>
            </a:r>
            <a:endParaRPr lang="en-US" sz="1800" b="0" u="none" strike="noStrike">
              <a:solidFill>
                <a:srgbClr val="000000"/>
              </a:solidFill>
              <a:effectLst/>
              <a:uFillTx/>
              <a:latin typeface="Arial"/>
            </a:endParaRPr>
          </a:p>
        </p:txBody>
      </p:sp>
      <p:cxnSp>
        <p:nvCxnSpPr>
          <p:cNvPr id="568" name="connector"/>
          <p:cNvCxnSpPr/>
          <p:nvPr/>
        </p:nvCxnSpPr>
        <p:spPr>
          <a:xfrm>
            <a:off x="767880" y="3282480"/>
            <a:ext cx="10708200" cy="360"/>
          </a:xfrm>
          <a:prstGeom prst="straightConnector1">
            <a:avLst/>
          </a:prstGeom>
          <a:ln w="8255">
            <a:solidFill>
              <a:srgbClr val="D4DDD6"/>
            </a:solidFill>
            <a:round/>
          </a:ln>
        </p:spPr>
      </p:cxnSp>
      <p:cxnSp>
        <p:nvCxnSpPr>
          <p:cNvPr id="569" name="path"/>
          <p:cNvCxnSpPr/>
          <p:nvPr/>
        </p:nvCxnSpPr>
        <p:spPr>
          <a:xfrm>
            <a:off x="969120" y="3529440"/>
            <a:ext cx="201600" cy="82800"/>
          </a:xfrm>
          <a:prstGeom prst="straightConnector1">
            <a:avLst/>
          </a:prstGeom>
          <a:ln w="16510">
            <a:solidFill>
              <a:srgbClr val="6D5A99"/>
            </a:solidFill>
            <a:round/>
          </a:ln>
        </p:spPr>
      </p:cxnSp>
      <p:cxnSp>
        <p:nvCxnSpPr>
          <p:cNvPr id="570" name="path"/>
          <p:cNvCxnSpPr/>
          <p:nvPr/>
        </p:nvCxnSpPr>
        <p:spPr>
          <a:xfrm flipH="1">
            <a:off x="1152000" y="3611880"/>
            <a:ext cx="18720" cy="219600"/>
          </a:xfrm>
          <a:prstGeom prst="straightConnector1">
            <a:avLst/>
          </a:prstGeom>
          <a:ln w="16510">
            <a:solidFill>
              <a:srgbClr val="6D5A99"/>
            </a:solidFill>
            <a:round/>
          </a:ln>
        </p:spPr>
      </p:cxnSp>
      <p:cxnSp>
        <p:nvCxnSpPr>
          <p:cNvPr id="571" name="path"/>
          <p:cNvCxnSpPr/>
          <p:nvPr/>
        </p:nvCxnSpPr>
        <p:spPr>
          <a:xfrm flipH="1">
            <a:off x="969120" y="3831120"/>
            <a:ext cx="183240" cy="137520"/>
          </a:xfrm>
          <a:prstGeom prst="straightConnector1">
            <a:avLst/>
          </a:prstGeom>
          <a:ln w="16510">
            <a:solidFill>
              <a:srgbClr val="6D5A99"/>
            </a:solidFill>
            <a:round/>
          </a:ln>
        </p:spPr>
      </p:cxnSp>
      <p:cxnSp>
        <p:nvCxnSpPr>
          <p:cNvPr id="572" name="path"/>
          <p:cNvCxnSpPr/>
          <p:nvPr/>
        </p:nvCxnSpPr>
        <p:spPr>
          <a:xfrm flipH="1" flipV="1">
            <a:off x="786240" y="3831120"/>
            <a:ext cx="183240" cy="137520"/>
          </a:xfrm>
          <a:prstGeom prst="straightConnector1">
            <a:avLst/>
          </a:prstGeom>
          <a:ln w="16510">
            <a:solidFill>
              <a:srgbClr val="6D5A99"/>
            </a:solidFill>
            <a:round/>
          </a:ln>
        </p:spPr>
      </p:cxnSp>
      <p:cxnSp>
        <p:nvCxnSpPr>
          <p:cNvPr id="573" name="path"/>
          <p:cNvCxnSpPr/>
          <p:nvPr/>
        </p:nvCxnSpPr>
        <p:spPr>
          <a:xfrm flipH="1" flipV="1">
            <a:off x="767880" y="3611880"/>
            <a:ext cx="18720" cy="219600"/>
          </a:xfrm>
          <a:prstGeom prst="straightConnector1">
            <a:avLst/>
          </a:prstGeom>
          <a:ln w="16510">
            <a:solidFill>
              <a:srgbClr val="6D5A99"/>
            </a:solidFill>
            <a:round/>
          </a:ln>
        </p:spPr>
      </p:cxnSp>
      <p:cxnSp>
        <p:nvCxnSpPr>
          <p:cNvPr id="574" name="path"/>
          <p:cNvCxnSpPr/>
          <p:nvPr/>
        </p:nvCxnSpPr>
        <p:spPr>
          <a:xfrm flipV="1">
            <a:off x="767880" y="3529440"/>
            <a:ext cx="201600" cy="82800"/>
          </a:xfrm>
          <a:prstGeom prst="straightConnector1">
            <a:avLst/>
          </a:prstGeom>
          <a:ln w="16510">
            <a:solidFill>
              <a:srgbClr val="6D5A99"/>
            </a:solidFill>
            <a:round/>
          </a:ln>
        </p:spPr>
      </p:cxnSp>
      <p:cxnSp>
        <p:nvCxnSpPr>
          <p:cNvPr id="575" name="path"/>
          <p:cNvCxnSpPr/>
          <p:nvPr/>
        </p:nvCxnSpPr>
        <p:spPr>
          <a:xfrm>
            <a:off x="859320" y="3730680"/>
            <a:ext cx="91800" cy="91800"/>
          </a:xfrm>
          <a:prstGeom prst="straightConnector1">
            <a:avLst/>
          </a:prstGeom>
          <a:ln w="17780">
            <a:solidFill>
              <a:srgbClr val="6D5A99"/>
            </a:solidFill>
            <a:round/>
          </a:ln>
        </p:spPr>
      </p:cxnSp>
      <p:cxnSp>
        <p:nvCxnSpPr>
          <p:cNvPr id="576" name="path"/>
          <p:cNvCxnSpPr/>
          <p:nvPr/>
        </p:nvCxnSpPr>
        <p:spPr>
          <a:xfrm flipV="1">
            <a:off x="950760" y="3675600"/>
            <a:ext cx="128520" cy="146880"/>
          </a:xfrm>
          <a:prstGeom prst="straightConnector1">
            <a:avLst/>
          </a:prstGeom>
          <a:ln w="17780">
            <a:solidFill>
              <a:srgbClr val="6D5A99"/>
            </a:solidFill>
            <a:round/>
          </a:ln>
        </p:spPr>
      </p:cxnSp>
      <p:sp>
        <p:nvSpPr>
          <p:cNvPr id="577" name="industry action"/>
          <p:cNvSpPr/>
          <p:nvPr/>
        </p:nvSpPr>
        <p:spPr>
          <a:xfrm>
            <a:off x="1481400" y="3420000"/>
            <a:ext cx="6034680" cy="365400"/>
          </a:xfrm>
          <a:prstGeom prst="rect">
            <a:avLst/>
          </a:prstGeom>
          <a:noFill/>
          <a:ln w="0">
            <a:noFill/>
          </a:ln>
        </p:spPr>
        <p:style>
          <a:lnRef idx="0"/>
          <a:fillRef idx="0"/>
          <a:effectRef idx="0"/>
          <a:fontRef idx="minor"/>
        </p:style>
        <p:txBody>
          <a:bodyPr lIns="0" tIns="17640" rIns="0" bIns="0" anchor="t">
            <a:noAutofit/>
          </a:bodyPr>
          <a:p>
            <a:pPr defTabSz="457200">
              <a:lnSpc>
                <a:spcPts val="2599"/>
              </a:lnSpc>
            </a:pPr>
            <a:r>
              <a:rPr lang="en-US" sz="2300" b="1" u="none" strike="noStrike">
                <a:solidFill>
                  <a:srgbClr val="17302B"/>
                </a:solidFill>
                <a:effectLst/>
                <a:uFillTx/>
                <a:latin typeface="Arial"/>
              </a:rPr>
              <a:t>Platform safeguards</a:t>
            </a:r>
            <a:endParaRPr lang="en-US" sz="2300" b="0" u="none" strike="noStrike">
              <a:solidFill>
                <a:srgbClr val="000000"/>
              </a:solidFill>
              <a:effectLst/>
              <a:uFillTx/>
              <a:latin typeface="Arial"/>
            </a:endParaRPr>
          </a:p>
        </p:txBody>
      </p:sp>
      <p:sp>
        <p:nvSpPr>
          <p:cNvPr id="578" name="industry action detail"/>
          <p:cNvSpPr/>
          <p:nvPr/>
        </p:nvSpPr>
        <p:spPr>
          <a:xfrm>
            <a:off x="1481400" y="3940920"/>
            <a:ext cx="5815080" cy="59400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0" u="none" strike="noStrike">
                <a:solidFill>
                  <a:srgbClr val="5E6B65"/>
                </a:solidFill>
                <a:effectLst/>
                <a:uFillTx/>
                <a:latin typeface="Arial"/>
              </a:rPr>
              <a:t>Use options eligibility checks and prominent risk</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warnings.</a:t>
            </a:r>
            <a:endParaRPr lang="en-US" sz="1800" b="0" u="none" strike="noStrike">
              <a:solidFill>
                <a:srgbClr val="000000"/>
              </a:solidFill>
              <a:effectLst/>
              <a:uFillTx/>
              <a:latin typeface="Arial"/>
            </a:endParaRPr>
          </a:p>
        </p:txBody>
      </p:sp>
      <p:sp>
        <p:nvSpPr>
          <p:cNvPr id="579" name="eyebrow"/>
          <p:cNvSpPr/>
          <p:nvPr/>
        </p:nvSpPr>
        <p:spPr>
          <a:xfrm>
            <a:off x="8330040" y="3438000"/>
            <a:ext cx="29257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6D5A99"/>
                </a:solidFill>
                <a:effectLst/>
                <a:uFillTx/>
                <a:latin typeface="Arial"/>
              </a:rPr>
              <a:t>COMPLEX PRODUCTS</a:t>
            </a:r>
            <a:endParaRPr lang="en-US" sz="1150" b="0" u="none" strike="noStrike">
              <a:solidFill>
                <a:srgbClr val="000000"/>
              </a:solidFill>
              <a:effectLst/>
              <a:uFillTx/>
              <a:latin typeface="Arial"/>
            </a:endParaRPr>
          </a:p>
        </p:txBody>
      </p:sp>
      <p:sp>
        <p:nvSpPr>
          <p:cNvPr id="580" name="action purpose"/>
          <p:cNvSpPr/>
          <p:nvPr/>
        </p:nvSpPr>
        <p:spPr>
          <a:xfrm>
            <a:off x="8330040" y="3822120"/>
            <a:ext cx="2889000" cy="65808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1" u="none" strike="noStrike">
                <a:solidFill>
                  <a:srgbClr val="17302B"/>
                </a:solidFill>
                <a:effectLst/>
                <a:uFillTx/>
                <a:latin typeface="Arial"/>
              </a:rPr>
              <a:t>Protect without blocking</a:t>
            </a:r>
            <a:endParaRPr lang="en-US" sz="1800" b="0" u="none" strike="noStrike">
              <a:solidFill>
                <a:srgbClr val="000000"/>
              </a:solidFill>
              <a:effectLst/>
              <a:uFillTx/>
              <a:latin typeface="Arial"/>
            </a:endParaRPr>
          </a:p>
          <a:p>
            <a:pPr defTabSz="457200">
              <a:lnSpc>
                <a:spcPts val="2032"/>
              </a:lnSpc>
            </a:pPr>
            <a:r>
              <a:rPr lang="en-US" sz="1800" b="1" u="none" strike="noStrike">
                <a:solidFill>
                  <a:srgbClr val="17302B"/>
                </a:solidFill>
                <a:effectLst/>
                <a:uFillTx/>
                <a:latin typeface="Arial"/>
              </a:rPr>
              <a:t>ordinary trades</a:t>
            </a:r>
            <a:endParaRPr lang="en-US" sz="1800" b="0" u="none" strike="noStrike">
              <a:solidFill>
                <a:srgbClr val="000000"/>
              </a:solidFill>
              <a:effectLst/>
              <a:uFillTx/>
              <a:latin typeface="Arial"/>
            </a:endParaRPr>
          </a:p>
        </p:txBody>
      </p:sp>
      <p:cxnSp>
        <p:nvCxnSpPr>
          <p:cNvPr id="581" name="connector"/>
          <p:cNvCxnSpPr/>
          <p:nvPr/>
        </p:nvCxnSpPr>
        <p:spPr>
          <a:xfrm>
            <a:off x="767880" y="4489560"/>
            <a:ext cx="10708200" cy="360"/>
          </a:xfrm>
          <a:prstGeom prst="straightConnector1">
            <a:avLst/>
          </a:prstGeom>
          <a:ln w="8255">
            <a:solidFill>
              <a:srgbClr val="D4DDD6"/>
            </a:solidFill>
            <a:round/>
          </a:ln>
        </p:spPr>
      </p:cxnSp>
      <p:sp>
        <p:nvSpPr>
          <p:cNvPr id="582" name="circle"/>
          <p:cNvSpPr/>
          <p:nvPr/>
        </p:nvSpPr>
        <p:spPr>
          <a:xfrm>
            <a:off x="768240" y="4736520"/>
            <a:ext cx="292320" cy="292320"/>
          </a:xfrm>
          <a:prstGeom prst="ellipse">
            <a:avLst/>
          </a:prstGeom>
          <a:noFill/>
          <a:ln w="12700">
            <a:solidFill>
              <a:srgbClr val="6D5A99"/>
            </a:solidFill>
            <a:round/>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cxnSp>
        <p:nvCxnSpPr>
          <p:cNvPr id="583" name="connector"/>
          <p:cNvCxnSpPr/>
          <p:nvPr/>
        </p:nvCxnSpPr>
        <p:spPr>
          <a:xfrm>
            <a:off x="1014840" y="4983480"/>
            <a:ext cx="174240" cy="183240"/>
          </a:xfrm>
          <a:prstGeom prst="straightConnector1">
            <a:avLst/>
          </a:prstGeom>
          <a:ln w="22860">
            <a:solidFill>
              <a:srgbClr val="6D5A99"/>
            </a:solidFill>
            <a:round/>
          </a:ln>
        </p:spPr>
      </p:cxnSp>
      <p:sp>
        <p:nvSpPr>
          <p:cNvPr id="584" name="industry action"/>
          <p:cNvSpPr/>
          <p:nvPr/>
        </p:nvSpPr>
        <p:spPr>
          <a:xfrm>
            <a:off x="1481400" y="4626720"/>
            <a:ext cx="6034680" cy="365400"/>
          </a:xfrm>
          <a:prstGeom prst="rect">
            <a:avLst/>
          </a:prstGeom>
          <a:noFill/>
          <a:ln w="0">
            <a:noFill/>
          </a:ln>
        </p:spPr>
        <p:style>
          <a:lnRef idx="0"/>
          <a:fillRef idx="0"/>
          <a:effectRef idx="0"/>
          <a:fontRef idx="minor"/>
        </p:style>
        <p:txBody>
          <a:bodyPr lIns="0" tIns="17640" rIns="0" bIns="0" anchor="t">
            <a:noAutofit/>
          </a:bodyPr>
          <a:p>
            <a:pPr defTabSz="457200">
              <a:lnSpc>
                <a:spcPts val="2599"/>
              </a:lnSpc>
            </a:pPr>
            <a:r>
              <a:rPr lang="en-US" sz="2300" b="1" u="none" strike="noStrike">
                <a:solidFill>
                  <a:srgbClr val="17302B"/>
                </a:solidFill>
                <a:effectLst/>
                <a:uFillTx/>
                <a:latin typeface="Arial"/>
              </a:rPr>
              <a:t>Regulatory oversight</a:t>
            </a:r>
            <a:endParaRPr lang="en-US" sz="2300" b="0" u="none" strike="noStrike">
              <a:solidFill>
                <a:srgbClr val="000000"/>
              </a:solidFill>
              <a:effectLst/>
              <a:uFillTx/>
              <a:latin typeface="Arial"/>
            </a:endParaRPr>
          </a:p>
        </p:txBody>
      </p:sp>
      <p:sp>
        <p:nvSpPr>
          <p:cNvPr id="585" name="industry action detail"/>
          <p:cNvSpPr/>
          <p:nvPr/>
        </p:nvSpPr>
        <p:spPr>
          <a:xfrm>
            <a:off x="1481400" y="5148000"/>
            <a:ext cx="5815080" cy="59400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0" u="none" strike="noStrike">
                <a:solidFill>
                  <a:srgbClr val="5E6B65"/>
                </a:solidFill>
                <a:effectLst/>
                <a:uFillTx/>
                <a:latin typeface="Arial"/>
              </a:rPr>
              <a:t>Investigate coordinated deception and suspicious</a:t>
            </a:r>
            <a:endParaRPr lang="en-US" sz="1800" b="0" u="none" strike="noStrike">
              <a:solidFill>
                <a:srgbClr val="000000"/>
              </a:solidFill>
              <a:effectLst/>
              <a:uFillTx/>
              <a:latin typeface="Arial"/>
            </a:endParaRPr>
          </a:p>
          <a:p>
            <a:pPr defTabSz="457200">
              <a:lnSpc>
                <a:spcPts val="2032"/>
              </a:lnSpc>
            </a:pPr>
            <a:r>
              <a:rPr lang="en-US" sz="1800" b="0" u="none" strike="noStrike">
                <a:solidFill>
                  <a:srgbClr val="5E6B65"/>
                </a:solidFill>
                <a:effectLst/>
                <a:uFillTx/>
                <a:latin typeface="Arial"/>
              </a:rPr>
              <a:t>trading.</a:t>
            </a:r>
            <a:endParaRPr lang="en-US" sz="1800" b="0" u="none" strike="noStrike">
              <a:solidFill>
                <a:srgbClr val="000000"/>
              </a:solidFill>
              <a:effectLst/>
              <a:uFillTx/>
              <a:latin typeface="Arial"/>
            </a:endParaRPr>
          </a:p>
        </p:txBody>
      </p:sp>
      <p:sp>
        <p:nvSpPr>
          <p:cNvPr id="586" name="eyebrow"/>
          <p:cNvSpPr/>
          <p:nvPr/>
        </p:nvSpPr>
        <p:spPr>
          <a:xfrm>
            <a:off x="8330040" y="4645080"/>
            <a:ext cx="29257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6D5A99"/>
                </a:solidFill>
                <a:effectLst/>
                <a:uFillTx/>
                <a:latin typeface="Arial"/>
              </a:rPr>
              <a:t>MARKET CONDUCT</a:t>
            </a:r>
            <a:endParaRPr lang="en-US" sz="1150" b="0" u="none" strike="noStrike">
              <a:solidFill>
                <a:srgbClr val="000000"/>
              </a:solidFill>
              <a:effectLst/>
              <a:uFillTx/>
              <a:latin typeface="Arial"/>
            </a:endParaRPr>
          </a:p>
        </p:txBody>
      </p:sp>
      <p:sp>
        <p:nvSpPr>
          <p:cNvPr id="587" name="action purpose"/>
          <p:cNvSpPr/>
          <p:nvPr/>
        </p:nvSpPr>
        <p:spPr>
          <a:xfrm>
            <a:off x="8330040" y="5029200"/>
            <a:ext cx="2889000" cy="65808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1" u="none" strike="noStrike">
                <a:solidFill>
                  <a:srgbClr val="17302B"/>
                </a:solidFill>
                <a:effectLst/>
                <a:uFillTx/>
                <a:latin typeface="Arial"/>
              </a:rPr>
              <a:t>Distinguish discussion</a:t>
            </a:r>
            <a:endParaRPr lang="en-US" sz="1800" b="0" u="none" strike="noStrike">
              <a:solidFill>
                <a:srgbClr val="000000"/>
              </a:solidFill>
              <a:effectLst/>
              <a:uFillTx/>
              <a:latin typeface="Arial"/>
            </a:endParaRPr>
          </a:p>
          <a:p>
            <a:pPr defTabSz="457200">
              <a:lnSpc>
                <a:spcPts val="2032"/>
              </a:lnSpc>
            </a:pPr>
            <a:r>
              <a:rPr lang="en-US" sz="1800" b="1" u="none" strike="noStrike">
                <a:solidFill>
                  <a:srgbClr val="17302B"/>
                </a:solidFill>
                <a:effectLst/>
                <a:uFillTx/>
                <a:latin typeface="Arial"/>
              </a:rPr>
              <a:t>from manipulation</a:t>
            </a:r>
            <a:endParaRPr lang="en-US" sz="1800" b="0" u="none" strike="noStrike">
              <a:solidFill>
                <a:srgbClr val="000000"/>
              </a:solidFill>
              <a:effectLst/>
              <a:uFillTx/>
              <a:latin typeface="Arial"/>
            </a:endParaRPr>
          </a:p>
        </p:txBody>
      </p:sp>
      <p:sp>
        <p:nvSpPr>
          <p:cNvPr id="588" name="conclusion mark"/>
          <p:cNvSpPr/>
          <p:nvPr/>
        </p:nvSpPr>
        <p:spPr>
          <a:xfrm>
            <a:off x="658440" y="5952600"/>
            <a:ext cx="50040" cy="365400"/>
          </a:xfrm>
          <a:prstGeom prst="rect">
            <a:avLst/>
          </a:prstGeom>
          <a:solidFill>
            <a:srgbClr val="6D5A99"/>
          </a:solidFill>
          <a:ln>
            <a:noFill/>
          </a:ln>
        </p:spPr>
        <p:style>
          <a:lnRef idx="1">
            <a:schemeClr val="accent1"/>
          </a:lnRef>
          <a:fillRef idx="3">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89" name="takeaway"/>
          <p:cNvSpPr/>
          <p:nvPr/>
        </p:nvSpPr>
        <p:spPr>
          <a:xfrm>
            <a:off x="877680" y="5925240"/>
            <a:ext cx="10560960" cy="493560"/>
          </a:xfrm>
          <a:prstGeom prst="rect">
            <a:avLst/>
          </a:prstGeom>
          <a:noFill/>
          <a:ln w="0">
            <a:noFill/>
          </a:ln>
        </p:spPr>
        <p:style>
          <a:lnRef idx="0"/>
          <a:fillRef idx="0"/>
          <a:effectRef idx="0"/>
          <a:fontRef idx="minor"/>
        </p:style>
        <p:txBody>
          <a:bodyPr lIns="0" tIns="13680" rIns="0" bIns="0" anchor="t">
            <a:noAutofit/>
          </a:bodyPr>
          <a:p>
            <a:pPr defTabSz="457200">
              <a:lnSpc>
                <a:spcPts val="1981"/>
              </a:lnSpc>
            </a:pPr>
            <a:r>
              <a:rPr lang="en-US" sz="1800" b="1" u="none" strike="noStrike">
                <a:solidFill>
                  <a:srgbClr val="17302B"/>
                </a:solidFill>
                <a:effectLst/>
                <a:uFillTx/>
                <a:latin typeface="Arial"/>
              </a:rPr>
              <a:t>Design safer platforms and enforce fair rules—without silencing retail investors.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590" name="footer rule"/>
          <p:cNvCxnSpPr/>
          <p:nvPr/>
        </p:nvCxnSpPr>
        <p:spPr>
          <a:xfrm>
            <a:off x="658080" y="6373080"/>
            <a:ext cx="10872720" cy="360"/>
          </a:xfrm>
          <a:prstGeom prst="straightConnector1">
            <a:avLst/>
          </a:prstGeom>
          <a:ln w="7620">
            <a:solidFill>
              <a:srgbClr val="D4DDD6"/>
            </a:solidFill>
            <a:round/>
          </a:ln>
        </p:spPr>
      </p:cxnSp>
      <p:sp>
        <p:nvSpPr>
          <p:cNvPr id="591"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592" name="speaker footer"/>
          <p:cNvSpPr/>
          <p:nvPr/>
        </p:nvSpPr>
        <p:spPr>
          <a:xfrm>
            <a:off x="7223760" y="6473880"/>
            <a:ext cx="3474360" cy="182520"/>
          </a:xfrm>
          <a:prstGeom prst="rect">
            <a:avLst/>
          </a:prstGeom>
          <a:noFill/>
          <a:ln w="0">
            <a:noFill/>
          </a:ln>
        </p:spPr>
        <p:style>
          <a:lnRef idx="0"/>
          <a:fillRef idx="0"/>
          <a:effectRef idx="0"/>
          <a:fontRef idx="minor"/>
        </p:style>
        <p:txBody>
          <a:bodyPr lIns="0" tIns="7200" rIns="0" bIns="0" anchor="t">
            <a:noAutofit/>
          </a:bodyPr>
          <a:p>
            <a:pPr algn="r" defTabSz="457200">
              <a:lnSpc>
                <a:spcPts val="1074"/>
              </a:lnSpc>
            </a:pPr>
            <a:r>
              <a:rPr lang="en-US" sz="950" b="0" u="none" strike="noStrike">
                <a:solidFill>
                  <a:srgbClr val="5E6B65"/>
                </a:solidFill>
                <a:effectLst/>
                <a:uFillTx/>
                <a:latin typeface="Arial"/>
              </a:rPr>
              <a:t>Lu Junyu</a:t>
            </a:r>
            <a:endParaRPr lang="en-US" sz="950" b="0" u="none" strike="noStrike">
              <a:solidFill>
                <a:srgbClr val="000000"/>
              </a:solidFill>
              <a:effectLst/>
              <a:uFillTx/>
              <a:latin typeface="Arial"/>
            </a:endParaRPr>
          </a:p>
        </p:txBody>
      </p:sp>
      <p:sp>
        <p:nvSpPr>
          <p:cNvPr id="593"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17 / 18</a:t>
            </a:r>
            <a:endParaRPr lang="en-US" sz="1000" b="0" u="none" strike="noStrike">
              <a:solidFill>
                <a:srgbClr val="000000"/>
              </a:solidFill>
              <a:effectLst/>
              <a:uFillTx/>
              <a:latin typeface="Arial"/>
            </a:endParaRPr>
          </a:p>
        </p:txBody>
      </p:sp>
      <p:sp>
        <p:nvSpPr>
          <p:cNvPr id="594" name="eyebrow"/>
          <p:cNvSpPr/>
          <p:nvPr/>
        </p:nvSpPr>
        <p:spPr>
          <a:xfrm>
            <a:off x="658440" y="39312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6D5A99"/>
                </a:solidFill>
                <a:effectLst/>
                <a:uFillTx/>
                <a:latin typeface="Arial"/>
              </a:rPr>
              <a:t>Q4 / THE FINAL LESSON</a:t>
            </a:r>
            <a:endParaRPr lang="en-US" sz="1150" b="0" u="none" strike="noStrike">
              <a:solidFill>
                <a:srgbClr val="000000"/>
              </a:solidFill>
              <a:effectLst/>
              <a:uFillTx/>
              <a:latin typeface="Arial"/>
            </a:endParaRPr>
          </a:p>
        </p:txBody>
      </p:sp>
      <p:sp>
        <p:nvSpPr>
          <p:cNvPr id="595" name="slide title"/>
          <p:cNvSpPr/>
          <p:nvPr/>
        </p:nvSpPr>
        <p:spPr>
          <a:xfrm>
            <a:off x="658440" y="859680"/>
            <a:ext cx="10835280" cy="676440"/>
          </a:xfrm>
          <a:prstGeom prst="rect">
            <a:avLst/>
          </a:prstGeom>
          <a:noFill/>
          <a:ln w="0">
            <a:noFill/>
          </a:ln>
        </p:spPr>
        <p:style>
          <a:lnRef idx="0"/>
          <a:fillRef idx="0"/>
          <a:effectRef idx="0"/>
          <a:fontRef idx="minor"/>
        </p:style>
        <p:txBody>
          <a:bodyPr lIns="0" tIns="25200" rIns="0" bIns="0" anchor="t">
            <a:noAutofit/>
          </a:bodyPr>
          <a:p>
            <a:pPr defTabSz="457200">
              <a:lnSpc>
                <a:spcPts val="3532"/>
              </a:lnSpc>
            </a:pPr>
            <a:r>
              <a:rPr lang="en-US" sz="3300" b="1" u="none" strike="noStrike">
                <a:solidFill>
                  <a:srgbClr val="17302B"/>
                </a:solidFill>
                <a:effectLst/>
                <a:uFillTx/>
                <a:latin typeface="Arial"/>
              </a:rPr>
              <a:t>GameStop exposed a market-wide trust problem</a:t>
            </a:r>
            <a:endParaRPr lang="en-US" sz="3300" b="0" u="none" strike="noStrike">
              <a:solidFill>
                <a:srgbClr val="000000"/>
              </a:solidFill>
              <a:effectLst/>
              <a:uFillTx/>
              <a:latin typeface="Arial"/>
            </a:endParaRPr>
          </a:p>
        </p:txBody>
      </p:sp>
      <p:sp>
        <p:nvSpPr>
          <p:cNvPr id="596" name="slide subtitle"/>
          <p:cNvSpPr/>
          <p:nvPr/>
        </p:nvSpPr>
        <p:spPr>
          <a:xfrm>
            <a:off x="658440" y="1527120"/>
            <a:ext cx="10606680" cy="429480"/>
          </a:xfrm>
          <a:prstGeom prst="rect">
            <a:avLst/>
          </a:prstGeom>
          <a:noFill/>
          <a:ln w="0">
            <a:noFill/>
          </a:ln>
        </p:spPr>
        <p:style>
          <a:lnRef idx="0"/>
          <a:fillRef idx="0"/>
          <a:effectRef idx="0"/>
          <a:fontRef idx="minor"/>
        </p:style>
        <p:txBody>
          <a:bodyPr lIns="0" tIns="12960" rIns="0" bIns="0" anchor="t">
            <a:noAutofit/>
          </a:bodyPr>
          <a:p>
            <a:pPr defTabSz="457200">
              <a:lnSpc>
                <a:spcPts val="1939"/>
              </a:lnSpc>
            </a:pPr>
            <a:r>
              <a:rPr lang="en-US" sz="1700" b="0" u="none" strike="noStrike">
                <a:solidFill>
                  <a:srgbClr val="5E6B65"/>
                </a:solidFill>
                <a:effectLst/>
                <a:uFillTx/>
                <a:latin typeface="Arial"/>
              </a:rPr>
              <a:t>The hearing raised questions beyond any one trading app.</a:t>
            </a:r>
            <a:endParaRPr lang="en-US" sz="1700" b="0" u="none" strike="noStrike">
              <a:solidFill>
                <a:srgbClr val="000000"/>
              </a:solidFill>
              <a:effectLst/>
              <a:uFillTx/>
              <a:latin typeface="Arial"/>
            </a:endParaRPr>
          </a:p>
        </p:txBody>
      </p:sp>
      <p:sp>
        <p:nvSpPr>
          <p:cNvPr id="597" name="eyebrow"/>
          <p:cNvSpPr/>
          <p:nvPr/>
        </p:nvSpPr>
        <p:spPr>
          <a:xfrm>
            <a:off x="713160" y="2258640"/>
            <a:ext cx="347436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5E6B65"/>
                </a:solidFill>
                <a:effectLst/>
                <a:uFillTx/>
                <a:latin typeface="Arial"/>
              </a:rPr>
              <a:t>U.S. HOUSE HEARING</a:t>
            </a:r>
            <a:endParaRPr lang="en-US" sz="1150" b="0" u="none" strike="noStrike">
              <a:solidFill>
                <a:srgbClr val="000000"/>
              </a:solidFill>
              <a:effectLst/>
              <a:uFillTx/>
              <a:latin typeface="Arial"/>
            </a:endParaRPr>
          </a:p>
        </p:txBody>
      </p:sp>
      <p:sp>
        <p:nvSpPr>
          <p:cNvPr id="598" name="hearing date"/>
          <p:cNvSpPr/>
          <p:nvPr/>
        </p:nvSpPr>
        <p:spPr>
          <a:xfrm>
            <a:off x="713160" y="2642760"/>
            <a:ext cx="3090240" cy="932400"/>
          </a:xfrm>
          <a:prstGeom prst="rect">
            <a:avLst/>
          </a:prstGeom>
          <a:noFill/>
          <a:ln w="0">
            <a:noFill/>
          </a:ln>
        </p:spPr>
        <p:style>
          <a:lnRef idx="0"/>
          <a:fillRef idx="0"/>
          <a:effectRef idx="0"/>
          <a:fontRef idx="minor"/>
        </p:style>
        <p:txBody>
          <a:bodyPr lIns="0" tIns="24480" rIns="0" bIns="0" anchor="t">
            <a:noAutofit/>
          </a:bodyPr>
          <a:p>
            <a:pPr defTabSz="457200">
              <a:lnSpc>
                <a:spcPts val="3359"/>
              </a:lnSpc>
            </a:pPr>
            <a:r>
              <a:rPr lang="en-US" sz="3200" b="1" u="none" strike="noStrike">
                <a:solidFill>
                  <a:srgbClr val="855E26"/>
                </a:solidFill>
                <a:effectLst/>
                <a:uFillTx/>
                <a:latin typeface="Arial"/>
              </a:rPr>
              <a:t>18 FEB</a:t>
            </a:r>
            <a:endParaRPr lang="en-US" sz="3200" b="0" u="none" strike="noStrike">
              <a:solidFill>
                <a:srgbClr val="000000"/>
              </a:solidFill>
              <a:effectLst/>
              <a:uFillTx/>
              <a:latin typeface="Arial"/>
            </a:endParaRPr>
          </a:p>
          <a:p>
            <a:pPr defTabSz="457200">
              <a:lnSpc>
                <a:spcPts val="3359"/>
              </a:lnSpc>
            </a:pPr>
            <a:r>
              <a:rPr lang="en-US" sz="3200" b="1" u="none" strike="noStrike">
                <a:solidFill>
                  <a:srgbClr val="855E26"/>
                </a:solidFill>
                <a:effectLst/>
                <a:uFillTx/>
                <a:latin typeface="Arial"/>
              </a:rPr>
              <a:t>2021</a:t>
            </a:r>
            <a:endParaRPr lang="en-US" sz="3200" b="0" u="none" strike="noStrike">
              <a:solidFill>
                <a:srgbClr val="000000"/>
              </a:solidFill>
              <a:effectLst/>
              <a:uFillTx/>
              <a:latin typeface="Arial"/>
            </a:endParaRPr>
          </a:p>
        </p:txBody>
      </p:sp>
      <p:sp>
        <p:nvSpPr>
          <p:cNvPr id="599" name="hearing committee"/>
          <p:cNvSpPr/>
          <p:nvPr/>
        </p:nvSpPr>
        <p:spPr>
          <a:xfrm>
            <a:off x="713160" y="3740040"/>
            <a:ext cx="3044520" cy="685440"/>
          </a:xfrm>
          <a:prstGeom prst="rect">
            <a:avLst/>
          </a:prstGeom>
          <a:noFill/>
          <a:ln w="0">
            <a:noFill/>
          </a:ln>
        </p:spPr>
        <p:style>
          <a:lnRef idx="0"/>
          <a:fillRef idx="0"/>
          <a:effectRef idx="0"/>
          <a:fontRef idx="minor"/>
        </p:style>
        <p:txBody>
          <a:bodyPr lIns="0" tIns="15120" rIns="0" bIns="0" anchor="t">
            <a:noAutofit/>
          </a:bodyPr>
          <a:p>
            <a:pPr defTabSz="457200">
              <a:lnSpc>
                <a:spcPts val="2259"/>
              </a:lnSpc>
            </a:pPr>
            <a:r>
              <a:rPr lang="en-US" sz="2000" b="1" u="none" strike="noStrike">
                <a:solidFill>
                  <a:srgbClr val="17302B"/>
                </a:solidFill>
                <a:effectLst/>
                <a:uFillTx/>
                <a:latin typeface="Arial"/>
              </a:rPr>
              <a:t>Financial Services</a:t>
            </a:r>
            <a:endParaRPr lang="en-US" sz="2000" b="0" u="none" strike="noStrike">
              <a:solidFill>
                <a:srgbClr val="000000"/>
              </a:solidFill>
              <a:effectLst/>
              <a:uFillTx/>
              <a:latin typeface="Arial"/>
            </a:endParaRPr>
          </a:p>
          <a:p>
            <a:pPr defTabSz="457200">
              <a:lnSpc>
                <a:spcPts val="2259"/>
              </a:lnSpc>
            </a:pPr>
            <a:r>
              <a:rPr lang="en-US" sz="2000" b="1" u="none" strike="noStrike">
                <a:solidFill>
                  <a:srgbClr val="17302B"/>
                </a:solidFill>
                <a:effectLst/>
                <a:uFillTx/>
                <a:latin typeface="Arial"/>
              </a:rPr>
              <a:t>Committee</a:t>
            </a:r>
            <a:endParaRPr lang="en-US" sz="2000" b="0" u="none" strike="noStrike">
              <a:solidFill>
                <a:srgbClr val="000000"/>
              </a:solidFill>
              <a:effectLst/>
              <a:uFillTx/>
              <a:latin typeface="Arial"/>
            </a:endParaRPr>
          </a:p>
        </p:txBody>
      </p:sp>
      <p:sp>
        <p:nvSpPr>
          <p:cNvPr id="600" name="eyebrow"/>
          <p:cNvSpPr/>
          <p:nvPr/>
        </p:nvSpPr>
        <p:spPr>
          <a:xfrm>
            <a:off x="713160" y="4654440"/>
            <a:ext cx="310860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5E6B65"/>
                </a:solidFill>
                <a:effectLst/>
                <a:uFillTx/>
                <a:latin typeface="Arial"/>
              </a:rPr>
              <a:t>KEY VOICES</a:t>
            </a:r>
            <a:endParaRPr lang="en-US" sz="1150" b="0" u="none" strike="noStrike">
              <a:solidFill>
                <a:srgbClr val="000000"/>
              </a:solidFill>
              <a:effectLst/>
              <a:uFillTx/>
              <a:latin typeface="Arial"/>
            </a:endParaRPr>
          </a:p>
        </p:txBody>
      </p:sp>
      <p:sp>
        <p:nvSpPr>
          <p:cNvPr id="601" name="hearing speakers"/>
          <p:cNvSpPr/>
          <p:nvPr/>
        </p:nvSpPr>
        <p:spPr>
          <a:xfrm>
            <a:off x="713160" y="5001840"/>
            <a:ext cx="3163320" cy="905040"/>
          </a:xfrm>
          <a:prstGeom prst="rect">
            <a:avLst/>
          </a:prstGeom>
          <a:noFill/>
          <a:ln w="0">
            <a:noFill/>
          </a:ln>
        </p:spPr>
        <p:style>
          <a:lnRef idx="0"/>
          <a:fillRef idx="0"/>
          <a:effectRef idx="0"/>
          <a:fontRef idx="minor"/>
        </p:style>
        <p:txBody>
          <a:bodyPr lIns="0" tIns="12960" rIns="0" bIns="0" anchor="t">
            <a:noAutofit/>
          </a:bodyPr>
          <a:p>
            <a:pPr defTabSz="457200">
              <a:lnSpc>
                <a:spcPts val="2038"/>
              </a:lnSpc>
            </a:pPr>
            <a:r>
              <a:rPr lang="en-US" sz="1700" b="0" u="none" strike="noStrike">
                <a:solidFill>
                  <a:srgbClr val="5E6B65"/>
                </a:solidFill>
                <a:effectLst/>
                <a:uFillTx/>
                <a:latin typeface="Arial"/>
              </a:rPr>
              <a:t>Vlad Tenev · Keith Gill</a:t>
            </a:r>
            <a:endParaRPr lang="en-US" sz="1700" b="0" u="none" strike="noStrike">
              <a:solidFill>
                <a:srgbClr val="000000"/>
              </a:solidFill>
              <a:effectLst/>
              <a:uFillTx/>
              <a:latin typeface="Arial"/>
            </a:endParaRPr>
          </a:p>
          <a:p>
            <a:pPr defTabSz="457200">
              <a:lnSpc>
                <a:spcPts val="2038"/>
              </a:lnSpc>
            </a:pPr>
            <a:r>
              <a:rPr lang="en-US" sz="1700" b="0" u="none" strike="noStrike">
                <a:solidFill>
                  <a:srgbClr val="5E6B65"/>
                </a:solidFill>
                <a:effectLst/>
                <a:uFillTx/>
                <a:latin typeface="Arial"/>
              </a:rPr>
              <a:t>Melvin’s Gabe Plotkin</a:t>
            </a:r>
            <a:endParaRPr lang="en-US" sz="1700" b="0" u="none" strike="noStrike">
              <a:solidFill>
                <a:srgbClr val="000000"/>
              </a:solidFill>
              <a:effectLst/>
              <a:uFillTx/>
              <a:latin typeface="Arial"/>
            </a:endParaRPr>
          </a:p>
        </p:txBody>
      </p:sp>
      <p:cxnSp>
        <p:nvCxnSpPr>
          <p:cNvPr id="602" name="connector"/>
          <p:cNvCxnSpPr/>
          <p:nvPr/>
        </p:nvCxnSpPr>
        <p:spPr>
          <a:xfrm>
            <a:off x="4215240" y="2258280"/>
            <a:ext cx="360" cy="3621600"/>
          </a:xfrm>
          <a:prstGeom prst="straightConnector1">
            <a:avLst/>
          </a:prstGeom>
          <a:ln w="8890">
            <a:solidFill>
              <a:srgbClr val="D4DDD6"/>
            </a:solidFill>
            <a:round/>
          </a:ln>
        </p:spPr>
      </p:cxnSp>
      <p:sp>
        <p:nvSpPr>
          <p:cNvPr id="603" name="answer question"/>
          <p:cNvSpPr/>
          <p:nvPr/>
        </p:nvSpPr>
        <p:spPr>
          <a:xfrm>
            <a:off x="4700160" y="2267640"/>
            <a:ext cx="585000" cy="36540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1" u="none" strike="noStrike">
                <a:solidFill>
                  <a:srgbClr val="855E26"/>
                </a:solidFill>
                <a:effectLst/>
                <a:uFillTx/>
                <a:latin typeface="Arial"/>
              </a:rPr>
              <a:t>Q2</a:t>
            </a:r>
            <a:endParaRPr lang="en-US" sz="1700" b="0" u="none" strike="noStrike">
              <a:solidFill>
                <a:srgbClr val="000000"/>
              </a:solidFill>
              <a:effectLst/>
              <a:uFillTx/>
              <a:latin typeface="Arial"/>
            </a:endParaRPr>
          </a:p>
        </p:txBody>
      </p:sp>
      <p:sp>
        <p:nvSpPr>
          <p:cNvPr id="604" name="final answer"/>
          <p:cNvSpPr/>
          <p:nvPr/>
        </p:nvSpPr>
        <p:spPr>
          <a:xfrm>
            <a:off x="5486400" y="2240280"/>
            <a:ext cx="5815080" cy="420120"/>
          </a:xfrm>
          <a:prstGeom prst="rect">
            <a:avLst/>
          </a:prstGeom>
          <a:noFill/>
          <a:ln w="0">
            <a:noFill/>
          </a:ln>
        </p:spPr>
        <p:style>
          <a:lnRef idx="0"/>
          <a:fillRef idx="0"/>
          <a:effectRef idx="0"/>
          <a:fontRef idx="minor"/>
        </p:style>
        <p:txBody>
          <a:bodyPr lIns="0" tIns="19080" rIns="0" bIns="0" anchor="t">
            <a:noAutofit/>
          </a:bodyPr>
          <a:p>
            <a:pPr defTabSz="457200">
              <a:lnSpc>
                <a:spcPts val="2823"/>
              </a:lnSpc>
            </a:pPr>
            <a:r>
              <a:rPr lang="en-US" sz="2500" b="1" u="none" strike="noStrike">
                <a:solidFill>
                  <a:srgbClr val="17302B"/>
                </a:solidFill>
                <a:effectLst/>
                <a:uFillTx/>
                <a:latin typeface="Arial"/>
              </a:rPr>
              <a:t>Keep short selling</a:t>
            </a:r>
            <a:endParaRPr lang="en-US" sz="2500" b="0" u="none" strike="noStrike">
              <a:solidFill>
                <a:srgbClr val="000000"/>
              </a:solidFill>
              <a:effectLst/>
              <a:uFillTx/>
              <a:latin typeface="Arial"/>
            </a:endParaRPr>
          </a:p>
        </p:txBody>
      </p:sp>
      <p:sp>
        <p:nvSpPr>
          <p:cNvPr id="605" name="answer explanation"/>
          <p:cNvSpPr/>
          <p:nvPr/>
        </p:nvSpPr>
        <p:spPr>
          <a:xfrm>
            <a:off x="5486400" y="2788920"/>
            <a:ext cx="5751360" cy="60300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0" u="none" strike="noStrike">
                <a:solidFill>
                  <a:srgbClr val="5E6B65"/>
                </a:solidFill>
                <a:effectLst/>
                <a:uFillTx/>
                <a:latin typeface="Arial"/>
              </a:rPr>
              <a:t>Preserve information and liquidity; control excessive risk.</a:t>
            </a:r>
            <a:endParaRPr lang="en-US" sz="1700" b="0" u="none" strike="noStrike">
              <a:solidFill>
                <a:srgbClr val="000000"/>
              </a:solidFill>
              <a:effectLst/>
              <a:uFillTx/>
              <a:latin typeface="Arial"/>
            </a:endParaRPr>
          </a:p>
        </p:txBody>
      </p:sp>
      <p:sp>
        <p:nvSpPr>
          <p:cNvPr id="606" name="answer question"/>
          <p:cNvSpPr/>
          <p:nvPr/>
        </p:nvSpPr>
        <p:spPr>
          <a:xfrm>
            <a:off x="4700160" y="3456360"/>
            <a:ext cx="585000" cy="36540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1" u="none" strike="noStrike">
                <a:solidFill>
                  <a:srgbClr val="B13F36"/>
                </a:solidFill>
                <a:effectLst/>
                <a:uFillTx/>
                <a:latin typeface="Arial"/>
              </a:rPr>
              <a:t>Q3</a:t>
            </a:r>
            <a:endParaRPr lang="en-US" sz="1700" b="0" u="none" strike="noStrike">
              <a:solidFill>
                <a:srgbClr val="000000"/>
              </a:solidFill>
              <a:effectLst/>
              <a:uFillTx/>
              <a:latin typeface="Arial"/>
            </a:endParaRPr>
          </a:p>
        </p:txBody>
      </p:sp>
      <p:sp>
        <p:nvSpPr>
          <p:cNvPr id="607" name="final answer"/>
          <p:cNvSpPr/>
          <p:nvPr/>
        </p:nvSpPr>
        <p:spPr>
          <a:xfrm>
            <a:off x="5486400" y="3429000"/>
            <a:ext cx="5815080" cy="420120"/>
          </a:xfrm>
          <a:prstGeom prst="rect">
            <a:avLst/>
          </a:prstGeom>
          <a:noFill/>
          <a:ln w="0">
            <a:noFill/>
          </a:ln>
        </p:spPr>
        <p:style>
          <a:lnRef idx="0"/>
          <a:fillRef idx="0"/>
          <a:effectRef idx="0"/>
          <a:fontRef idx="minor"/>
        </p:style>
        <p:txBody>
          <a:bodyPr lIns="0" tIns="19080" rIns="0" bIns="0" anchor="t">
            <a:noAutofit/>
          </a:bodyPr>
          <a:p>
            <a:pPr defTabSz="457200">
              <a:lnSpc>
                <a:spcPts val="2823"/>
              </a:lnSpc>
            </a:pPr>
            <a:r>
              <a:rPr lang="en-US" sz="2500" b="1" u="none" strike="noStrike">
                <a:solidFill>
                  <a:srgbClr val="17302B"/>
                </a:solidFill>
                <a:effectLst/>
                <a:uFillTx/>
                <a:latin typeface="Arial"/>
              </a:rPr>
              <a:t>Reject unfair buy limits</a:t>
            </a:r>
            <a:endParaRPr lang="en-US" sz="2500" b="0" u="none" strike="noStrike">
              <a:solidFill>
                <a:srgbClr val="000000"/>
              </a:solidFill>
              <a:effectLst/>
              <a:uFillTx/>
              <a:latin typeface="Arial"/>
            </a:endParaRPr>
          </a:p>
        </p:txBody>
      </p:sp>
      <p:sp>
        <p:nvSpPr>
          <p:cNvPr id="608" name="answer explanation"/>
          <p:cNvSpPr/>
          <p:nvPr/>
        </p:nvSpPr>
        <p:spPr>
          <a:xfrm>
            <a:off x="5486400" y="3977640"/>
            <a:ext cx="5751360" cy="60300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0" u="none" strike="noStrike">
                <a:solidFill>
                  <a:srgbClr val="5E6B65"/>
                </a:solidFill>
                <a:effectLst/>
                <a:uFillTx/>
                <a:latin typeface="Arial"/>
              </a:rPr>
              <a:t>Brokers need transparent funding plans and fair access.</a:t>
            </a:r>
            <a:endParaRPr lang="en-US" sz="1700" b="0" u="none" strike="noStrike">
              <a:solidFill>
                <a:srgbClr val="000000"/>
              </a:solidFill>
              <a:effectLst/>
              <a:uFillTx/>
              <a:latin typeface="Arial"/>
            </a:endParaRPr>
          </a:p>
        </p:txBody>
      </p:sp>
      <p:sp>
        <p:nvSpPr>
          <p:cNvPr id="609" name="answer question"/>
          <p:cNvSpPr/>
          <p:nvPr/>
        </p:nvSpPr>
        <p:spPr>
          <a:xfrm>
            <a:off x="4700160" y="4645080"/>
            <a:ext cx="585000" cy="36540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1" u="none" strike="noStrike">
                <a:solidFill>
                  <a:srgbClr val="6D5A99"/>
                </a:solidFill>
                <a:effectLst/>
                <a:uFillTx/>
                <a:latin typeface="Arial"/>
              </a:rPr>
              <a:t>Q4</a:t>
            </a:r>
            <a:endParaRPr lang="en-US" sz="1700" b="0" u="none" strike="noStrike">
              <a:solidFill>
                <a:srgbClr val="000000"/>
              </a:solidFill>
              <a:effectLst/>
              <a:uFillTx/>
              <a:latin typeface="Arial"/>
            </a:endParaRPr>
          </a:p>
        </p:txBody>
      </p:sp>
      <p:sp>
        <p:nvSpPr>
          <p:cNvPr id="610" name="final answer"/>
          <p:cNvSpPr/>
          <p:nvPr/>
        </p:nvSpPr>
        <p:spPr>
          <a:xfrm>
            <a:off x="5486400" y="4617720"/>
            <a:ext cx="5815080" cy="420120"/>
          </a:xfrm>
          <a:prstGeom prst="rect">
            <a:avLst/>
          </a:prstGeom>
          <a:noFill/>
          <a:ln w="0">
            <a:noFill/>
          </a:ln>
        </p:spPr>
        <p:style>
          <a:lnRef idx="0"/>
          <a:fillRef idx="0"/>
          <a:effectRef idx="0"/>
          <a:fontRef idx="minor"/>
        </p:style>
        <p:txBody>
          <a:bodyPr lIns="0" tIns="19080" rIns="0" bIns="0" anchor="t">
            <a:noAutofit/>
          </a:bodyPr>
          <a:p>
            <a:pPr defTabSz="457200">
              <a:lnSpc>
                <a:spcPts val="2823"/>
              </a:lnSpc>
            </a:pPr>
            <a:r>
              <a:rPr lang="en-US" sz="2500" b="1" u="none" strike="noStrike">
                <a:solidFill>
                  <a:srgbClr val="17302B"/>
                </a:solidFill>
                <a:effectLst/>
                <a:uFillTx/>
                <a:latin typeface="Arial"/>
              </a:rPr>
              <a:t>Manage herd risk fairly</a:t>
            </a:r>
            <a:endParaRPr lang="en-US" sz="2500" b="0" u="none" strike="noStrike">
              <a:solidFill>
                <a:srgbClr val="000000"/>
              </a:solidFill>
              <a:effectLst/>
              <a:uFillTx/>
              <a:latin typeface="Arial"/>
            </a:endParaRPr>
          </a:p>
        </p:txBody>
      </p:sp>
      <p:sp>
        <p:nvSpPr>
          <p:cNvPr id="611" name="answer explanation"/>
          <p:cNvSpPr/>
          <p:nvPr/>
        </p:nvSpPr>
        <p:spPr>
          <a:xfrm>
            <a:off x="5486400" y="5166360"/>
            <a:ext cx="5751360" cy="603000"/>
          </a:xfrm>
          <a:prstGeom prst="rect">
            <a:avLst/>
          </a:prstGeom>
          <a:noFill/>
          <a:ln w="0">
            <a:noFill/>
          </a:ln>
        </p:spPr>
        <p:style>
          <a:lnRef idx="0"/>
          <a:fillRef idx="0"/>
          <a:effectRef idx="0"/>
          <a:fontRef idx="minor"/>
        </p:style>
        <p:txBody>
          <a:bodyPr lIns="0" tIns="12960" rIns="0" bIns="0" anchor="t">
            <a:noAutofit/>
          </a:bodyPr>
          <a:p>
            <a:pPr defTabSz="457200">
              <a:lnSpc>
                <a:spcPts val="1919"/>
              </a:lnSpc>
            </a:pPr>
            <a:r>
              <a:rPr lang="en-US" sz="1700" b="0" u="none" strike="noStrike">
                <a:solidFill>
                  <a:srgbClr val="5E6B65"/>
                </a:solidFill>
                <a:effectLst/>
                <a:uFillTx/>
                <a:latin typeface="Arial"/>
              </a:rPr>
              <a:t>Education, responsible platform design and targeted</a:t>
            </a:r>
            <a:endParaRPr lang="en-US" sz="1700" b="0" u="none" strike="noStrike">
              <a:solidFill>
                <a:srgbClr val="000000"/>
              </a:solidFill>
              <a:effectLst/>
              <a:uFillTx/>
              <a:latin typeface="Arial"/>
            </a:endParaRPr>
          </a:p>
          <a:p>
            <a:pPr defTabSz="457200">
              <a:lnSpc>
                <a:spcPts val="1919"/>
              </a:lnSpc>
            </a:pPr>
            <a:r>
              <a:rPr lang="en-US" sz="1700" b="0" u="none" strike="noStrike">
                <a:solidFill>
                  <a:srgbClr val="5E6B65"/>
                </a:solidFill>
                <a:effectLst/>
                <a:uFillTx/>
                <a:latin typeface="Arial"/>
              </a:rPr>
              <a:t>oversight.</a:t>
            </a:r>
            <a:endParaRPr lang="en-US" sz="1700" b="0" u="none" strike="noStrike">
              <a:solidFill>
                <a:srgbClr val="000000"/>
              </a:solidFill>
              <a:effectLst/>
              <a:uFillTx/>
              <a:latin typeface="Arial"/>
            </a:endParaRPr>
          </a:p>
        </p:txBody>
      </p:sp>
      <p:sp>
        <p:nvSpPr>
          <p:cNvPr id="612" name="trust lesson"/>
          <p:cNvSpPr/>
          <p:nvPr/>
        </p:nvSpPr>
        <p:spPr>
          <a:xfrm>
            <a:off x="4700160" y="5888880"/>
            <a:ext cx="6720480" cy="328680"/>
          </a:xfrm>
          <a:prstGeom prst="rect">
            <a:avLst/>
          </a:prstGeom>
          <a:noFill/>
          <a:ln w="0">
            <a:noFill/>
          </a:ln>
        </p:spPr>
        <p:style>
          <a:lnRef idx="0"/>
          <a:fillRef idx="0"/>
          <a:effectRef idx="0"/>
          <a:fontRef idx="minor"/>
        </p:style>
        <p:txBody>
          <a:bodyPr lIns="0" tIns="13680" rIns="0" bIns="0" anchor="t">
            <a:noAutofit/>
          </a:bodyPr>
          <a:p>
            <a:pPr defTabSz="457200">
              <a:lnSpc>
                <a:spcPts val="2032"/>
              </a:lnSpc>
            </a:pPr>
            <a:r>
              <a:rPr lang="en-US" sz="1800" b="1" u="none" strike="noStrike">
                <a:solidFill>
                  <a:srgbClr val="17302B"/>
                </a:solidFill>
                <a:effectLst/>
                <a:uFillTx/>
                <a:latin typeface="Arial"/>
              </a:rPr>
              <a:t>Open access requires transparent, accountable markets.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A"/>
        </a:solidFill>
      </p:bgPr>
    </p:bg>
    <p:spTree>
      <p:nvGrpSpPr>
        <p:cNvPr id="1" name=""/>
        <p:cNvGrpSpPr/>
        <p:nvPr/>
      </p:nvGrpSpPr>
      <p:grpSpPr>
        <a:xfrm>
          <a:off x="0" y="0"/>
          <a:ext cx="0" cy="0"/>
          <a:chOff x="0" y="0"/>
          <a:chExt cx="0" cy="0"/>
        </a:xfrm>
      </p:grpSpPr>
      <p:cxnSp>
        <p:nvCxnSpPr>
          <p:cNvPr id="613" name="footer rule"/>
          <p:cNvCxnSpPr/>
          <p:nvPr/>
        </p:nvCxnSpPr>
        <p:spPr>
          <a:xfrm>
            <a:off x="658080" y="6373080"/>
            <a:ext cx="10872720" cy="360"/>
          </a:xfrm>
          <a:prstGeom prst="straightConnector1">
            <a:avLst/>
          </a:prstGeom>
          <a:ln w="7620">
            <a:solidFill>
              <a:srgbClr val="D4DDD6"/>
            </a:solidFill>
            <a:round/>
          </a:ln>
        </p:spPr>
      </p:cxnSp>
      <p:sp>
        <p:nvSpPr>
          <p:cNvPr id="614" name="footer"/>
          <p:cNvSpPr/>
          <p:nvPr/>
        </p:nvSpPr>
        <p:spPr>
          <a:xfrm>
            <a:off x="658440" y="6473880"/>
            <a:ext cx="5943240" cy="182520"/>
          </a:xfrm>
          <a:prstGeom prst="rect">
            <a:avLst/>
          </a:prstGeom>
          <a:noFill/>
          <a:ln w="0">
            <a:noFill/>
          </a:ln>
        </p:spPr>
        <p:style>
          <a:lnRef idx="0"/>
          <a:fillRef idx="0"/>
          <a:effectRef idx="0"/>
          <a:fontRef idx="minor"/>
        </p:style>
        <p:txBody>
          <a:bodyPr lIns="0" tIns="7200" rIns="0" bIns="0" anchor="t">
            <a:noAutofit/>
          </a:bodyPr>
          <a:p>
            <a:pPr defTabSz="457200">
              <a:lnSpc>
                <a:spcPts val="1074"/>
              </a:lnSpc>
            </a:pPr>
            <a:r>
              <a:rPr lang="en-US" sz="950" b="0" u="none" strike="noStrike">
                <a:solidFill>
                  <a:srgbClr val="5E6B65"/>
                </a:solidFill>
                <a:effectLst/>
                <a:uFillTx/>
                <a:latin typeface="Arial"/>
              </a:rPr>
              <a:t>BMF5355 · GameStop case  /  Yeo, Yue &amp; Lee (2023)</a:t>
            </a:r>
            <a:endParaRPr lang="en-US" sz="950" b="0" u="none" strike="noStrike">
              <a:solidFill>
                <a:srgbClr val="000000"/>
              </a:solidFill>
              <a:effectLst/>
              <a:uFillTx/>
              <a:latin typeface="Arial"/>
            </a:endParaRPr>
          </a:p>
        </p:txBody>
      </p:sp>
      <p:sp>
        <p:nvSpPr>
          <p:cNvPr id="615" name="page number"/>
          <p:cNvSpPr/>
          <p:nvPr/>
        </p:nvSpPr>
        <p:spPr>
          <a:xfrm>
            <a:off x="10844640" y="6455520"/>
            <a:ext cx="676440" cy="209880"/>
          </a:xfrm>
          <a:prstGeom prst="rect">
            <a:avLst/>
          </a:prstGeom>
          <a:noFill/>
          <a:ln w="0">
            <a:noFill/>
          </a:ln>
        </p:spPr>
        <p:style>
          <a:lnRef idx="0"/>
          <a:fillRef idx="0"/>
          <a:effectRef idx="0"/>
          <a:fontRef idx="minor"/>
        </p:style>
        <p:txBody>
          <a:bodyPr lIns="0" tIns="7560" rIns="0" bIns="0" anchor="t">
            <a:noAutofit/>
          </a:bodyPr>
          <a:p>
            <a:pPr algn="r" defTabSz="457200">
              <a:lnSpc>
                <a:spcPts val="1131"/>
              </a:lnSpc>
            </a:pPr>
            <a:r>
              <a:rPr lang="en-US" sz="1000" b="0" u="none" strike="noStrike">
                <a:solidFill>
                  <a:srgbClr val="5E6B65"/>
                </a:solidFill>
                <a:effectLst/>
                <a:uFillTx/>
                <a:latin typeface="Arial"/>
              </a:rPr>
              <a:t>18 / 18</a:t>
            </a:r>
            <a:endParaRPr lang="en-US" sz="1000" b="0" u="none" strike="noStrike">
              <a:solidFill>
                <a:srgbClr val="000000"/>
              </a:solidFill>
              <a:effectLst/>
              <a:uFillTx/>
              <a:latin typeface="Arial"/>
            </a:endParaRPr>
          </a:p>
        </p:txBody>
      </p:sp>
      <p:sp>
        <p:nvSpPr>
          <p:cNvPr id="616" name="eyebrow"/>
          <p:cNvSpPr/>
          <p:nvPr/>
        </p:nvSpPr>
        <p:spPr>
          <a:xfrm>
            <a:off x="713160" y="530280"/>
            <a:ext cx="10698120" cy="246600"/>
          </a:xfrm>
          <a:prstGeom prst="rect">
            <a:avLst/>
          </a:prstGeom>
          <a:noFill/>
          <a:ln w="0">
            <a:noFill/>
          </a:ln>
        </p:spPr>
        <p:style>
          <a:lnRef idx="0"/>
          <a:fillRef idx="0"/>
          <a:effectRef idx="0"/>
          <a:fontRef idx="minor"/>
        </p:style>
        <p:txBody>
          <a:bodyPr lIns="0" tIns="8640" rIns="0" bIns="0" anchor="t">
            <a:noAutofit/>
          </a:bodyPr>
          <a:p>
            <a:pPr defTabSz="457200">
              <a:lnSpc>
                <a:spcPts val="1298"/>
              </a:lnSpc>
            </a:pPr>
            <a:r>
              <a:rPr lang="en-US" sz="1150" b="1" u="none" strike="noStrike">
                <a:solidFill>
                  <a:srgbClr val="2F7358"/>
                </a:solidFill>
                <a:effectLst/>
                <a:uFillTx/>
                <a:latin typeface="Arial"/>
              </a:rPr>
              <a:t>BMF5355 / ROBINHOOD AND HIS MERRIE MEN</a:t>
            </a:r>
            <a:endParaRPr lang="en-US" sz="1150" b="0" u="none" strike="noStrike">
              <a:solidFill>
                <a:srgbClr val="000000"/>
              </a:solidFill>
              <a:effectLst/>
              <a:uFillTx/>
              <a:latin typeface="Arial"/>
            </a:endParaRPr>
          </a:p>
        </p:txBody>
      </p:sp>
      <p:sp>
        <p:nvSpPr>
          <p:cNvPr id="617" name="closing title"/>
          <p:cNvSpPr/>
          <p:nvPr/>
        </p:nvSpPr>
        <p:spPr>
          <a:xfrm>
            <a:off x="713160" y="1920240"/>
            <a:ext cx="10606680" cy="1005480"/>
          </a:xfrm>
          <a:prstGeom prst="rect">
            <a:avLst/>
          </a:prstGeom>
          <a:noFill/>
          <a:ln w="0">
            <a:noFill/>
          </a:ln>
        </p:spPr>
        <p:style>
          <a:lnRef idx="0"/>
          <a:fillRef idx="0"/>
          <a:effectRef idx="0"/>
          <a:fontRef idx="minor"/>
        </p:style>
        <p:txBody>
          <a:bodyPr lIns="0" tIns="46440" rIns="0" bIns="0" anchor="t">
            <a:noAutofit/>
          </a:bodyPr>
          <a:p>
            <a:pPr defTabSz="457200">
              <a:lnSpc>
                <a:spcPts val="6891"/>
              </a:lnSpc>
            </a:pPr>
            <a:r>
              <a:rPr lang="en-US" sz="6100" b="1" u="none" strike="noStrike">
                <a:solidFill>
                  <a:srgbClr val="17302B"/>
                </a:solidFill>
                <a:effectLst/>
                <a:uFillTx/>
                <a:latin typeface="Arial"/>
              </a:rPr>
              <a:t>Thank you.</a:t>
            </a:r>
            <a:endParaRPr lang="en-US" sz="6100" b="0" u="none" strike="noStrike">
              <a:solidFill>
                <a:srgbClr val="000000"/>
              </a:solidFill>
              <a:effectLst/>
              <a:uFillTx/>
              <a:latin typeface="Arial"/>
            </a:endParaRPr>
          </a:p>
        </p:txBody>
      </p:sp>
      <p:sp>
        <p:nvSpPr>
          <p:cNvPr id="618" name="closing case name"/>
          <p:cNvSpPr/>
          <p:nvPr/>
        </p:nvSpPr>
        <p:spPr>
          <a:xfrm>
            <a:off x="749880" y="3218760"/>
            <a:ext cx="10423800" cy="539280"/>
          </a:xfrm>
          <a:prstGeom prst="rect">
            <a:avLst/>
          </a:prstGeom>
          <a:noFill/>
          <a:ln w="0">
            <a:noFill/>
          </a:ln>
        </p:spPr>
        <p:style>
          <a:lnRef idx="0"/>
          <a:fillRef idx="0"/>
          <a:effectRef idx="0"/>
          <a:fontRef idx="minor"/>
        </p:style>
        <p:txBody>
          <a:bodyPr lIns="0" tIns="20520" rIns="0" bIns="0" anchor="t">
            <a:noAutofit/>
          </a:bodyPr>
          <a:p>
            <a:pPr defTabSz="457200">
              <a:lnSpc>
                <a:spcPts val="3050"/>
              </a:lnSpc>
            </a:pPr>
            <a:r>
              <a:rPr lang="en-US" sz="2700" b="0" u="none" strike="noStrike">
                <a:solidFill>
                  <a:srgbClr val="5E6B65"/>
                </a:solidFill>
                <a:effectLst/>
                <a:uFillTx/>
                <a:latin typeface="Arial"/>
              </a:rPr>
              <a:t>The GameStop Saga</a:t>
            </a:r>
            <a:endParaRPr lang="en-US" sz="2700" b="0" u="none" strike="noStrike">
              <a:solidFill>
                <a:srgbClr val="000000"/>
              </a:solidFill>
              <a:effectLst/>
              <a:uFillTx/>
              <a:latin typeface="Arial"/>
            </a:endParaRPr>
          </a:p>
        </p:txBody>
      </p:sp>
      <p:cxnSp>
        <p:nvCxnSpPr>
          <p:cNvPr id="619" name="connector"/>
          <p:cNvCxnSpPr/>
          <p:nvPr/>
        </p:nvCxnSpPr>
        <p:spPr>
          <a:xfrm>
            <a:off x="749520" y="4325040"/>
            <a:ext cx="10708200" cy="360"/>
          </a:xfrm>
          <a:prstGeom prst="straightConnector1">
            <a:avLst/>
          </a:prstGeom>
          <a:ln w="10160">
            <a:solidFill>
              <a:srgbClr val="D4DDD6"/>
            </a:solidFill>
            <a:round/>
          </a:ln>
        </p:spPr>
      </p:cxnSp>
      <p:sp>
        <p:nvSpPr>
          <p:cNvPr id="620" name="Q&amp;A invitation"/>
          <p:cNvSpPr/>
          <p:nvPr/>
        </p:nvSpPr>
        <p:spPr>
          <a:xfrm>
            <a:off x="749880" y="4663440"/>
            <a:ext cx="6400440" cy="420120"/>
          </a:xfrm>
          <a:prstGeom prst="rect">
            <a:avLst/>
          </a:prstGeom>
          <a:noFill/>
          <a:ln w="0">
            <a:noFill/>
          </a:ln>
        </p:spPr>
        <p:style>
          <a:lnRef idx="0"/>
          <a:fillRef idx="0"/>
          <a:effectRef idx="0"/>
          <a:fontRef idx="minor"/>
        </p:style>
        <p:txBody>
          <a:bodyPr lIns="0" tIns="17640" rIns="0" bIns="0" anchor="t">
            <a:noAutofit/>
          </a:bodyPr>
          <a:p>
            <a:pPr defTabSz="457200">
              <a:lnSpc>
                <a:spcPts val="2599"/>
              </a:lnSpc>
            </a:pPr>
            <a:r>
              <a:rPr lang="en-US" sz="2300" b="1" u="none" strike="noStrike">
                <a:solidFill>
                  <a:srgbClr val="2F7358"/>
                </a:solidFill>
                <a:effectLst/>
                <a:uFillTx/>
                <a:latin typeface="Arial"/>
              </a:rPr>
              <a:t>Questions &amp; discussion</a:t>
            </a:r>
            <a:endParaRPr lang="en-US" sz="2300" b="0" u="none" strike="noStrike">
              <a:solidFill>
                <a:srgbClr val="000000"/>
              </a:solidFill>
              <a:effectLst/>
              <a:uFillTx/>
              <a:latin typeface="Arial"/>
            </a:endParaRPr>
          </a:p>
        </p:txBody>
      </p:sp>
      <p:sp>
        <p:nvSpPr>
          <p:cNvPr id="621" name="eyebrow"/>
          <p:cNvSpPr/>
          <p:nvPr/>
        </p:nvSpPr>
        <p:spPr>
          <a:xfrm>
            <a:off x="749880" y="5760720"/>
            <a:ext cx="9600840" cy="246600"/>
          </a:xfrm>
          <a:prstGeom prst="rect">
            <a:avLst/>
          </a:prstGeom>
          <a:noFill/>
          <a:ln w="0">
            <a:noFill/>
          </a:ln>
        </p:spPr>
        <p:style>
          <a:lnRef idx="0"/>
          <a:fillRef idx="0"/>
          <a:effectRef idx="0"/>
          <a:fontRef idx="minor"/>
        </p:style>
        <p:txBody>
          <a:bodyPr lIns="0" tIns="9000" rIns="0" bIns="0" anchor="t">
            <a:noAutofit/>
          </a:bodyPr>
          <a:p>
            <a:pPr defTabSz="457200">
              <a:lnSpc>
                <a:spcPts val="1355"/>
              </a:lnSpc>
            </a:pPr>
            <a:r>
              <a:rPr lang="en-US" sz="1200" b="1" u="none" strike="noStrike">
                <a:solidFill>
                  <a:srgbClr val="5E6B65"/>
                </a:solidFill>
                <a:effectLst/>
                <a:uFillTx/>
                <a:latin typeface="Arial"/>
              </a:rPr>
              <a:t>ACCESS / RISK / TRUST</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LibreOfficeDev/26.8.0.0.alpha0$Linux_X86_64 LibreOffice_project/2c87e51eeaa2b413ff4ae097b2705eea1995d8e5</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GameStop presentation group</dc:creator>
  <dc:description>generated using python-pptx</dc:description>
  <cp:keywords>GameStop Robinhood short squeeze BMF5355 V2</cp:keywords>
  <dc:language>en-US</dc:language>
  <cp:lastModifiedBy>Steve Canny</cp:lastModifiedBy>
  <dcterms:modified xsi:type="dcterms:W3CDTF">2013-01-27T09:15:58Z</dcterms:modified>
  <cp:revision>1</cp:revision>
  <dc:subject>BMF5355 group case presentation — full design revision V2</dc:subject>
  <dc:title>Robinhood and His Merrie Men: The GameStop Saga</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